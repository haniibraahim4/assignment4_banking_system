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54"/>
  </p:notesMasterIdLst>
  <p:handoutMasterIdLst>
    <p:handoutMasterId r:id="rId55"/>
  </p:handoutMasterIdLst>
  <p:sldIdLst>
    <p:sldId id="380" r:id="rId2"/>
    <p:sldId id="418" r:id="rId3"/>
    <p:sldId id="419" r:id="rId4"/>
    <p:sldId id="384" r:id="rId5"/>
    <p:sldId id="385" r:id="rId6"/>
    <p:sldId id="386" r:id="rId7"/>
    <p:sldId id="388" r:id="rId8"/>
    <p:sldId id="389" r:id="rId9"/>
    <p:sldId id="390" r:id="rId10"/>
    <p:sldId id="391" r:id="rId11"/>
    <p:sldId id="392" r:id="rId12"/>
    <p:sldId id="393" r:id="rId13"/>
    <p:sldId id="394" r:id="rId14"/>
    <p:sldId id="416" r:id="rId15"/>
    <p:sldId id="417" r:id="rId16"/>
    <p:sldId id="397" r:id="rId17"/>
    <p:sldId id="398" r:id="rId18"/>
    <p:sldId id="399" r:id="rId19"/>
    <p:sldId id="400" r:id="rId20"/>
    <p:sldId id="387" r:id="rId21"/>
    <p:sldId id="395" r:id="rId22"/>
    <p:sldId id="401" r:id="rId23"/>
    <p:sldId id="402" r:id="rId24"/>
    <p:sldId id="403" r:id="rId25"/>
    <p:sldId id="404" r:id="rId26"/>
    <p:sldId id="405" r:id="rId27"/>
    <p:sldId id="406" r:id="rId28"/>
    <p:sldId id="407" r:id="rId29"/>
    <p:sldId id="408" r:id="rId30"/>
    <p:sldId id="396" r:id="rId31"/>
    <p:sldId id="410" r:id="rId32"/>
    <p:sldId id="424" r:id="rId33"/>
    <p:sldId id="423" r:id="rId34"/>
    <p:sldId id="421" r:id="rId35"/>
    <p:sldId id="412" r:id="rId36"/>
    <p:sldId id="422" r:id="rId37"/>
    <p:sldId id="425" r:id="rId38"/>
    <p:sldId id="413" r:id="rId39"/>
    <p:sldId id="426" r:id="rId40"/>
    <p:sldId id="427" r:id="rId41"/>
    <p:sldId id="414" r:id="rId42"/>
    <p:sldId id="428" r:id="rId43"/>
    <p:sldId id="415" r:id="rId44"/>
    <p:sldId id="420" r:id="rId45"/>
    <p:sldId id="429" r:id="rId46"/>
    <p:sldId id="430" r:id="rId47"/>
    <p:sldId id="431" r:id="rId48"/>
    <p:sldId id="432" r:id="rId49"/>
    <p:sldId id="433" r:id="rId50"/>
    <p:sldId id="434" r:id="rId51"/>
    <p:sldId id="409" r:id="rId52"/>
    <p:sldId id="34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85731" autoAdjust="0"/>
  </p:normalViewPr>
  <p:slideViewPr>
    <p:cSldViewPr snapToGrid="0" showGuides="1">
      <p:cViewPr varScale="1">
        <p:scale>
          <a:sx n="98" d="100"/>
          <a:sy n="98" d="100"/>
        </p:scale>
        <p:origin x="1080" y="8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A34920-2CCC-493F-BB96-0A5D006BE3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CD8A3F1-08D8-4DED-BE0C-30EC1AF568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DDC74B-41B2-442D-8C20-B6050DDDA44E}" type="datetime1">
              <a:rPr lang="en-US" smtClean="0"/>
              <a:t>9/19/2021</a:t>
            </a:fld>
            <a:endParaRPr lang="en-US"/>
          </a:p>
        </p:txBody>
      </p:sp>
      <p:sp>
        <p:nvSpPr>
          <p:cNvPr id="4" name="Footer Placeholder 3">
            <a:extLst>
              <a:ext uri="{FF2B5EF4-FFF2-40B4-BE49-F238E27FC236}">
                <a16:creationId xmlns:a16="http://schemas.microsoft.com/office/drawing/2014/main" id="{F817082F-685C-4624-A5E7-28D2C1D57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DBD801-B70C-4544-AEE2-DF596EEDFB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B21132-FBDA-4A03-8008-A33FF9BFF795}" type="slidenum">
              <a:rPr lang="en-US" smtClean="0"/>
              <a:t>‹#›</a:t>
            </a:fld>
            <a:endParaRPr lang="en-US"/>
          </a:p>
        </p:txBody>
      </p:sp>
    </p:spTree>
    <p:extLst>
      <p:ext uri="{BB962C8B-B14F-4D97-AF65-F5344CB8AC3E}">
        <p14:creationId xmlns:p14="http://schemas.microsoft.com/office/powerpoint/2010/main" val="1908499327"/>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57BCF-9C8D-4144-BC37-A571A5F21A50}" type="datetime1">
              <a:rPr lang="en-US" smtClean="0"/>
              <a:t>9/19/2021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221931" y="151090"/>
            <a:ext cx="11573197" cy="724247"/>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Date Placeholder 3">
            <a:extLst>
              <a:ext uri="{FF2B5EF4-FFF2-40B4-BE49-F238E27FC236}">
                <a16:creationId xmlns:a16="http://schemas.microsoft.com/office/drawing/2014/main" id="{BB28435D-5A7D-4E90-A37F-EDBD425A616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61F1149-C345-4B9D-AACF-2A5EF2D4C826}" type="datetime1">
              <a:rPr lang="en-US" smtClean="0"/>
              <a:t>9/19/2021</a:t>
            </a:fld>
            <a:endParaRPr lang="en-US" dirty="0"/>
          </a:p>
        </p:txBody>
      </p:sp>
      <p:sp>
        <p:nvSpPr>
          <p:cNvPr id="4" name="Footer Placeholder 4">
            <a:extLst>
              <a:ext uri="{FF2B5EF4-FFF2-40B4-BE49-F238E27FC236}">
                <a16:creationId xmlns:a16="http://schemas.microsoft.com/office/drawing/2014/main" id="{80A876F4-ACFF-49FD-8F26-3CA093641539}"/>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24727E3A-E48D-402B-9B16-874181B80D0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8993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68A96443-C69B-4C02-9C5D-81F1E4AB63C0}"/>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B186468-4DAF-44C8-BEF2-7F21807B27F8}" type="datetime1">
              <a:rPr lang="en-US" smtClean="0"/>
              <a:t>9/19/2021</a:t>
            </a:fld>
            <a:endParaRPr lang="en-US" dirty="0"/>
          </a:p>
        </p:txBody>
      </p:sp>
      <p:sp>
        <p:nvSpPr>
          <p:cNvPr id="4" name="Footer Placeholder 4">
            <a:extLst>
              <a:ext uri="{FF2B5EF4-FFF2-40B4-BE49-F238E27FC236}">
                <a16:creationId xmlns:a16="http://schemas.microsoft.com/office/drawing/2014/main" id="{7BE3F472-8C69-40BE-9841-EFAFA7A027E4}"/>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B801D2B3-EC79-441F-8B74-AD16B0B72E29}"/>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449694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7A6FAFA-BA47-4E44-9C30-A55582EFAC47}"/>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495BD076-2F28-46F9-AE28-3B4681D62138}" type="datetime1">
              <a:rPr lang="en-US" smtClean="0"/>
              <a:t>9/19/2021</a:t>
            </a:fld>
            <a:endParaRPr lang="en-US" dirty="0"/>
          </a:p>
        </p:txBody>
      </p:sp>
      <p:sp>
        <p:nvSpPr>
          <p:cNvPr id="3" name="Footer Placeholder 4">
            <a:extLst>
              <a:ext uri="{FF2B5EF4-FFF2-40B4-BE49-F238E27FC236}">
                <a16:creationId xmlns:a16="http://schemas.microsoft.com/office/drawing/2014/main" id="{95F34F2B-69C2-4D6D-8C49-FBA6066502E8}"/>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9BFB359B-7E77-4E90-95F0-53E006D68C23}"/>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05551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1F05EDF-D95F-4102-99B1-283460C6EEF1}"/>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85FF7FD6-46AC-404B-9CB2-41BA0B07351B}" type="datetime1">
              <a:rPr lang="en-US" smtClean="0"/>
              <a:t>9/19/2021</a:t>
            </a:fld>
            <a:endParaRPr lang="en-US" dirty="0"/>
          </a:p>
        </p:txBody>
      </p:sp>
      <p:sp>
        <p:nvSpPr>
          <p:cNvPr id="3" name="Footer Placeholder 4">
            <a:extLst>
              <a:ext uri="{FF2B5EF4-FFF2-40B4-BE49-F238E27FC236}">
                <a16:creationId xmlns:a16="http://schemas.microsoft.com/office/drawing/2014/main" id="{74077889-93F3-4401-8E7E-60DCFDACA90B}"/>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B06F420-981B-4189-BB2B-3361906D49AC}"/>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C4C573E-FA13-46B5-944A-7B18EE40CA8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9080D19-3779-4E57-8F86-D87BF465D4CD}" type="datetime1">
              <a:rPr lang="en-US" smtClean="0"/>
              <a:t>9/19/2021</a:t>
            </a:fld>
            <a:endParaRPr lang="en-US" dirty="0"/>
          </a:p>
        </p:txBody>
      </p:sp>
      <p:sp>
        <p:nvSpPr>
          <p:cNvPr id="3" name="Footer Placeholder 4">
            <a:extLst>
              <a:ext uri="{FF2B5EF4-FFF2-40B4-BE49-F238E27FC236}">
                <a16:creationId xmlns:a16="http://schemas.microsoft.com/office/drawing/2014/main" id="{32CCAF7B-51B2-4F28-B847-3DF920857C0D}"/>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4A1B132-3A46-4090-83E6-9947DF7F3876}"/>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A1A6E33-8A0F-4192-83F6-2FB90AE8DE70}"/>
              </a:ext>
            </a:extLst>
          </p:cNvPr>
          <p:cNvSpPr>
            <a:spLocks noGrp="1"/>
          </p:cNvSpPr>
          <p:nvPr>
            <p:ph type="pic" idx="15" hasCustomPrompt="1"/>
          </p:nvPr>
        </p:nvSpPr>
        <p:spPr>
          <a:xfrm>
            <a:off x="3650191"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B7332FD6-4CCE-4EA6-A914-847EA767CDE7}"/>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5A41DCAB-7A97-4D72-8703-2A5EBB6B4047}"/>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DE59F880-57D5-4D69-ADDA-A3030C94684E}"/>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8" name="Date Placeholder 3">
            <a:extLst>
              <a:ext uri="{FF2B5EF4-FFF2-40B4-BE49-F238E27FC236}">
                <a16:creationId xmlns:a16="http://schemas.microsoft.com/office/drawing/2014/main" id="{35A3CC67-9E34-47F2-9BF9-9696B258E17D}"/>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A9E13DE-1D8A-4A13-9C3E-9F533DF9A573}" type="datetime1">
              <a:rPr lang="en-US" smtClean="0"/>
              <a:t>9/19/2021</a:t>
            </a:fld>
            <a:endParaRPr lang="en-US" dirty="0"/>
          </a:p>
        </p:txBody>
      </p:sp>
      <p:sp>
        <p:nvSpPr>
          <p:cNvPr id="9" name="Footer Placeholder 4">
            <a:extLst>
              <a:ext uri="{FF2B5EF4-FFF2-40B4-BE49-F238E27FC236}">
                <a16:creationId xmlns:a16="http://schemas.microsoft.com/office/drawing/2014/main" id="{84924D20-E782-4BFA-86F5-054B71067969}"/>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10" name="Slide Number Placeholder 5">
            <a:extLst>
              <a:ext uri="{FF2B5EF4-FFF2-40B4-BE49-F238E27FC236}">
                <a16:creationId xmlns:a16="http://schemas.microsoft.com/office/drawing/2014/main" id="{0B12D70A-D009-41E8-8EAB-17709340900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343D5AB-FDE8-4863-8B0B-FF0EDBC68861}"/>
              </a:ext>
            </a:extLst>
          </p:cNvPr>
          <p:cNvSpPr/>
          <p:nvPr userDrawn="1"/>
        </p:nvSpPr>
        <p:spPr>
          <a:xfrm>
            <a:off x="3657601" y="1899954"/>
            <a:ext cx="7513503" cy="32903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a:extLst>
              <a:ext uri="{FF2B5EF4-FFF2-40B4-BE49-F238E27FC236}">
                <a16:creationId xmlns:a16="http://schemas.microsoft.com/office/drawing/2014/main" id="{A0C96F43-3876-47CC-B363-9FBE2E05752F}"/>
              </a:ext>
            </a:extLst>
          </p:cNvPr>
          <p:cNvSpPr/>
          <p:nvPr userDrawn="1"/>
        </p:nvSpPr>
        <p:spPr>
          <a:xfrm rot="20400000">
            <a:off x="1053733" y="2229400"/>
            <a:ext cx="2882539" cy="3413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E4127DCA-3196-491D-86F7-98470FD4534B}"/>
              </a:ext>
            </a:extLst>
          </p:cNvPr>
          <p:cNvSpPr/>
          <p:nvPr userDrawn="1"/>
        </p:nvSpPr>
        <p:spPr>
          <a:xfrm rot="20640000">
            <a:off x="1079861" y="2203273"/>
            <a:ext cx="2882539" cy="34137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C0F3D9F4-8CA6-4676-B29C-CF1677EB90FF}"/>
              </a:ext>
            </a:extLst>
          </p:cNvPr>
          <p:cNvSpPr/>
          <p:nvPr userDrawn="1"/>
        </p:nvSpPr>
        <p:spPr>
          <a:xfrm rot="20971299">
            <a:off x="1114697" y="2133601"/>
            <a:ext cx="2882539" cy="3413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그림 개체 틀 2">
            <a:extLst>
              <a:ext uri="{FF2B5EF4-FFF2-40B4-BE49-F238E27FC236}">
                <a16:creationId xmlns:a16="http://schemas.microsoft.com/office/drawing/2014/main" id="{BCD635CC-1412-43AB-9F1C-D19087A8B8A1}"/>
              </a:ext>
            </a:extLst>
          </p:cNvPr>
          <p:cNvSpPr>
            <a:spLocks noGrp="1"/>
          </p:cNvSpPr>
          <p:nvPr>
            <p:ph type="pic" sz="quarter" idx="14" hasCustomPrompt="1"/>
          </p:nvPr>
        </p:nvSpPr>
        <p:spPr>
          <a:xfrm rot="20971299">
            <a:off x="1195970" y="2286623"/>
            <a:ext cx="2598071" cy="2355051"/>
          </a:xfrm>
          <a:prstGeom prst="rect">
            <a:avLst/>
          </a:prstGeom>
          <a:solidFill>
            <a:schemeClr val="bg1">
              <a:lumMod val="95000"/>
            </a:schemeClr>
          </a:solidFill>
        </p:spPr>
        <p:txBody>
          <a:bodyPr anchor="ct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FF4395D-1F64-44EA-9A5A-E02F2D02CE6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FF45022-3550-4D63-AA85-9D632F21AB71}" type="datetime1">
              <a:rPr lang="en-US" smtClean="0"/>
              <a:t>9/19/2021</a:t>
            </a:fld>
            <a:endParaRPr lang="en-US" dirty="0"/>
          </a:p>
        </p:txBody>
      </p:sp>
      <p:sp>
        <p:nvSpPr>
          <p:cNvPr id="3" name="Footer Placeholder 4">
            <a:extLst>
              <a:ext uri="{FF2B5EF4-FFF2-40B4-BE49-F238E27FC236}">
                <a16:creationId xmlns:a16="http://schemas.microsoft.com/office/drawing/2014/main" id="{91070FFA-22F1-43B6-9A24-98CF33277420}"/>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58227E2-3F9F-462F-9FBB-39F8BA979C8A}"/>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FB08BDAF-A042-4560-BBD8-F1CA5D9DB155}"/>
              </a:ext>
            </a:extLst>
          </p:cNvPr>
          <p:cNvSpPr>
            <a:spLocks noGrp="1"/>
          </p:cNvSpPr>
          <p:nvPr>
            <p:ph type="pic" sz="quarter" idx="17" hasCustomPrompt="1"/>
          </p:nvPr>
        </p:nvSpPr>
        <p:spPr>
          <a:xfrm>
            <a:off x="7690343" y="2999128"/>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20" name="Picture Placeholder 19">
            <a:extLst>
              <a:ext uri="{FF2B5EF4-FFF2-40B4-BE49-F238E27FC236}">
                <a16:creationId xmlns:a16="http://schemas.microsoft.com/office/drawing/2014/main" id="{E375B096-EBDB-4C71-BACA-9F780BF70233}"/>
              </a:ext>
            </a:extLst>
          </p:cNvPr>
          <p:cNvSpPr>
            <a:spLocks noGrp="1"/>
          </p:cNvSpPr>
          <p:nvPr>
            <p:ph type="pic" sz="quarter" idx="18" hasCustomPrompt="1"/>
          </p:nvPr>
        </p:nvSpPr>
        <p:spPr>
          <a:xfrm>
            <a:off x="4674655" y="3623111"/>
            <a:ext cx="2785716" cy="2770089"/>
          </a:xfrm>
          <a:custGeom>
            <a:avLst/>
            <a:gdLst>
              <a:gd name="connsiteX0" fmla="*/ 1137861 w 2785716"/>
              <a:gd name="connsiteY0" fmla="*/ 0 h 2770089"/>
              <a:gd name="connsiteX1" fmla="*/ 2785716 w 2785716"/>
              <a:gd name="connsiteY1" fmla="*/ 1140221 h 2770089"/>
              <a:gd name="connsiteX2" fmla="*/ 1657942 w 2785716"/>
              <a:gd name="connsiteY2" fmla="*/ 2770089 h 2770089"/>
              <a:gd name="connsiteX3" fmla="*/ 1626789 w 2785716"/>
              <a:gd name="connsiteY3" fmla="*/ 2770089 h 2770089"/>
              <a:gd name="connsiteX4" fmla="*/ 0 w 2785716"/>
              <a:gd name="connsiteY4" fmla="*/ 1644444 h 2770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5716" h="2770089">
                <a:moveTo>
                  <a:pt x="1137861" y="0"/>
                </a:moveTo>
                <a:lnTo>
                  <a:pt x="2785716" y="1140221"/>
                </a:lnTo>
                <a:lnTo>
                  <a:pt x="1657942" y="2770089"/>
                </a:lnTo>
                <a:lnTo>
                  <a:pt x="1626789" y="2770089"/>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19" name="Picture Placeholder 18">
            <a:extLst>
              <a:ext uri="{FF2B5EF4-FFF2-40B4-BE49-F238E27FC236}">
                <a16:creationId xmlns:a16="http://schemas.microsoft.com/office/drawing/2014/main" id="{31F3A08B-34AD-476C-9953-B19BAF7F628C}"/>
              </a:ext>
            </a:extLst>
          </p:cNvPr>
          <p:cNvSpPr>
            <a:spLocks noGrp="1"/>
          </p:cNvSpPr>
          <p:nvPr>
            <p:ph type="pic" sz="quarter" idx="19" hasCustomPrompt="1"/>
          </p:nvPr>
        </p:nvSpPr>
        <p:spPr>
          <a:xfrm>
            <a:off x="8893127" y="1209715"/>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18" name="Picture Placeholder 17">
            <a:extLst>
              <a:ext uri="{FF2B5EF4-FFF2-40B4-BE49-F238E27FC236}">
                <a16:creationId xmlns:a16="http://schemas.microsoft.com/office/drawing/2014/main" id="{164DE5B1-7A92-485E-BF4B-DC34DB0ECFFE}"/>
              </a:ext>
            </a:extLst>
          </p:cNvPr>
          <p:cNvSpPr>
            <a:spLocks noGrp="1"/>
          </p:cNvSpPr>
          <p:nvPr>
            <p:ph type="pic" sz="quarter" idx="20" hasCustomPrompt="1"/>
          </p:nvPr>
        </p:nvSpPr>
        <p:spPr>
          <a:xfrm>
            <a:off x="5877439" y="1833693"/>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6" name="Freeform: Shape 5">
            <a:extLst>
              <a:ext uri="{FF2B5EF4-FFF2-40B4-BE49-F238E27FC236}">
                <a16:creationId xmlns:a16="http://schemas.microsoft.com/office/drawing/2014/main" id="{D6D283E2-312F-41C5-9422-DB6C85B4455D}"/>
              </a:ext>
            </a:extLst>
          </p:cNvPr>
          <p:cNvSpPr/>
          <p:nvPr userDrawn="1"/>
        </p:nvSpPr>
        <p:spPr>
          <a:xfrm flipH="1">
            <a:off x="9483955" y="2398145"/>
            <a:ext cx="2708047" cy="3413083"/>
          </a:xfrm>
          <a:custGeom>
            <a:avLst/>
            <a:gdLst>
              <a:gd name="connsiteX0" fmla="*/ 0 w 2708047"/>
              <a:gd name="connsiteY0" fmla="*/ 0 h 3335839"/>
              <a:gd name="connsiteX1" fmla="*/ 347734 w 2708047"/>
              <a:gd name="connsiteY1" fmla="*/ 0 h 3335839"/>
              <a:gd name="connsiteX2" fmla="*/ 2708047 w 2708047"/>
              <a:gd name="connsiteY2" fmla="*/ 3335839 h 3335839"/>
              <a:gd name="connsiteX3" fmla="*/ 0 w 2708047"/>
              <a:gd name="connsiteY3" fmla="*/ 3335839 h 3335839"/>
            </a:gdLst>
            <a:ahLst/>
            <a:cxnLst>
              <a:cxn ang="0">
                <a:pos x="connsiteX0" y="connsiteY0"/>
              </a:cxn>
              <a:cxn ang="0">
                <a:pos x="connsiteX1" y="connsiteY1"/>
              </a:cxn>
              <a:cxn ang="0">
                <a:pos x="connsiteX2" y="connsiteY2"/>
              </a:cxn>
              <a:cxn ang="0">
                <a:pos x="connsiteX3" y="connsiteY3"/>
              </a:cxn>
            </a:cxnLst>
            <a:rect l="l" t="t" r="r" b="b"/>
            <a:pathLst>
              <a:path w="2708047" h="3335839">
                <a:moveTo>
                  <a:pt x="0" y="0"/>
                </a:moveTo>
                <a:lnTo>
                  <a:pt x="347734" y="0"/>
                </a:lnTo>
                <a:lnTo>
                  <a:pt x="2708047" y="3335839"/>
                </a:lnTo>
                <a:lnTo>
                  <a:pt x="0" y="333583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Freeform: Shape 12">
            <a:extLst>
              <a:ext uri="{FF2B5EF4-FFF2-40B4-BE49-F238E27FC236}">
                <a16:creationId xmlns:a16="http://schemas.microsoft.com/office/drawing/2014/main" id="{B1AAC7CE-37C6-4882-8A2F-D617C7403A00}"/>
              </a:ext>
            </a:extLst>
          </p:cNvPr>
          <p:cNvSpPr/>
          <p:nvPr userDrawn="1"/>
        </p:nvSpPr>
        <p:spPr>
          <a:xfrm flipH="1">
            <a:off x="0" y="1819635"/>
            <a:ext cx="6869544" cy="3399346"/>
          </a:xfrm>
          <a:custGeom>
            <a:avLst/>
            <a:gdLst>
              <a:gd name="connsiteX0" fmla="*/ 6869544 w 6869544"/>
              <a:gd name="connsiteY0" fmla="*/ 0 h 3399346"/>
              <a:gd name="connsiteX1" fmla="*/ 0 w 6869544"/>
              <a:gd name="connsiteY1" fmla="*/ 0 h 3399346"/>
              <a:gd name="connsiteX2" fmla="*/ 2360312 w 6869544"/>
              <a:gd name="connsiteY2" fmla="*/ 3399346 h 3399346"/>
              <a:gd name="connsiteX3" fmla="*/ 6869544 w 6869544"/>
              <a:gd name="connsiteY3" fmla="*/ 3399346 h 3399346"/>
            </a:gdLst>
            <a:ahLst/>
            <a:cxnLst>
              <a:cxn ang="0">
                <a:pos x="connsiteX0" y="connsiteY0"/>
              </a:cxn>
              <a:cxn ang="0">
                <a:pos x="connsiteX1" y="connsiteY1"/>
              </a:cxn>
              <a:cxn ang="0">
                <a:pos x="connsiteX2" y="connsiteY2"/>
              </a:cxn>
              <a:cxn ang="0">
                <a:pos x="connsiteX3" y="connsiteY3"/>
              </a:cxn>
            </a:cxnLst>
            <a:rect l="l" t="t" r="r" b="b"/>
            <a:pathLst>
              <a:path w="6869544" h="3399346">
                <a:moveTo>
                  <a:pt x="6869544" y="0"/>
                </a:moveTo>
                <a:lnTo>
                  <a:pt x="0" y="0"/>
                </a:lnTo>
                <a:lnTo>
                  <a:pt x="2360312" y="3399346"/>
                </a:lnTo>
                <a:lnTo>
                  <a:pt x="6869544" y="3399346"/>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8" name="Date Placeholder 3">
            <a:extLst>
              <a:ext uri="{FF2B5EF4-FFF2-40B4-BE49-F238E27FC236}">
                <a16:creationId xmlns:a16="http://schemas.microsoft.com/office/drawing/2014/main" id="{4005BEE5-F379-4E73-9FA5-108882723E64}"/>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845CB48D-F017-4092-9A0E-16CD8A109CC4}" type="datetime1">
              <a:rPr lang="en-US" smtClean="0"/>
              <a:t>9/19/2021</a:t>
            </a:fld>
            <a:endParaRPr lang="en-US" dirty="0"/>
          </a:p>
        </p:txBody>
      </p:sp>
      <p:sp>
        <p:nvSpPr>
          <p:cNvPr id="9" name="Footer Placeholder 4">
            <a:extLst>
              <a:ext uri="{FF2B5EF4-FFF2-40B4-BE49-F238E27FC236}">
                <a16:creationId xmlns:a16="http://schemas.microsoft.com/office/drawing/2014/main" id="{0A41209E-86D1-42F6-8D70-C342FCF4B1E3}"/>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10" name="Slide Number Placeholder 5">
            <a:extLst>
              <a:ext uri="{FF2B5EF4-FFF2-40B4-BE49-F238E27FC236}">
                <a16:creationId xmlns:a16="http://schemas.microsoft.com/office/drawing/2014/main" id="{952E9954-8F34-43FA-92D4-4644C9ADB1C7}"/>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81BE274-9D40-450D-99DB-38562DBEF2FD}"/>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7D451B18-CD80-48CD-BC02-A32F3CD15744}" type="datetime1">
              <a:rPr lang="en-US" smtClean="0"/>
              <a:t>9/19/2021</a:t>
            </a:fld>
            <a:endParaRPr lang="en-US" dirty="0"/>
          </a:p>
        </p:txBody>
      </p:sp>
      <p:sp>
        <p:nvSpPr>
          <p:cNvPr id="3" name="Footer Placeholder 4">
            <a:extLst>
              <a:ext uri="{FF2B5EF4-FFF2-40B4-BE49-F238E27FC236}">
                <a16:creationId xmlns:a16="http://schemas.microsoft.com/office/drawing/2014/main" id="{C97CB31B-52FF-4D35-BF5E-FD2DF8C13660}"/>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85F08B7A-D36A-4926-84C0-ED1359004AB5}"/>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EA0A77B-D115-45ED-9043-28389A4AF078}"/>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21517E8-0EB8-40DF-9E58-B42189843BCF}" type="datetime1">
              <a:rPr lang="en-US" smtClean="0"/>
              <a:t>9/19/2021</a:t>
            </a:fld>
            <a:endParaRPr lang="en-US" dirty="0"/>
          </a:p>
        </p:txBody>
      </p:sp>
      <p:sp>
        <p:nvSpPr>
          <p:cNvPr id="3" name="Footer Placeholder 4">
            <a:extLst>
              <a:ext uri="{FF2B5EF4-FFF2-40B4-BE49-F238E27FC236}">
                <a16:creationId xmlns:a16="http://schemas.microsoft.com/office/drawing/2014/main" id="{46E7478F-573A-4031-8243-0C426608D7D3}"/>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50E8DE4-F4CE-4517-A16C-31B4BF8C3394}"/>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64868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2D6798A-F10A-4840-B08D-644505BC333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B2E92B37-1F79-4F38-BDE0-19941A5F82EA}" type="datetime1">
              <a:rPr lang="en-US" smtClean="0"/>
              <a:t>9/19/2021</a:t>
            </a:fld>
            <a:endParaRPr lang="en-US" dirty="0"/>
          </a:p>
        </p:txBody>
      </p:sp>
      <p:sp>
        <p:nvSpPr>
          <p:cNvPr id="3" name="Footer Placeholder 4">
            <a:extLst>
              <a:ext uri="{FF2B5EF4-FFF2-40B4-BE49-F238E27FC236}">
                <a16:creationId xmlns:a16="http://schemas.microsoft.com/office/drawing/2014/main" id="{53BFE813-7ABD-4E4A-AA22-9E8E388CE72C}"/>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7DC43161-9422-4264-893F-9D78F94D1AC8}"/>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645574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7A21C9D-A785-4377-B239-891AB8828513}"/>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3AE1AD28-2C17-4950-9D70-DB084714BEAF}" type="datetime1">
              <a:rPr lang="en-US" smtClean="0"/>
              <a:t>9/19/2021</a:t>
            </a:fld>
            <a:endParaRPr lang="en-US" dirty="0"/>
          </a:p>
        </p:txBody>
      </p:sp>
      <p:sp>
        <p:nvSpPr>
          <p:cNvPr id="3" name="Footer Placeholder 4">
            <a:extLst>
              <a:ext uri="{FF2B5EF4-FFF2-40B4-BE49-F238E27FC236}">
                <a16:creationId xmlns:a16="http://schemas.microsoft.com/office/drawing/2014/main" id="{4335B1EF-D6C5-41CE-AF7F-9F245C63B6C7}"/>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B38CFE97-CA33-446C-9AC1-DA97D07165E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21636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6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37BA524-37B2-4DC1-9A9C-C6D500D6ABC2}"/>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FA82E20-A5F5-492B-8FD7-1F2450EBBA22}" type="datetime1">
              <a:rPr lang="en-US" smtClean="0"/>
              <a:t>9/19/2021</a:t>
            </a:fld>
            <a:endParaRPr lang="en-US" dirty="0"/>
          </a:p>
        </p:txBody>
      </p:sp>
      <p:sp>
        <p:nvSpPr>
          <p:cNvPr id="3" name="Footer Placeholder 4">
            <a:extLst>
              <a:ext uri="{FF2B5EF4-FFF2-40B4-BE49-F238E27FC236}">
                <a16:creationId xmlns:a16="http://schemas.microsoft.com/office/drawing/2014/main" id="{99ED257A-6C74-45A5-89E2-5DE2AD223B4B}"/>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F218D00C-47CD-41B9-B6D1-6709A76BF4F2}"/>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7483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FB9B91B-3B7C-4978-9BE6-48254ED48E7F}"/>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6703ABF9-EBE0-4046-852E-73583F84B94E}" type="datetime1">
              <a:rPr lang="en-US" smtClean="0"/>
              <a:t>9/19/2021</a:t>
            </a:fld>
            <a:endParaRPr lang="en-US" dirty="0"/>
          </a:p>
        </p:txBody>
      </p:sp>
      <p:sp>
        <p:nvSpPr>
          <p:cNvPr id="3" name="Footer Placeholder 4">
            <a:extLst>
              <a:ext uri="{FF2B5EF4-FFF2-40B4-BE49-F238E27FC236}">
                <a16:creationId xmlns:a16="http://schemas.microsoft.com/office/drawing/2014/main" id="{753699F7-E98A-472D-9D67-3CDD9F8A7D4E}"/>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C692F1B4-0161-45CF-98A1-D84DBCABF7F0}"/>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279604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End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5A0DB06-84E0-4DC0-A0AE-1A29974221A4}"/>
              </a:ext>
            </a:extLst>
          </p:cNvPr>
          <p:cNvSpPr>
            <a:spLocks noGrp="1"/>
          </p:cNvSpPr>
          <p:nvPr>
            <p:ph type="dt" sz="half" idx="2"/>
          </p:nvPr>
        </p:nvSpPr>
        <p:spPr>
          <a:xfrm>
            <a:off x="8638996"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40C036B7-BD59-426A-9625-2C2443DACC4A}" type="datetime1">
              <a:rPr lang="en-US" smtClean="0"/>
              <a:t>9/19/2021</a:t>
            </a:fld>
            <a:endParaRPr lang="en-US" dirty="0"/>
          </a:p>
        </p:txBody>
      </p:sp>
      <p:sp>
        <p:nvSpPr>
          <p:cNvPr id="4" name="Footer Placeholder 4">
            <a:extLst>
              <a:ext uri="{FF2B5EF4-FFF2-40B4-BE49-F238E27FC236}">
                <a16:creationId xmlns:a16="http://schemas.microsoft.com/office/drawing/2014/main" id="{4AA30467-4AF9-4FFB-B72F-5903063078E1}"/>
              </a:ext>
            </a:extLst>
          </p:cNvPr>
          <p:cNvSpPr>
            <a:spLocks noGrp="1"/>
          </p:cNvSpPr>
          <p:nvPr>
            <p:ph type="ftr" sz="quarter" idx="3"/>
          </p:nvPr>
        </p:nvSpPr>
        <p:spPr>
          <a:xfrm>
            <a:off x="527172"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96742A82-EEC9-4900-862B-600DD69DE4BE}"/>
              </a:ext>
            </a:extLst>
          </p:cNvPr>
          <p:cNvSpPr>
            <a:spLocks noGrp="1"/>
          </p:cNvSpPr>
          <p:nvPr>
            <p:ph type="sldNum" sz="quarter" idx="4"/>
          </p:nvPr>
        </p:nvSpPr>
        <p:spPr>
          <a:xfrm>
            <a:off x="10608774"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70796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9D9C4FC-181B-4857-97B4-DD4F502D4634}"/>
              </a:ext>
            </a:extLst>
          </p:cNvPr>
          <p:cNvSpPr>
            <a:spLocks noGrp="1"/>
          </p:cNvSpPr>
          <p:nvPr>
            <p:ph type="dt" sz="half" idx="2"/>
          </p:nvPr>
        </p:nvSpPr>
        <p:spPr>
          <a:xfrm>
            <a:off x="8638996"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16EDCB8E-68A0-4FFF-AC7D-714FDDC09709}" type="datetime1">
              <a:rPr lang="en-US" smtClean="0"/>
              <a:t>9/19/2021</a:t>
            </a:fld>
            <a:endParaRPr lang="en-US" dirty="0"/>
          </a:p>
        </p:txBody>
      </p:sp>
      <p:sp>
        <p:nvSpPr>
          <p:cNvPr id="4" name="Footer Placeholder 4">
            <a:extLst>
              <a:ext uri="{FF2B5EF4-FFF2-40B4-BE49-F238E27FC236}">
                <a16:creationId xmlns:a16="http://schemas.microsoft.com/office/drawing/2014/main" id="{CD811660-D8FB-40C8-95C1-5D6C54E442E8}"/>
              </a:ext>
            </a:extLst>
          </p:cNvPr>
          <p:cNvSpPr>
            <a:spLocks noGrp="1"/>
          </p:cNvSpPr>
          <p:nvPr>
            <p:ph type="ftr" sz="quarter" idx="3"/>
          </p:nvPr>
        </p:nvSpPr>
        <p:spPr>
          <a:xfrm>
            <a:off x="527172"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0C4786E1-6230-466C-AEDA-1066CD235086}"/>
              </a:ext>
            </a:extLst>
          </p:cNvPr>
          <p:cNvSpPr>
            <a:spLocks noGrp="1"/>
          </p:cNvSpPr>
          <p:nvPr>
            <p:ph type="sldNum" sz="quarter" idx="4"/>
          </p:nvPr>
        </p:nvSpPr>
        <p:spPr>
          <a:xfrm>
            <a:off x="10608774"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47691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E536E7-505C-4806-8510-F9F387DCD253}"/>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229112" y="66505"/>
            <a:ext cx="961505" cy="854433"/>
          </a:xfrm>
          <a:prstGeom prst="rect">
            <a:avLst/>
          </a:prstGeom>
        </p:spPr>
      </p:pic>
      <p:cxnSp>
        <p:nvCxnSpPr>
          <p:cNvPr id="3" name="Straight Connector 2">
            <a:extLst>
              <a:ext uri="{FF2B5EF4-FFF2-40B4-BE49-F238E27FC236}">
                <a16:creationId xmlns:a16="http://schemas.microsoft.com/office/drawing/2014/main" id="{2F855121-5ABB-44F3-A928-D62A3A3A84FB}"/>
              </a:ext>
            </a:extLst>
          </p:cNvPr>
          <p:cNvCxnSpPr/>
          <p:nvPr userDrawn="1"/>
        </p:nvCxnSpPr>
        <p:spPr>
          <a:xfrm>
            <a:off x="0" y="931020"/>
            <a:ext cx="12192000" cy="0"/>
          </a:xfrm>
          <a:prstGeom prst="line">
            <a:avLst/>
          </a:prstGeom>
          <a:ln>
            <a:solidFill>
              <a:schemeClr val="accent6">
                <a:lumMod val="50000"/>
                <a:lumOff val="50000"/>
              </a:schemeClr>
            </a:solidFill>
          </a:ln>
        </p:spPr>
        <p:style>
          <a:lnRef idx="3">
            <a:schemeClr val="dk1"/>
          </a:lnRef>
          <a:fillRef idx="0">
            <a:schemeClr val="dk1"/>
          </a:fillRef>
          <a:effectRef idx="2">
            <a:schemeClr val="dk1"/>
          </a:effectRef>
          <a:fontRef idx="minor">
            <a:schemeClr val="tx1"/>
          </a:fontRef>
        </p:style>
      </p:cxnSp>
      <p:sp>
        <p:nvSpPr>
          <p:cNvPr id="5" name="Date Placeholder 3">
            <a:extLst>
              <a:ext uri="{FF2B5EF4-FFF2-40B4-BE49-F238E27FC236}">
                <a16:creationId xmlns:a16="http://schemas.microsoft.com/office/drawing/2014/main" id="{72B0DEA2-1CC4-41AF-BC51-AF27DD287A54}"/>
              </a:ext>
            </a:extLst>
          </p:cNvPr>
          <p:cNvSpPr>
            <a:spLocks noGrp="1"/>
          </p:cNvSpPr>
          <p:nvPr>
            <p:ph type="dt" sz="half" idx="2"/>
          </p:nvPr>
        </p:nvSpPr>
        <p:spPr>
          <a:xfrm>
            <a:off x="8638996" y="6435824"/>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BD66A315-C704-449F-968F-0A3A1544E017}" type="datetime1">
              <a:rPr lang="en-US" smtClean="0"/>
              <a:t>9/19/2021</a:t>
            </a:fld>
            <a:endParaRPr lang="en-US" dirty="0"/>
          </a:p>
        </p:txBody>
      </p:sp>
      <p:pic>
        <p:nvPicPr>
          <p:cNvPr id="8" name="Picture 7">
            <a:extLst>
              <a:ext uri="{FF2B5EF4-FFF2-40B4-BE49-F238E27FC236}">
                <a16:creationId xmlns:a16="http://schemas.microsoft.com/office/drawing/2014/main" id="{07AED35A-0D96-419C-B741-ECC65ECED93E}"/>
              </a:ext>
            </a:extLst>
          </p:cNvPr>
          <p:cNvPicPr>
            <a:picLocks noChangeAspect="1"/>
          </p:cNvPicPr>
          <p:nvPr userDrawn="1"/>
        </p:nvPicPr>
        <p:blipFill>
          <a:blip r:embed="rId20">
            <a:extLst>
              <a:ext uri="{28A0092B-C50C-407E-A947-70E740481C1C}">
                <a14:useLocalDpi xmlns:a14="http://schemas.microsoft.com/office/drawing/2010/main" val="0"/>
              </a:ext>
            </a:extLst>
          </a:blip>
          <a:srcRect/>
          <a:stretch/>
        </p:blipFill>
        <p:spPr>
          <a:xfrm>
            <a:off x="4729940" y="6477389"/>
            <a:ext cx="1885263" cy="323560"/>
          </a:xfrm>
          <a:prstGeom prst="rect">
            <a:avLst/>
          </a:prstGeom>
        </p:spPr>
      </p:pic>
      <p:cxnSp>
        <p:nvCxnSpPr>
          <p:cNvPr id="10" name="Straight Connector 9">
            <a:extLst>
              <a:ext uri="{FF2B5EF4-FFF2-40B4-BE49-F238E27FC236}">
                <a16:creationId xmlns:a16="http://schemas.microsoft.com/office/drawing/2014/main" id="{E5D627B8-13EB-4DA9-B021-62D63394ECF8}"/>
              </a:ext>
            </a:extLst>
          </p:cNvPr>
          <p:cNvCxnSpPr/>
          <p:nvPr userDrawn="1"/>
        </p:nvCxnSpPr>
        <p:spPr>
          <a:xfrm>
            <a:off x="0" y="6392488"/>
            <a:ext cx="12192000" cy="0"/>
          </a:xfrm>
          <a:prstGeom prst="line">
            <a:avLst/>
          </a:prstGeom>
          <a:ln>
            <a:solidFill>
              <a:schemeClr val="accent3">
                <a:lumMod val="50000"/>
                <a:lumOff val="50000"/>
              </a:schemeClr>
            </a:solidFill>
          </a:ln>
        </p:spPr>
        <p:style>
          <a:lnRef idx="3">
            <a:schemeClr val="dk1"/>
          </a:lnRef>
          <a:fillRef idx="0">
            <a:schemeClr val="dk1"/>
          </a:fillRef>
          <a:effectRef idx="2">
            <a:schemeClr val="dk1"/>
          </a:effectRef>
          <a:fontRef idx="minor">
            <a:schemeClr val="tx1"/>
          </a:fontRef>
        </p:style>
      </p:cxnSp>
      <p:sp>
        <p:nvSpPr>
          <p:cNvPr id="6" name="Footer Placeholder 4">
            <a:extLst>
              <a:ext uri="{FF2B5EF4-FFF2-40B4-BE49-F238E27FC236}">
                <a16:creationId xmlns:a16="http://schemas.microsoft.com/office/drawing/2014/main" id="{0DB27DC2-4722-45D4-9876-05773C44F6D6}"/>
              </a:ext>
            </a:extLst>
          </p:cNvPr>
          <p:cNvSpPr>
            <a:spLocks noGrp="1"/>
          </p:cNvSpPr>
          <p:nvPr>
            <p:ph type="ftr" sz="quarter" idx="3"/>
          </p:nvPr>
        </p:nvSpPr>
        <p:spPr>
          <a:xfrm>
            <a:off x="505689" y="6435824"/>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7" name="Slide Number Placeholder 5">
            <a:extLst>
              <a:ext uri="{FF2B5EF4-FFF2-40B4-BE49-F238E27FC236}">
                <a16:creationId xmlns:a16="http://schemas.microsoft.com/office/drawing/2014/main" id="{BF718DA6-24FE-47A1-9F2B-B15EA5ACED9A}"/>
              </a:ext>
            </a:extLst>
          </p:cNvPr>
          <p:cNvSpPr>
            <a:spLocks noGrp="1"/>
          </p:cNvSpPr>
          <p:nvPr>
            <p:ph type="sldNum" sz="quarter" idx="4"/>
          </p:nvPr>
        </p:nvSpPr>
        <p:spPr>
          <a:xfrm>
            <a:off x="10608774" y="6435824"/>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845" r:id="rId3"/>
    <p:sldLayoutId id="2147483654" r:id="rId4"/>
    <p:sldLayoutId id="2147483675" r:id="rId5"/>
    <p:sldLayoutId id="2147483676" r:id="rId6"/>
    <p:sldLayoutId id="2147483677" r:id="rId7"/>
    <p:sldLayoutId id="2147483678" r:id="rId8"/>
    <p:sldLayoutId id="2147483679" r:id="rId9"/>
    <p:sldLayoutId id="2147483680" r:id="rId10"/>
    <p:sldLayoutId id="2147483682" r:id="rId11"/>
    <p:sldLayoutId id="2147483684" r:id="rId12"/>
    <p:sldLayoutId id="2147483686" r:id="rId13"/>
    <p:sldLayoutId id="2147483687" r:id="rId14"/>
    <p:sldLayoutId id="2147483688" r:id="rId15"/>
    <p:sldLayoutId id="2147483844" r:id="rId16"/>
    <p:sldLayoutId id="2147483649" r:id="rId17"/>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0.xml"/><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E16C8-07C2-4E82-AB77-1038C2DFA3AA}"/>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2D6DEED5-48C6-486F-9C56-2756CF9A20B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1C55B836-45CF-4FAC-A69B-EB814395B3FF}"/>
              </a:ext>
            </a:extLst>
          </p:cNvPr>
          <p:cNvSpPr>
            <a:spLocks noGrp="1"/>
          </p:cNvSpPr>
          <p:nvPr>
            <p:ph type="sldNum" sz="quarter" idx="4"/>
          </p:nvPr>
        </p:nvSpPr>
        <p:spPr/>
        <p:txBody>
          <a:bodyPr/>
          <a:lstStyle/>
          <a:p>
            <a:fld id="{48F63A3B-78C7-47BE-AE5E-E10140E04643}" type="slidenum">
              <a:rPr lang="en-US" smtClean="0"/>
              <a:pPr/>
              <a:t>1</a:t>
            </a:fld>
            <a:endParaRPr lang="en-US" dirty="0"/>
          </a:p>
        </p:txBody>
      </p:sp>
      <p:sp>
        <p:nvSpPr>
          <p:cNvPr id="5" name="TextBox 4">
            <a:extLst>
              <a:ext uri="{FF2B5EF4-FFF2-40B4-BE49-F238E27FC236}">
                <a16:creationId xmlns:a16="http://schemas.microsoft.com/office/drawing/2014/main" id="{69855D1C-B62B-4392-A359-9F1283FAB44D}"/>
              </a:ext>
            </a:extLst>
          </p:cNvPr>
          <p:cNvSpPr txBox="1"/>
          <p:nvPr/>
        </p:nvSpPr>
        <p:spPr>
          <a:xfrm>
            <a:off x="1711354" y="2367171"/>
            <a:ext cx="8522516" cy="2123658"/>
          </a:xfrm>
          <a:prstGeom prst="rect">
            <a:avLst/>
          </a:prstGeom>
          <a:noFill/>
        </p:spPr>
        <p:txBody>
          <a:bodyPr wrap="square" rtlCol="0" anchor="ctr">
            <a:spAutoFit/>
          </a:bodyPr>
          <a:lstStyle/>
          <a:p>
            <a:pPr algn="ctr"/>
            <a:r>
              <a:rPr lang="en-US" altLang="ko-KR" sz="6600" b="1" dirty="0">
                <a:solidFill>
                  <a:schemeClr val="accent6">
                    <a:lumMod val="75000"/>
                    <a:lumOff val="25000"/>
                  </a:schemeClr>
                </a:solidFill>
                <a:latin typeface="Arial Black" panose="020B0A04020102020204" pitchFamily="34" charset="0"/>
                <a:cs typeface="Arial" pitchFamily="34" charset="0"/>
              </a:rPr>
              <a:t>Oracle 12c Database</a:t>
            </a:r>
            <a:endParaRPr lang="ko-KR" altLang="en-US" sz="6600" b="1" dirty="0">
              <a:solidFill>
                <a:schemeClr val="accent6">
                  <a:lumMod val="75000"/>
                  <a:lumOff val="25000"/>
                </a:schemeClr>
              </a:solidFill>
              <a:latin typeface="Arial Black" panose="020B0A04020102020204" pitchFamily="34" charset="0"/>
              <a:cs typeface="Arial" pitchFamily="34" charset="0"/>
            </a:endParaRPr>
          </a:p>
        </p:txBody>
      </p:sp>
      <p:sp>
        <p:nvSpPr>
          <p:cNvPr id="6" name="TextBox 5">
            <a:extLst>
              <a:ext uri="{FF2B5EF4-FFF2-40B4-BE49-F238E27FC236}">
                <a16:creationId xmlns:a16="http://schemas.microsoft.com/office/drawing/2014/main" id="{36A7DE19-D762-460A-A093-F74406102CC3}"/>
              </a:ext>
            </a:extLst>
          </p:cNvPr>
          <p:cNvSpPr txBox="1"/>
          <p:nvPr/>
        </p:nvSpPr>
        <p:spPr>
          <a:xfrm>
            <a:off x="160775" y="181763"/>
            <a:ext cx="12031225" cy="646331"/>
          </a:xfrm>
          <a:prstGeom prst="rect">
            <a:avLst/>
          </a:prstGeom>
          <a:noFill/>
        </p:spPr>
        <p:txBody>
          <a:bodyPr wrap="square" rtlCol="0" anchor="ctr">
            <a:spAutoFit/>
          </a:bodyPr>
          <a:lstStyle/>
          <a:p>
            <a:pPr algn="ctr"/>
            <a:r>
              <a:rPr lang="en-US" altLang="ko-KR" sz="3600" b="1" dirty="0">
                <a:solidFill>
                  <a:schemeClr val="accent6">
                    <a:lumMod val="75000"/>
                    <a:lumOff val="25000"/>
                  </a:schemeClr>
                </a:solidFill>
                <a:latin typeface="Arial Black" panose="020B0A04020102020204" pitchFamily="34" charset="0"/>
                <a:cs typeface="Arial" pitchFamily="34" charset="0"/>
              </a:rPr>
              <a:t>Chapter 2 Data Query Language</a:t>
            </a:r>
            <a:endParaRPr lang="ko-KR" altLang="en-US" sz="36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400349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FF6D6-4303-4699-8A96-3A2F3BA13EC5}"/>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1F348BE2-D4C4-41F7-B35F-B7B096C7F460}"/>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2BB8B320-529D-4AA4-A9D7-5AD1635B28EB}"/>
              </a:ext>
            </a:extLst>
          </p:cNvPr>
          <p:cNvSpPr>
            <a:spLocks noGrp="1"/>
          </p:cNvSpPr>
          <p:nvPr>
            <p:ph type="sldNum" sz="quarter" idx="4"/>
          </p:nvPr>
        </p:nvSpPr>
        <p:spPr/>
        <p:txBody>
          <a:bodyPr/>
          <a:lstStyle/>
          <a:p>
            <a:fld id="{48F63A3B-78C7-47BE-AE5E-E10140E04643}" type="slidenum">
              <a:rPr lang="en-US" smtClean="0"/>
              <a:pPr/>
              <a:t>2</a:t>
            </a:fld>
            <a:endParaRPr lang="en-US" dirty="0"/>
          </a:p>
        </p:txBody>
      </p:sp>
      <p:sp>
        <p:nvSpPr>
          <p:cNvPr id="6" name="TextBox 5">
            <a:extLst>
              <a:ext uri="{FF2B5EF4-FFF2-40B4-BE49-F238E27FC236}">
                <a16:creationId xmlns:a16="http://schemas.microsoft.com/office/drawing/2014/main" id="{5CFE761B-8AB7-47C7-A3E9-928B5FA6DB00}"/>
              </a:ext>
            </a:extLst>
          </p:cNvPr>
          <p:cNvSpPr txBox="1"/>
          <p:nvPr/>
        </p:nvSpPr>
        <p:spPr>
          <a:xfrm>
            <a:off x="102158" y="1059063"/>
            <a:ext cx="11987684" cy="5101653"/>
          </a:xfrm>
          <a:prstGeom prst="rect">
            <a:avLst/>
          </a:prstGeom>
          <a:noFill/>
        </p:spPr>
        <p:txBody>
          <a:bodyPr wrap="square">
            <a:spAutoFit/>
          </a:bodyPr>
          <a:lstStyle/>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An Oracle database is a set of files on disk. </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Access to the database is through the Oracle instance.  </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The instance is a set of processes and memory structures: it exists on the CPU(s) and in the memory of the server node, and this existence is temporary. </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An instance can be started and stopped. </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Users of the database establish sessions against the instance, and the instance then manages all access to the database. </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It is absolutely impossible in the Oracle environment for any user to have direct contact with the database.  </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An Oracle instance with an Oracle database makes up an Oracle server. </a:t>
            </a:r>
          </a:p>
        </p:txBody>
      </p:sp>
      <p:sp>
        <p:nvSpPr>
          <p:cNvPr id="9" name="Title 1">
            <a:extLst>
              <a:ext uri="{FF2B5EF4-FFF2-40B4-BE49-F238E27FC236}">
                <a16:creationId xmlns:a16="http://schemas.microsoft.com/office/drawing/2014/main" id="{BDCD58F0-44A9-4897-A965-AEF4EA240D8F}"/>
              </a:ext>
            </a:extLst>
          </p:cNvPr>
          <p:cNvSpPr txBox="1">
            <a:spLocks/>
          </p:cNvSpPr>
          <p:nvPr/>
        </p:nvSpPr>
        <p:spPr>
          <a:xfrm>
            <a:off x="277782" y="214008"/>
            <a:ext cx="11118715" cy="535021"/>
          </a:xfrm>
          <a:prstGeom prst="rect">
            <a:avLst/>
          </a:prstGeom>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Oracle Server Architecture</a:t>
            </a:r>
            <a:endParaRPr lang="en-US" sz="2400" dirty="0"/>
          </a:p>
        </p:txBody>
      </p:sp>
    </p:spTree>
    <p:extLst>
      <p:ext uri="{BB962C8B-B14F-4D97-AF65-F5344CB8AC3E}">
        <p14:creationId xmlns:p14="http://schemas.microsoft.com/office/powerpoint/2010/main" val="136523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FF6D6-4303-4699-8A96-3A2F3BA13EC5}"/>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1F348BE2-D4C4-41F7-B35F-B7B096C7F460}"/>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2BB8B320-529D-4AA4-A9D7-5AD1635B28EB}"/>
              </a:ext>
            </a:extLst>
          </p:cNvPr>
          <p:cNvSpPr>
            <a:spLocks noGrp="1"/>
          </p:cNvSpPr>
          <p:nvPr>
            <p:ph type="sldNum" sz="quarter" idx="4"/>
          </p:nvPr>
        </p:nvSpPr>
        <p:spPr/>
        <p:txBody>
          <a:bodyPr/>
          <a:lstStyle/>
          <a:p>
            <a:fld id="{48F63A3B-78C7-47BE-AE5E-E10140E04643}" type="slidenum">
              <a:rPr lang="en-US" smtClean="0"/>
              <a:pPr/>
              <a:t>3</a:t>
            </a:fld>
            <a:endParaRPr lang="en-US" dirty="0"/>
          </a:p>
        </p:txBody>
      </p:sp>
      <p:sp>
        <p:nvSpPr>
          <p:cNvPr id="9" name="Title 1">
            <a:extLst>
              <a:ext uri="{FF2B5EF4-FFF2-40B4-BE49-F238E27FC236}">
                <a16:creationId xmlns:a16="http://schemas.microsoft.com/office/drawing/2014/main" id="{BDCD58F0-44A9-4897-A965-AEF4EA240D8F}"/>
              </a:ext>
            </a:extLst>
          </p:cNvPr>
          <p:cNvSpPr txBox="1">
            <a:spLocks/>
          </p:cNvSpPr>
          <p:nvPr/>
        </p:nvSpPr>
        <p:spPr>
          <a:xfrm>
            <a:off x="277782" y="214008"/>
            <a:ext cx="11118715" cy="535021"/>
          </a:xfrm>
          <a:prstGeom prst="rect">
            <a:avLst/>
          </a:prstGeom>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Oracle Server Architecture</a:t>
            </a:r>
            <a:endParaRPr lang="en-US" sz="2400" dirty="0"/>
          </a:p>
        </p:txBody>
      </p:sp>
      <p:pic>
        <p:nvPicPr>
          <p:cNvPr id="7" name="Content Placeholder 7">
            <a:extLst>
              <a:ext uri="{FF2B5EF4-FFF2-40B4-BE49-F238E27FC236}">
                <a16:creationId xmlns:a16="http://schemas.microsoft.com/office/drawing/2014/main" id="{1217365B-EF4A-4F88-B06A-C4A3E71650ED}"/>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678075" y="1040693"/>
            <a:ext cx="9051420" cy="5120091"/>
          </a:xfrm>
          <a:prstGeom prst="rect">
            <a:avLst/>
          </a:prstGeom>
        </p:spPr>
      </p:pic>
    </p:spTree>
    <p:extLst>
      <p:ext uri="{BB962C8B-B14F-4D97-AF65-F5344CB8AC3E}">
        <p14:creationId xmlns:p14="http://schemas.microsoft.com/office/powerpoint/2010/main" val="3473074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59EEE0-CE4E-4EF8-92AF-1E7A1AA0BC60}"/>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BCFAEBBB-B834-4D6B-9EC5-A90F83EA4625}"/>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71D3B40F-E9C3-45BB-A708-C3331336FF3A}"/>
              </a:ext>
            </a:extLst>
          </p:cNvPr>
          <p:cNvSpPr>
            <a:spLocks noGrp="1"/>
          </p:cNvSpPr>
          <p:nvPr>
            <p:ph type="sldNum" sz="quarter" idx="4"/>
          </p:nvPr>
        </p:nvSpPr>
        <p:spPr/>
        <p:txBody>
          <a:bodyPr/>
          <a:lstStyle/>
          <a:p>
            <a:fld id="{48F63A3B-78C7-47BE-AE5E-E10140E04643}" type="slidenum">
              <a:rPr lang="en-US" smtClean="0"/>
              <a:pPr/>
              <a:t>4</a:t>
            </a:fld>
            <a:endParaRPr lang="en-US" dirty="0"/>
          </a:p>
        </p:txBody>
      </p:sp>
      <p:sp>
        <p:nvSpPr>
          <p:cNvPr id="5" name="Content Placeholder 2">
            <a:extLst>
              <a:ext uri="{FF2B5EF4-FFF2-40B4-BE49-F238E27FC236}">
                <a16:creationId xmlns:a16="http://schemas.microsoft.com/office/drawing/2014/main" id="{87761FD4-CF5D-4232-956A-B86EE6E67508}"/>
              </a:ext>
            </a:extLst>
          </p:cNvPr>
          <p:cNvSpPr txBox="1">
            <a:spLocks/>
          </p:cNvSpPr>
          <p:nvPr/>
        </p:nvSpPr>
        <p:spPr>
          <a:xfrm>
            <a:off x="161051" y="983998"/>
            <a:ext cx="11636435" cy="523348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sz="2000" b="1" dirty="0">
                <a:latin typeface="Tahoma" panose="020B0604030504040204" pitchFamily="34" charset="0"/>
                <a:ea typeface="Tahoma" panose="020B0604030504040204" pitchFamily="34" charset="0"/>
                <a:cs typeface="Tahoma" panose="020B0604030504040204" pitchFamily="34" charset="0"/>
              </a:rPr>
              <a:t>A</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b="1" i="1" dirty="0">
                <a:latin typeface="Tahoma" panose="020B0604030504040204" pitchFamily="34" charset="0"/>
                <a:ea typeface="Tahoma" panose="020B0604030504040204" pitchFamily="34" charset="0"/>
                <a:cs typeface="Tahoma" panose="020B0604030504040204" pitchFamily="34" charset="0"/>
              </a:rPr>
              <a:t>QUERY</a:t>
            </a:r>
            <a:r>
              <a:rPr lang="en-US" sz="2000" i="1" dirty="0">
                <a:latin typeface="Tahoma" panose="020B0604030504040204" pitchFamily="34" charset="0"/>
                <a:ea typeface="Tahoma" panose="020B0604030504040204" pitchFamily="34" charset="0"/>
                <a:cs typeface="Tahoma" panose="020B0604030504040204" pitchFamily="34" charset="0"/>
              </a:rPr>
              <a:t> </a:t>
            </a:r>
            <a:r>
              <a:rPr lang="en-US" sz="2000" dirty="0">
                <a:latin typeface="Tahoma" panose="020B0604030504040204" pitchFamily="34" charset="0"/>
                <a:ea typeface="Tahoma" panose="020B0604030504040204" pitchFamily="34" charset="0"/>
                <a:cs typeface="Tahoma" panose="020B0604030504040204" pitchFamily="34" charset="0"/>
              </a:rPr>
              <a:t>is a request for information from the database tables and Queries do not modify data; they read data from database tables and views.  </a:t>
            </a:r>
          </a:p>
          <a:p>
            <a:pPr>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The basis of a query is the SELECT statement. </a:t>
            </a:r>
          </a:p>
          <a:p>
            <a:pPr>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The SELECT statement can be used to get data from a single table or from multiple tables. </a:t>
            </a:r>
          </a:p>
          <a:p>
            <a:pPr marL="0" indent="0">
              <a:lnSpc>
                <a:spcPct val="150000"/>
              </a:lnSpc>
              <a:buNone/>
            </a:pPr>
            <a:r>
              <a:rPr lang="en-US" sz="2000" dirty="0">
                <a:latin typeface="Tahoma" panose="020B0604030504040204" pitchFamily="34" charset="0"/>
                <a:ea typeface="Tahoma" panose="020B0604030504040204" pitchFamily="34" charset="0"/>
                <a:cs typeface="Tahoma" panose="020B0604030504040204" pitchFamily="34" charset="0"/>
              </a:rPr>
              <a:t>The SELECT statement is the most commonly used statement in SQL. </a:t>
            </a:r>
          </a:p>
          <a:p>
            <a:pPr marL="0" indent="0">
              <a:lnSpc>
                <a:spcPct val="150000"/>
              </a:lnSpc>
              <a:buNone/>
            </a:pPr>
            <a:r>
              <a:rPr lang="en-US" sz="2000" dirty="0">
                <a:latin typeface="Tahoma" panose="020B0604030504040204" pitchFamily="34" charset="0"/>
                <a:ea typeface="Tahoma" panose="020B0604030504040204" pitchFamily="34" charset="0"/>
                <a:cs typeface="Tahoma" panose="020B0604030504040204" pitchFamily="34" charset="0"/>
              </a:rPr>
              <a:t>It allows you to retrieve information already stored in the database. The statement begins with the keyword SELECT, followed by the names of the columns with data you want to query. </a:t>
            </a:r>
          </a:p>
          <a:p>
            <a:pPr marL="0" indent="0">
              <a:lnSpc>
                <a:spcPct val="150000"/>
              </a:lnSpc>
              <a:buNone/>
            </a:pPr>
            <a:r>
              <a:rPr lang="en-US" sz="2000" dirty="0">
                <a:latin typeface="Tahoma" panose="020B0604030504040204" pitchFamily="34" charset="0"/>
                <a:ea typeface="Tahoma" panose="020B0604030504040204" pitchFamily="34" charset="0"/>
                <a:cs typeface="Tahoma" panose="020B0604030504040204" pitchFamily="34" charset="0"/>
              </a:rPr>
              <a:t>You can select information either from all the columns (denoted by *) or from name-specific columns in the SELECT clause to retrieve data.</a:t>
            </a:r>
            <a:br>
              <a:rPr lang="en-US" sz="2000" dirty="0">
                <a:latin typeface="Tahoma" panose="020B0604030504040204" pitchFamily="34" charset="0"/>
                <a:ea typeface="Tahoma" panose="020B0604030504040204" pitchFamily="34" charset="0"/>
                <a:cs typeface="Tahoma" panose="020B0604030504040204" pitchFamily="34" charset="0"/>
              </a:rPr>
            </a:br>
            <a:r>
              <a:rPr lang="en-US" sz="2000" dirty="0">
                <a:latin typeface="Tahoma" panose="020B0604030504040204" pitchFamily="34" charset="0"/>
                <a:ea typeface="Tahoma" panose="020B0604030504040204" pitchFamily="34" charset="0"/>
                <a:cs typeface="Tahoma" panose="020B0604030504040204" pitchFamily="34" charset="0"/>
              </a:rPr>
              <a:t>The rows returned by the database are known as a result set.</a:t>
            </a:r>
          </a:p>
        </p:txBody>
      </p:sp>
      <p:sp>
        <p:nvSpPr>
          <p:cNvPr id="6" name="Title 1">
            <a:extLst>
              <a:ext uri="{FF2B5EF4-FFF2-40B4-BE49-F238E27FC236}">
                <a16:creationId xmlns:a16="http://schemas.microsoft.com/office/drawing/2014/main" id="{BF3F0AA0-4155-4135-95B1-AACFD9F25C11}"/>
              </a:ext>
            </a:extLst>
          </p:cNvPr>
          <p:cNvSpPr txBox="1">
            <a:spLocks/>
          </p:cNvSpPr>
          <p:nvPr/>
        </p:nvSpPr>
        <p:spPr>
          <a:xfrm>
            <a:off x="277782" y="214008"/>
            <a:ext cx="11118715" cy="535021"/>
          </a:xfrm>
          <a:prstGeom prst="rect">
            <a:avLst/>
          </a:prstGeom>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solidFill>
                  <a:schemeClr val="accent6">
                    <a:lumMod val="75000"/>
                    <a:lumOff val="25000"/>
                  </a:schemeClr>
                </a:solidFill>
                <a:latin typeface="Arial Black" panose="020B0A04020102020204" pitchFamily="34" charset="0"/>
                <a:ea typeface="+mn-ea"/>
                <a:cs typeface="Arial" pitchFamily="34" charset="0"/>
              </a:rPr>
              <a:t>Performing</a:t>
            </a:r>
            <a:r>
              <a:rPr lang="en-US" sz="2400" dirty="0"/>
              <a:t> </a:t>
            </a:r>
            <a:r>
              <a:rPr lang="en-US" sz="3200" b="1" dirty="0">
                <a:solidFill>
                  <a:schemeClr val="accent6">
                    <a:lumMod val="75000"/>
                    <a:lumOff val="25000"/>
                  </a:schemeClr>
                </a:solidFill>
                <a:latin typeface="Arial Black" panose="020B0A04020102020204" pitchFamily="34" charset="0"/>
                <a:ea typeface="+mn-ea"/>
                <a:cs typeface="Arial" pitchFamily="34" charset="0"/>
              </a:rPr>
              <a:t>Single</a:t>
            </a:r>
            <a:r>
              <a:rPr lang="en-US" sz="2400" dirty="0"/>
              <a:t> </a:t>
            </a:r>
            <a:r>
              <a:rPr lang="en-US" sz="3200" b="1" dirty="0">
                <a:solidFill>
                  <a:schemeClr val="accent6">
                    <a:lumMod val="75000"/>
                    <a:lumOff val="25000"/>
                  </a:schemeClr>
                </a:solidFill>
                <a:latin typeface="Arial Black" panose="020B0A04020102020204" pitchFamily="34" charset="0"/>
                <a:ea typeface="+mn-ea"/>
                <a:cs typeface="Arial" pitchFamily="34" charset="0"/>
              </a:rPr>
              <a:t>Table</a:t>
            </a:r>
            <a:r>
              <a:rPr lang="en-US" sz="2400" dirty="0"/>
              <a:t> </a:t>
            </a:r>
            <a:r>
              <a:rPr lang="en-US" sz="3200" b="1" dirty="0">
                <a:solidFill>
                  <a:schemeClr val="accent6">
                    <a:lumMod val="75000"/>
                    <a:lumOff val="25000"/>
                  </a:schemeClr>
                </a:solidFill>
                <a:latin typeface="Arial Black" panose="020B0A04020102020204" pitchFamily="34" charset="0"/>
                <a:ea typeface="+mn-ea"/>
                <a:cs typeface="Arial" pitchFamily="34" charset="0"/>
              </a:rPr>
              <a:t>SELECT</a:t>
            </a:r>
            <a:r>
              <a:rPr lang="en-US" sz="2400" dirty="0"/>
              <a:t> </a:t>
            </a:r>
            <a:r>
              <a:rPr lang="en-US" sz="3200" b="1" dirty="0">
                <a:solidFill>
                  <a:schemeClr val="accent6">
                    <a:lumMod val="75000"/>
                    <a:lumOff val="25000"/>
                  </a:schemeClr>
                </a:solidFill>
                <a:latin typeface="Arial Black" panose="020B0A04020102020204" pitchFamily="34" charset="0"/>
                <a:ea typeface="+mn-ea"/>
                <a:cs typeface="Arial" pitchFamily="34" charset="0"/>
              </a:rPr>
              <a:t>Statements</a:t>
            </a:r>
            <a:r>
              <a:rPr lang="en-US" sz="2400" dirty="0"/>
              <a:t> </a:t>
            </a:r>
          </a:p>
        </p:txBody>
      </p:sp>
    </p:spTree>
    <p:extLst>
      <p:ext uri="{BB962C8B-B14F-4D97-AF65-F5344CB8AC3E}">
        <p14:creationId xmlns:p14="http://schemas.microsoft.com/office/powerpoint/2010/main" val="24011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E43109-7619-4228-A650-39C581CC5A25}"/>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C1B9C37F-64FF-4E6E-9FFE-41DE63D2164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F92A6EB4-9A1D-485C-81E9-303CCFE4A55E}"/>
              </a:ext>
            </a:extLst>
          </p:cNvPr>
          <p:cNvSpPr>
            <a:spLocks noGrp="1"/>
          </p:cNvSpPr>
          <p:nvPr>
            <p:ph type="sldNum" sz="quarter" idx="4"/>
          </p:nvPr>
        </p:nvSpPr>
        <p:spPr/>
        <p:txBody>
          <a:bodyPr/>
          <a:lstStyle/>
          <a:p>
            <a:fld id="{48F63A3B-78C7-47BE-AE5E-E10140E04643}" type="slidenum">
              <a:rPr lang="en-US" smtClean="0"/>
              <a:pPr/>
              <a:t>5</a:t>
            </a:fld>
            <a:endParaRPr lang="en-US" dirty="0"/>
          </a:p>
        </p:txBody>
      </p:sp>
      <p:sp>
        <p:nvSpPr>
          <p:cNvPr id="5" name="TextBox 4">
            <a:extLst>
              <a:ext uri="{FF2B5EF4-FFF2-40B4-BE49-F238E27FC236}">
                <a16:creationId xmlns:a16="http://schemas.microsoft.com/office/drawing/2014/main" id="{B1CC139C-5238-4C92-8047-2ED38A81D8DB}"/>
              </a:ext>
            </a:extLst>
          </p:cNvPr>
          <p:cNvSpPr txBox="1"/>
          <p:nvPr/>
        </p:nvSpPr>
        <p:spPr>
          <a:xfrm>
            <a:off x="731195" y="213044"/>
            <a:ext cx="10729609" cy="646331"/>
          </a:xfrm>
          <a:prstGeom prst="rect">
            <a:avLst/>
          </a:prstGeom>
          <a:noFill/>
        </p:spPr>
        <p:txBody>
          <a:bodyPr wrap="square" rtlCol="0" anchor="ctr">
            <a:spAutoFit/>
          </a:bodyPr>
          <a:lstStyle/>
          <a:p>
            <a:r>
              <a:rPr lang="en-US" altLang="en-US" sz="3600" b="1" dirty="0">
                <a:solidFill>
                  <a:schemeClr val="accent6">
                    <a:lumMod val="75000"/>
                    <a:lumOff val="25000"/>
                  </a:schemeClr>
                </a:solidFill>
                <a:latin typeface="Arial Black" panose="020B0A04020102020204" pitchFamily="34" charset="0"/>
                <a:cs typeface="Arial" pitchFamily="34" charset="0"/>
              </a:rPr>
              <a:t>Capabilities of SQL SELECT Statements</a:t>
            </a:r>
          </a:p>
        </p:txBody>
      </p:sp>
      <p:sp>
        <p:nvSpPr>
          <p:cNvPr id="6" name="Rectangle 4">
            <a:extLst>
              <a:ext uri="{FF2B5EF4-FFF2-40B4-BE49-F238E27FC236}">
                <a16:creationId xmlns:a16="http://schemas.microsoft.com/office/drawing/2014/main" id="{4F91C9A2-A1B1-4FFA-B8C2-356DF12F0372}"/>
              </a:ext>
            </a:extLst>
          </p:cNvPr>
          <p:cNvSpPr>
            <a:spLocks noChangeArrowheads="1"/>
          </p:cNvSpPr>
          <p:nvPr/>
        </p:nvSpPr>
        <p:spPr bwMode="blackWhite">
          <a:xfrm>
            <a:off x="6626495" y="3917173"/>
            <a:ext cx="1841500" cy="1346200"/>
          </a:xfrm>
          <a:prstGeom prst="rect">
            <a:avLst/>
          </a:prstGeom>
          <a:solidFill>
            <a:srgbClr val="CCCC99"/>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sp>
        <p:nvSpPr>
          <p:cNvPr id="7" name="Rectangle 26">
            <a:extLst>
              <a:ext uri="{FF2B5EF4-FFF2-40B4-BE49-F238E27FC236}">
                <a16:creationId xmlns:a16="http://schemas.microsoft.com/office/drawing/2014/main" id="{04EE8B32-8542-4555-AB3E-0C04854F07C2}"/>
              </a:ext>
            </a:extLst>
          </p:cNvPr>
          <p:cNvSpPr>
            <a:spLocks noChangeArrowheads="1"/>
          </p:cNvSpPr>
          <p:nvPr/>
        </p:nvSpPr>
        <p:spPr bwMode="blackWhite">
          <a:xfrm>
            <a:off x="9869750" y="3887585"/>
            <a:ext cx="1841500" cy="1346200"/>
          </a:xfrm>
          <a:prstGeom prst="rect">
            <a:avLst/>
          </a:prstGeom>
          <a:solidFill>
            <a:srgbClr val="CCCC99"/>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sp>
        <p:nvSpPr>
          <p:cNvPr id="8" name="Rectangle 28">
            <a:extLst>
              <a:ext uri="{FF2B5EF4-FFF2-40B4-BE49-F238E27FC236}">
                <a16:creationId xmlns:a16="http://schemas.microsoft.com/office/drawing/2014/main" id="{B3700359-C893-4F7C-A851-6789F83479EF}"/>
              </a:ext>
            </a:extLst>
          </p:cNvPr>
          <p:cNvSpPr>
            <a:spLocks noChangeArrowheads="1"/>
          </p:cNvSpPr>
          <p:nvPr/>
        </p:nvSpPr>
        <p:spPr bwMode="ltGray">
          <a:xfrm>
            <a:off x="8201295" y="3925111"/>
            <a:ext cx="261938" cy="1325562"/>
          </a:xfrm>
          <a:prstGeom prst="rect">
            <a:avLst/>
          </a:prstGeom>
          <a:solidFill>
            <a:srgbClr val="FF66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29">
            <a:extLst>
              <a:ext uri="{FF2B5EF4-FFF2-40B4-BE49-F238E27FC236}">
                <a16:creationId xmlns:a16="http://schemas.microsoft.com/office/drawing/2014/main" id="{ADB85A2E-A124-4D15-A874-92A6D7EFC19A}"/>
              </a:ext>
            </a:extLst>
          </p:cNvPr>
          <p:cNvSpPr>
            <a:spLocks noChangeArrowheads="1"/>
          </p:cNvSpPr>
          <p:nvPr/>
        </p:nvSpPr>
        <p:spPr bwMode="ltGray">
          <a:xfrm>
            <a:off x="9880863" y="3898697"/>
            <a:ext cx="261937" cy="1325563"/>
          </a:xfrm>
          <a:prstGeom prst="rect">
            <a:avLst/>
          </a:prstGeom>
          <a:solidFill>
            <a:srgbClr val="FF66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Rectangle 30">
            <a:extLst>
              <a:ext uri="{FF2B5EF4-FFF2-40B4-BE49-F238E27FC236}">
                <a16:creationId xmlns:a16="http://schemas.microsoft.com/office/drawing/2014/main" id="{D34AA541-5315-4485-A6BB-28D7FD2C9FD0}"/>
              </a:ext>
            </a:extLst>
          </p:cNvPr>
          <p:cNvSpPr>
            <a:spLocks noChangeArrowheads="1"/>
          </p:cNvSpPr>
          <p:nvPr/>
        </p:nvSpPr>
        <p:spPr bwMode="auto">
          <a:xfrm>
            <a:off x="9704650" y="1323772"/>
            <a:ext cx="1267976"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spcBef>
                <a:spcPct val="0"/>
              </a:spcBef>
              <a:buClrTx/>
              <a:buFontTx/>
              <a:buNone/>
            </a:pPr>
            <a:r>
              <a:rPr lang="en-US" altLang="en-US" sz="2200" b="1" dirty="0"/>
              <a:t>Selection</a:t>
            </a:r>
          </a:p>
        </p:txBody>
      </p:sp>
      <p:sp>
        <p:nvSpPr>
          <p:cNvPr id="11" name="Rectangle 31">
            <a:extLst>
              <a:ext uri="{FF2B5EF4-FFF2-40B4-BE49-F238E27FC236}">
                <a16:creationId xmlns:a16="http://schemas.microsoft.com/office/drawing/2014/main" id="{B0AA291F-D9E9-4360-9E2D-AF83BD4324F3}"/>
              </a:ext>
            </a:extLst>
          </p:cNvPr>
          <p:cNvSpPr>
            <a:spLocks noChangeArrowheads="1"/>
          </p:cNvSpPr>
          <p:nvPr/>
        </p:nvSpPr>
        <p:spPr bwMode="auto">
          <a:xfrm>
            <a:off x="7055114" y="1292023"/>
            <a:ext cx="1436034"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spcBef>
                <a:spcPct val="0"/>
              </a:spcBef>
              <a:buClrTx/>
              <a:buFontTx/>
              <a:buNone/>
            </a:pPr>
            <a:r>
              <a:rPr lang="en-US" altLang="en-US" sz="2200" b="1" dirty="0"/>
              <a:t>Projection</a:t>
            </a:r>
          </a:p>
        </p:txBody>
      </p:sp>
      <p:sp>
        <p:nvSpPr>
          <p:cNvPr id="12" name="Line 32">
            <a:extLst>
              <a:ext uri="{FF2B5EF4-FFF2-40B4-BE49-F238E27FC236}">
                <a16:creationId xmlns:a16="http://schemas.microsoft.com/office/drawing/2014/main" id="{4F245F64-6584-438E-80AF-AFED1AEE5DEC}"/>
              </a:ext>
            </a:extLst>
          </p:cNvPr>
          <p:cNvSpPr>
            <a:spLocks noChangeShapeType="1"/>
          </p:cNvSpPr>
          <p:nvPr/>
        </p:nvSpPr>
        <p:spPr bwMode="blackWhite">
          <a:xfrm>
            <a:off x="7594870" y="3918761"/>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33">
            <a:extLst>
              <a:ext uri="{FF2B5EF4-FFF2-40B4-BE49-F238E27FC236}">
                <a16:creationId xmlns:a16="http://schemas.microsoft.com/office/drawing/2014/main" id="{C133C1DF-2051-4646-A1BA-8019ABF802C8}"/>
              </a:ext>
            </a:extLst>
          </p:cNvPr>
          <p:cNvSpPr>
            <a:spLocks noChangeShapeType="1"/>
          </p:cNvSpPr>
          <p:nvPr/>
        </p:nvSpPr>
        <p:spPr bwMode="blackWhite">
          <a:xfrm>
            <a:off x="6899545" y="3918761"/>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34">
            <a:extLst>
              <a:ext uri="{FF2B5EF4-FFF2-40B4-BE49-F238E27FC236}">
                <a16:creationId xmlns:a16="http://schemas.microsoft.com/office/drawing/2014/main" id="{26525E78-96E2-4E3B-98CE-4383BF4DC44E}"/>
              </a:ext>
            </a:extLst>
          </p:cNvPr>
          <p:cNvSpPr>
            <a:spLocks noChangeShapeType="1"/>
          </p:cNvSpPr>
          <p:nvPr/>
        </p:nvSpPr>
        <p:spPr bwMode="blackWhite">
          <a:xfrm>
            <a:off x="6628083" y="40759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35">
            <a:extLst>
              <a:ext uri="{FF2B5EF4-FFF2-40B4-BE49-F238E27FC236}">
                <a16:creationId xmlns:a16="http://schemas.microsoft.com/office/drawing/2014/main" id="{030032B7-3155-40E9-827C-D168B2660941}"/>
              </a:ext>
            </a:extLst>
          </p:cNvPr>
          <p:cNvSpPr>
            <a:spLocks noChangeShapeType="1"/>
          </p:cNvSpPr>
          <p:nvPr/>
        </p:nvSpPr>
        <p:spPr bwMode="blackWhite">
          <a:xfrm>
            <a:off x="6628083" y="42283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36">
            <a:extLst>
              <a:ext uri="{FF2B5EF4-FFF2-40B4-BE49-F238E27FC236}">
                <a16:creationId xmlns:a16="http://schemas.microsoft.com/office/drawing/2014/main" id="{11B86712-33DD-4E01-8AA7-8E961CDA3F0B}"/>
              </a:ext>
            </a:extLst>
          </p:cNvPr>
          <p:cNvSpPr>
            <a:spLocks noChangeShapeType="1"/>
          </p:cNvSpPr>
          <p:nvPr/>
        </p:nvSpPr>
        <p:spPr bwMode="blackWhite">
          <a:xfrm>
            <a:off x="6628083" y="43807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37">
            <a:extLst>
              <a:ext uri="{FF2B5EF4-FFF2-40B4-BE49-F238E27FC236}">
                <a16:creationId xmlns:a16="http://schemas.microsoft.com/office/drawing/2014/main" id="{4F48C40B-F972-495A-94F4-FC8B93CC1C56}"/>
              </a:ext>
            </a:extLst>
          </p:cNvPr>
          <p:cNvSpPr>
            <a:spLocks noChangeShapeType="1"/>
          </p:cNvSpPr>
          <p:nvPr/>
        </p:nvSpPr>
        <p:spPr bwMode="blackWhite">
          <a:xfrm>
            <a:off x="6628083" y="45331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38">
            <a:extLst>
              <a:ext uri="{FF2B5EF4-FFF2-40B4-BE49-F238E27FC236}">
                <a16:creationId xmlns:a16="http://schemas.microsoft.com/office/drawing/2014/main" id="{2AEF0BD6-28C7-4076-AE46-31E1CB889770}"/>
              </a:ext>
            </a:extLst>
          </p:cNvPr>
          <p:cNvSpPr>
            <a:spLocks noChangeShapeType="1"/>
          </p:cNvSpPr>
          <p:nvPr/>
        </p:nvSpPr>
        <p:spPr bwMode="blackWhite">
          <a:xfrm>
            <a:off x="6628083" y="46855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39">
            <a:extLst>
              <a:ext uri="{FF2B5EF4-FFF2-40B4-BE49-F238E27FC236}">
                <a16:creationId xmlns:a16="http://schemas.microsoft.com/office/drawing/2014/main" id="{172CA043-09FC-45C6-98BF-75D295566535}"/>
              </a:ext>
            </a:extLst>
          </p:cNvPr>
          <p:cNvSpPr>
            <a:spLocks noChangeShapeType="1"/>
          </p:cNvSpPr>
          <p:nvPr/>
        </p:nvSpPr>
        <p:spPr bwMode="blackWhite">
          <a:xfrm>
            <a:off x="6628083" y="48379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40">
            <a:extLst>
              <a:ext uri="{FF2B5EF4-FFF2-40B4-BE49-F238E27FC236}">
                <a16:creationId xmlns:a16="http://schemas.microsoft.com/office/drawing/2014/main" id="{CDFE34DE-77F4-4456-9E5C-CA8AC3AF1F2A}"/>
              </a:ext>
            </a:extLst>
          </p:cNvPr>
          <p:cNvSpPr>
            <a:spLocks noChangeShapeType="1"/>
          </p:cNvSpPr>
          <p:nvPr/>
        </p:nvSpPr>
        <p:spPr bwMode="blackWhite">
          <a:xfrm>
            <a:off x="6628083" y="49903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41">
            <a:extLst>
              <a:ext uri="{FF2B5EF4-FFF2-40B4-BE49-F238E27FC236}">
                <a16:creationId xmlns:a16="http://schemas.microsoft.com/office/drawing/2014/main" id="{B8E7A56D-1848-4D2B-B05C-A9FE40B170B1}"/>
              </a:ext>
            </a:extLst>
          </p:cNvPr>
          <p:cNvSpPr>
            <a:spLocks noChangeShapeType="1"/>
          </p:cNvSpPr>
          <p:nvPr/>
        </p:nvSpPr>
        <p:spPr bwMode="blackWhite">
          <a:xfrm>
            <a:off x="6628083" y="5142723"/>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42">
            <a:extLst>
              <a:ext uri="{FF2B5EF4-FFF2-40B4-BE49-F238E27FC236}">
                <a16:creationId xmlns:a16="http://schemas.microsoft.com/office/drawing/2014/main" id="{2A2F0308-F609-4535-8BAC-970CDB0FA6DF}"/>
              </a:ext>
            </a:extLst>
          </p:cNvPr>
          <p:cNvSpPr>
            <a:spLocks noChangeShapeType="1"/>
          </p:cNvSpPr>
          <p:nvPr/>
        </p:nvSpPr>
        <p:spPr bwMode="blackWhite">
          <a:xfrm>
            <a:off x="7866333" y="3918761"/>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43">
            <a:extLst>
              <a:ext uri="{FF2B5EF4-FFF2-40B4-BE49-F238E27FC236}">
                <a16:creationId xmlns:a16="http://schemas.microsoft.com/office/drawing/2014/main" id="{8E78167F-C19C-4EC2-A9F3-D5270888ED23}"/>
              </a:ext>
            </a:extLst>
          </p:cNvPr>
          <p:cNvSpPr>
            <a:spLocks noChangeShapeType="1"/>
          </p:cNvSpPr>
          <p:nvPr/>
        </p:nvSpPr>
        <p:spPr bwMode="blackWhite">
          <a:xfrm>
            <a:off x="8191770" y="3917173"/>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44">
            <a:extLst>
              <a:ext uri="{FF2B5EF4-FFF2-40B4-BE49-F238E27FC236}">
                <a16:creationId xmlns:a16="http://schemas.microsoft.com/office/drawing/2014/main" id="{7B333DD0-1093-46DF-8AEF-583673369165}"/>
              </a:ext>
            </a:extLst>
          </p:cNvPr>
          <p:cNvSpPr>
            <a:spLocks noChangeShapeType="1"/>
          </p:cNvSpPr>
          <p:nvPr/>
        </p:nvSpPr>
        <p:spPr bwMode="blackWhite">
          <a:xfrm>
            <a:off x="10569838" y="3901872"/>
            <a:ext cx="0" cy="133350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45">
            <a:extLst>
              <a:ext uri="{FF2B5EF4-FFF2-40B4-BE49-F238E27FC236}">
                <a16:creationId xmlns:a16="http://schemas.microsoft.com/office/drawing/2014/main" id="{4D76502D-EC57-4305-AAAA-27D2F7EC0B09}"/>
              </a:ext>
            </a:extLst>
          </p:cNvPr>
          <p:cNvSpPr>
            <a:spLocks noChangeShapeType="1"/>
          </p:cNvSpPr>
          <p:nvPr/>
        </p:nvSpPr>
        <p:spPr bwMode="blackWhite">
          <a:xfrm>
            <a:off x="10142800" y="3889172"/>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46">
            <a:extLst>
              <a:ext uri="{FF2B5EF4-FFF2-40B4-BE49-F238E27FC236}">
                <a16:creationId xmlns:a16="http://schemas.microsoft.com/office/drawing/2014/main" id="{31140CF9-2D5F-479C-BB33-926A4DA324B7}"/>
              </a:ext>
            </a:extLst>
          </p:cNvPr>
          <p:cNvSpPr>
            <a:spLocks noChangeShapeType="1"/>
          </p:cNvSpPr>
          <p:nvPr/>
        </p:nvSpPr>
        <p:spPr bwMode="blackWhite">
          <a:xfrm>
            <a:off x="9871338" y="40463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47">
            <a:extLst>
              <a:ext uri="{FF2B5EF4-FFF2-40B4-BE49-F238E27FC236}">
                <a16:creationId xmlns:a16="http://schemas.microsoft.com/office/drawing/2014/main" id="{3EC9A4FE-9FC8-42C3-B319-E9D1598BE73E}"/>
              </a:ext>
            </a:extLst>
          </p:cNvPr>
          <p:cNvSpPr>
            <a:spLocks noChangeShapeType="1"/>
          </p:cNvSpPr>
          <p:nvPr/>
        </p:nvSpPr>
        <p:spPr bwMode="blackWhite">
          <a:xfrm>
            <a:off x="9871338" y="41987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48">
            <a:extLst>
              <a:ext uri="{FF2B5EF4-FFF2-40B4-BE49-F238E27FC236}">
                <a16:creationId xmlns:a16="http://schemas.microsoft.com/office/drawing/2014/main" id="{5AD673D4-6C7D-4FE6-A1C0-EF4EBC676059}"/>
              </a:ext>
            </a:extLst>
          </p:cNvPr>
          <p:cNvSpPr>
            <a:spLocks noChangeShapeType="1"/>
          </p:cNvSpPr>
          <p:nvPr/>
        </p:nvSpPr>
        <p:spPr bwMode="blackWhite">
          <a:xfrm>
            <a:off x="9871338" y="43511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49">
            <a:extLst>
              <a:ext uri="{FF2B5EF4-FFF2-40B4-BE49-F238E27FC236}">
                <a16:creationId xmlns:a16="http://schemas.microsoft.com/office/drawing/2014/main" id="{50663E64-18D6-468D-8B90-4CC6A4BC092B}"/>
              </a:ext>
            </a:extLst>
          </p:cNvPr>
          <p:cNvSpPr>
            <a:spLocks noChangeShapeType="1"/>
          </p:cNvSpPr>
          <p:nvPr/>
        </p:nvSpPr>
        <p:spPr bwMode="blackWhite">
          <a:xfrm>
            <a:off x="9871338" y="45035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0">
            <a:extLst>
              <a:ext uri="{FF2B5EF4-FFF2-40B4-BE49-F238E27FC236}">
                <a16:creationId xmlns:a16="http://schemas.microsoft.com/office/drawing/2014/main" id="{EFA5633D-33AC-4575-8BA5-ACF4E2BB81F3}"/>
              </a:ext>
            </a:extLst>
          </p:cNvPr>
          <p:cNvSpPr>
            <a:spLocks noChangeShapeType="1"/>
          </p:cNvSpPr>
          <p:nvPr/>
        </p:nvSpPr>
        <p:spPr bwMode="blackWhite">
          <a:xfrm>
            <a:off x="9871338" y="46559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51">
            <a:extLst>
              <a:ext uri="{FF2B5EF4-FFF2-40B4-BE49-F238E27FC236}">
                <a16:creationId xmlns:a16="http://schemas.microsoft.com/office/drawing/2014/main" id="{C197E19B-28C1-43D9-A5E5-E8B6A1BEAE27}"/>
              </a:ext>
            </a:extLst>
          </p:cNvPr>
          <p:cNvSpPr>
            <a:spLocks noChangeShapeType="1"/>
          </p:cNvSpPr>
          <p:nvPr/>
        </p:nvSpPr>
        <p:spPr bwMode="blackWhite">
          <a:xfrm>
            <a:off x="9871338" y="48083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52">
            <a:extLst>
              <a:ext uri="{FF2B5EF4-FFF2-40B4-BE49-F238E27FC236}">
                <a16:creationId xmlns:a16="http://schemas.microsoft.com/office/drawing/2014/main" id="{EAE9E64E-4EEA-4F4B-9C09-B7496FF6144F}"/>
              </a:ext>
            </a:extLst>
          </p:cNvPr>
          <p:cNvSpPr>
            <a:spLocks noChangeShapeType="1"/>
          </p:cNvSpPr>
          <p:nvPr/>
        </p:nvSpPr>
        <p:spPr bwMode="blackWhite">
          <a:xfrm>
            <a:off x="9871338" y="49607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53">
            <a:extLst>
              <a:ext uri="{FF2B5EF4-FFF2-40B4-BE49-F238E27FC236}">
                <a16:creationId xmlns:a16="http://schemas.microsoft.com/office/drawing/2014/main" id="{C16863A9-492F-485B-A078-4E1261A3C618}"/>
              </a:ext>
            </a:extLst>
          </p:cNvPr>
          <p:cNvSpPr>
            <a:spLocks noChangeShapeType="1"/>
          </p:cNvSpPr>
          <p:nvPr/>
        </p:nvSpPr>
        <p:spPr bwMode="blackWhite">
          <a:xfrm>
            <a:off x="9871338" y="5113135"/>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54">
            <a:extLst>
              <a:ext uri="{FF2B5EF4-FFF2-40B4-BE49-F238E27FC236}">
                <a16:creationId xmlns:a16="http://schemas.microsoft.com/office/drawing/2014/main" id="{AE725A1B-7393-4751-918C-7B10437801EA}"/>
              </a:ext>
            </a:extLst>
          </p:cNvPr>
          <p:cNvSpPr>
            <a:spLocks noChangeShapeType="1"/>
          </p:cNvSpPr>
          <p:nvPr/>
        </p:nvSpPr>
        <p:spPr bwMode="blackWhite">
          <a:xfrm>
            <a:off x="11109588" y="3889172"/>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55">
            <a:extLst>
              <a:ext uri="{FF2B5EF4-FFF2-40B4-BE49-F238E27FC236}">
                <a16:creationId xmlns:a16="http://schemas.microsoft.com/office/drawing/2014/main" id="{87D76BCB-4D5C-4FC7-851F-C908C0E4A7E6}"/>
              </a:ext>
            </a:extLst>
          </p:cNvPr>
          <p:cNvSpPr>
            <a:spLocks noChangeShapeType="1"/>
          </p:cNvSpPr>
          <p:nvPr/>
        </p:nvSpPr>
        <p:spPr bwMode="blackWhite">
          <a:xfrm>
            <a:off x="11435025" y="3887585"/>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56">
            <a:extLst>
              <a:ext uri="{FF2B5EF4-FFF2-40B4-BE49-F238E27FC236}">
                <a16:creationId xmlns:a16="http://schemas.microsoft.com/office/drawing/2014/main" id="{4A31BFF2-C05B-44D2-8EDA-3F3CEDAA01D3}"/>
              </a:ext>
            </a:extLst>
          </p:cNvPr>
          <p:cNvSpPr>
            <a:spLocks noChangeShapeType="1"/>
          </p:cNvSpPr>
          <p:nvPr/>
        </p:nvSpPr>
        <p:spPr bwMode="blackWhite">
          <a:xfrm>
            <a:off x="10861938" y="3884410"/>
            <a:ext cx="0" cy="136207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Rectangle 57">
            <a:extLst>
              <a:ext uri="{FF2B5EF4-FFF2-40B4-BE49-F238E27FC236}">
                <a16:creationId xmlns:a16="http://schemas.microsoft.com/office/drawing/2014/main" id="{CD1D792D-4FC4-4589-8F65-4958C44DA1E5}"/>
              </a:ext>
            </a:extLst>
          </p:cNvPr>
          <p:cNvSpPr>
            <a:spLocks noChangeArrowheads="1"/>
          </p:cNvSpPr>
          <p:nvPr/>
        </p:nvSpPr>
        <p:spPr bwMode="auto">
          <a:xfrm>
            <a:off x="6553273" y="5408884"/>
            <a:ext cx="1058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spcBef>
                <a:spcPct val="0"/>
              </a:spcBef>
              <a:buClrTx/>
              <a:buFontTx/>
              <a:buNone/>
            </a:pPr>
            <a:r>
              <a:rPr lang="en-US" altLang="en-US" sz="2000"/>
              <a:t>Table 1</a:t>
            </a:r>
          </a:p>
        </p:txBody>
      </p:sp>
      <p:sp>
        <p:nvSpPr>
          <p:cNvPr id="38" name="Rectangle 58">
            <a:extLst>
              <a:ext uri="{FF2B5EF4-FFF2-40B4-BE49-F238E27FC236}">
                <a16:creationId xmlns:a16="http://schemas.microsoft.com/office/drawing/2014/main" id="{2845E048-1339-4580-8AF6-4DFF26654711}"/>
              </a:ext>
            </a:extLst>
          </p:cNvPr>
          <p:cNvSpPr>
            <a:spLocks noChangeArrowheads="1"/>
          </p:cNvSpPr>
          <p:nvPr/>
        </p:nvSpPr>
        <p:spPr bwMode="auto">
          <a:xfrm>
            <a:off x="9704650" y="5336972"/>
            <a:ext cx="1058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spcBef>
                <a:spcPct val="0"/>
              </a:spcBef>
              <a:buClrTx/>
              <a:buFontTx/>
              <a:buNone/>
            </a:pPr>
            <a:r>
              <a:rPr lang="en-US" altLang="en-US" sz="2000"/>
              <a:t>Table 2</a:t>
            </a:r>
          </a:p>
        </p:txBody>
      </p:sp>
      <p:sp>
        <p:nvSpPr>
          <p:cNvPr id="39" name="Rectangle 59">
            <a:extLst>
              <a:ext uri="{FF2B5EF4-FFF2-40B4-BE49-F238E27FC236}">
                <a16:creationId xmlns:a16="http://schemas.microsoft.com/office/drawing/2014/main" id="{8A6F0B63-2D9D-4890-8264-A34B13831534}"/>
              </a:ext>
            </a:extLst>
          </p:cNvPr>
          <p:cNvSpPr>
            <a:spLocks noChangeArrowheads="1"/>
          </p:cNvSpPr>
          <p:nvPr/>
        </p:nvSpPr>
        <p:spPr bwMode="auto">
          <a:xfrm>
            <a:off x="9704650" y="3238297"/>
            <a:ext cx="1058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spcBef>
                <a:spcPct val="0"/>
              </a:spcBef>
              <a:buClrTx/>
              <a:buFontTx/>
              <a:buNone/>
            </a:pPr>
            <a:r>
              <a:rPr lang="en-US" altLang="en-US" sz="2000"/>
              <a:t>Table 1</a:t>
            </a:r>
          </a:p>
        </p:txBody>
      </p:sp>
      <p:sp>
        <p:nvSpPr>
          <p:cNvPr id="40" name="Rectangle 60">
            <a:extLst>
              <a:ext uri="{FF2B5EF4-FFF2-40B4-BE49-F238E27FC236}">
                <a16:creationId xmlns:a16="http://schemas.microsoft.com/office/drawing/2014/main" id="{2CE77D24-F3DF-47BA-A2E6-4B3E5474E089}"/>
              </a:ext>
            </a:extLst>
          </p:cNvPr>
          <p:cNvSpPr>
            <a:spLocks noChangeArrowheads="1"/>
          </p:cNvSpPr>
          <p:nvPr/>
        </p:nvSpPr>
        <p:spPr bwMode="auto">
          <a:xfrm>
            <a:off x="7055114" y="3216073"/>
            <a:ext cx="10588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spcBef>
                <a:spcPct val="0"/>
              </a:spcBef>
              <a:buClrTx/>
              <a:buFontTx/>
              <a:buNone/>
            </a:pPr>
            <a:r>
              <a:rPr lang="en-US" altLang="en-US" sz="2000"/>
              <a:t>Table 1</a:t>
            </a:r>
          </a:p>
        </p:txBody>
      </p:sp>
      <p:sp>
        <p:nvSpPr>
          <p:cNvPr id="41" name="Rectangle 73">
            <a:extLst>
              <a:ext uri="{FF2B5EF4-FFF2-40B4-BE49-F238E27FC236}">
                <a16:creationId xmlns:a16="http://schemas.microsoft.com/office/drawing/2014/main" id="{90406A16-4E4A-4E03-8890-08BA01277E55}"/>
              </a:ext>
            </a:extLst>
          </p:cNvPr>
          <p:cNvSpPr>
            <a:spLocks noChangeArrowheads="1"/>
          </p:cNvSpPr>
          <p:nvPr/>
        </p:nvSpPr>
        <p:spPr bwMode="auto">
          <a:xfrm>
            <a:off x="8835403" y="4130803"/>
            <a:ext cx="65562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eaLnBrk="0" hangingPunct="0">
              <a:spcBef>
                <a:spcPct val="0"/>
              </a:spcBef>
              <a:buClrTx/>
              <a:buFontTx/>
              <a:buNone/>
            </a:pPr>
            <a:r>
              <a:rPr lang="en-US" altLang="en-US" sz="2000" b="1" dirty="0"/>
              <a:t>Join</a:t>
            </a:r>
          </a:p>
        </p:txBody>
      </p:sp>
      <p:sp>
        <p:nvSpPr>
          <p:cNvPr id="42" name="Line 74">
            <a:extLst>
              <a:ext uri="{FF2B5EF4-FFF2-40B4-BE49-F238E27FC236}">
                <a16:creationId xmlns:a16="http://schemas.microsoft.com/office/drawing/2014/main" id="{5B09B14C-107A-46D3-B44C-0C96ACFB7711}"/>
              </a:ext>
            </a:extLst>
          </p:cNvPr>
          <p:cNvSpPr>
            <a:spLocks noChangeShapeType="1"/>
          </p:cNvSpPr>
          <p:nvPr/>
        </p:nvSpPr>
        <p:spPr bwMode="auto">
          <a:xfrm>
            <a:off x="8474346" y="4588374"/>
            <a:ext cx="1363654" cy="11998"/>
          </a:xfrm>
          <a:prstGeom prst="line">
            <a:avLst/>
          </a:prstGeom>
          <a:noFill/>
          <a:ln w="28575">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Rectangle 76">
            <a:extLst>
              <a:ext uri="{FF2B5EF4-FFF2-40B4-BE49-F238E27FC236}">
                <a16:creationId xmlns:a16="http://schemas.microsoft.com/office/drawing/2014/main" id="{C6C30F81-CAAA-4BA7-A887-F7F658ABE248}"/>
              </a:ext>
            </a:extLst>
          </p:cNvPr>
          <p:cNvSpPr>
            <a:spLocks noChangeArrowheads="1"/>
          </p:cNvSpPr>
          <p:nvPr/>
        </p:nvSpPr>
        <p:spPr bwMode="blackWhite">
          <a:xfrm>
            <a:off x="9869750" y="3887585"/>
            <a:ext cx="1841500" cy="1346200"/>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rgbClr val="CCCC99"/>
                </a:solidFill>
              </a14:hiddenFill>
            </a:ex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sp>
        <p:nvSpPr>
          <p:cNvPr id="44" name="Rectangle 3">
            <a:extLst>
              <a:ext uri="{FF2B5EF4-FFF2-40B4-BE49-F238E27FC236}">
                <a16:creationId xmlns:a16="http://schemas.microsoft.com/office/drawing/2014/main" id="{02891CE0-23A6-4996-8977-4A607456EF73}"/>
              </a:ext>
            </a:extLst>
          </p:cNvPr>
          <p:cNvSpPr>
            <a:spLocks noChangeArrowheads="1"/>
          </p:cNvSpPr>
          <p:nvPr/>
        </p:nvSpPr>
        <p:spPr bwMode="blackWhite">
          <a:xfrm>
            <a:off x="7167826" y="1776211"/>
            <a:ext cx="1841500" cy="1346200"/>
          </a:xfrm>
          <a:prstGeom prst="rect">
            <a:avLst/>
          </a:prstGeom>
          <a:solidFill>
            <a:srgbClr val="CCCC99"/>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sp>
        <p:nvSpPr>
          <p:cNvPr id="45" name="Rectangle 5">
            <a:extLst>
              <a:ext uri="{FF2B5EF4-FFF2-40B4-BE49-F238E27FC236}">
                <a16:creationId xmlns:a16="http://schemas.microsoft.com/office/drawing/2014/main" id="{77F018DC-21DA-4929-84DB-540D8ECE6AB9}"/>
              </a:ext>
            </a:extLst>
          </p:cNvPr>
          <p:cNvSpPr>
            <a:spLocks noChangeArrowheads="1"/>
          </p:cNvSpPr>
          <p:nvPr/>
        </p:nvSpPr>
        <p:spPr bwMode="blackWhite">
          <a:xfrm>
            <a:off x="9831650" y="1790497"/>
            <a:ext cx="1841500" cy="1346200"/>
          </a:xfrm>
          <a:prstGeom prst="rect">
            <a:avLst/>
          </a:prstGeom>
          <a:solidFill>
            <a:srgbClr val="CCCC99"/>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grpSp>
        <p:nvGrpSpPr>
          <p:cNvPr id="46" name="Group 6">
            <a:extLst>
              <a:ext uri="{FF2B5EF4-FFF2-40B4-BE49-F238E27FC236}">
                <a16:creationId xmlns:a16="http://schemas.microsoft.com/office/drawing/2014/main" id="{29F7B179-6683-4BFC-A161-59DD8370180D}"/>
              </a:ext>
            </a:extLst>
          </p:cNvPr>
          <p:cNvGrpSpPr>
            <a:grpSpLocks/>
          </p:cNvGrpSpPr>
          <p:nvPr/>
        </p:nvGrpSpPr>
        <p:grpSpPr bwMode="auto">
          <a:xfrm>
            <a:off x="7450401" y="1787323"/>
            <a:ext cx="1274763" cy="1327150"/>
            <a:chOff x="1244" y="1460"/>
            <a:chExt cx="803" cy="836"/>
          </a:xfrm>
        </p:grpSpPr>
        <p:sp>
          <p:nvSpPr>
            <p:cNvPr id="47" name="Rectangle 7">
              <a:extLst>
                <a:ext uri="{FF2B5EF4-FFF2-40B4-BE49-F238E27FC236}">
                  <a16:creationId xmlns:a16="http://schemas.microsoft.com/office/drawing/2014/main" id="{5E1A8EC4-C52F-4CCE-BDB4-6049364B9BC6}"/>
                </a:ext>
              </a:extLst>
            </p:cNvPr>
            <p:cNvSpPr>
              <a:spLocks noChangeArrowheads="1"/>
            </p:cNvSpPr>
            <p:nvPr/>
          </p:nvSpPr>
          <p:spPr bwMode="auto">
            <a:xfrm>
              <a:off x="1244" y="1460"/>
              <a:ext cx="425" cy="836"/>
            </a:xfrm>
            <a:prstGeom prst="rect">
              <a:avLst/>
            </a:prstGeom>
            <a:solidFill>
              <a:srgbClr val="FF66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Rectangle 8">
              <a:extLst>
                <a:ext uri="{FF2B5EF4-FFF2-40B4-BE49-F238E27FC236}">
                  <a16:creationId xmlns:a16="http://schemas.microsoft.com/office/drawing/2014/main" id="{45C119E5-2E2F-480B-A82F-A47638325BA1}"/>
                </a:ext>
              </a:extLst>
            </p:cNvPr>
            <p:cNvSpPr>
              <a:spLocks noChangeArrowheads="1"/>
            </p:cNvSpPr>
            <p:nvPr/>
          </p:nvSpPr>
          <p:spPr bwMode="auto">
            <a:xfrm>
              <a:off x="1852" y="1460"/>
              <a:ext cx="195" cy="836"/>
            </a:xfrm>
            <a:prstGeom prst="rect">
              <a:avLst/>
            </a:prstGeom>
            <a:solidFill>
              <a:srgbClr val="FF66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9" name="Group 9">
            <a:extLst>
              <a:ext uri="{FF2B5EF4-FFF2-40B4-BE49-F238E27FC236}">
                <a16:creationId xmlns:a16="http://schemas.microsoft.com/office/drawing/2014/main" id="{AD8C62DE-4CF6-494B-A83E-388962808D4D}"/>
              </a:ext>
            </a:extLst>
          </p:cNvPr>
          <p:cNvGrpSpPr>
            <a:grpSpLocks/>
          </p:cNvGrpSpPr>
          <p:nvPr/>
        </p:nvGrpSpPr>
        <p:grpSpPr bwMode="auto">
          <a:xfrm>
            <a:off x="9841175" y="1954010"/>
            <a:ext cx="1825625" cy="1066800"/>
            <a:chOff x="3422" y="1549"/>
            <a:chExt cx="1150" cy="672"/>
          </a:xfrm>
        </p:grpSpPr>
        <p:sp>
          <p:nvSpPr>
            <p:cNvPr id="50" name="Rectangle 10">
              <a:extLst>
                <a:ext uri="{FF2B5EF4-FFF2-40B4-BE49-F238E27FC236}">
                  <a16:creationId xmlns:a16="http://schemas.microsoft.com/office/drawing/2014/main" id="{B64C7155-346C-4C56-B0C6-07F0A19C9672}"/>
                </a:ext>
              </a:extLst>
            </p:cNvPr>
            <p:cNvSpPr>
              <a:spLocks noChangeArrowheads="1"/>
            </p:cNvSpPr>
            <p:nvPr/>
          </p:nvSpPr>
          <p:spPr bwMode="auto">
            <a:xfrm>
              <a:off x="3422" y="1741"/>
              <a:ext cx="1150" cy="91"/>
            </a:xfrm>
            <a:prstGeom prst="rect">
              <a:avLst/>
            </a:prstGeom>
            <a:solidFill>
              <a:srgbClr val="FF66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Rectangle 11">
              <a:extLst>
                <a:ext uri="{FF2B5EF4-FFF2-40B4-BE49-F238E27FC236}">
                  <a16:creationId xmlns:a16="http://schemas.microsoft.com/office/drawing/2014/main" id="{B388EDA8-6335-43C3-A3E3-0E8A023F3765}"/>
                </a:ext>
              </a:extLst>
            </p:cNvPr>
            <p:cNvSpPr>
              <a:spLocks noChangeArrowheads="1"/>
            </p:cNvSpPr>
            <p:nvPr/>
          </p:nvSpPr>
          <p:spPr bwMode="auto">
            <a:xfrm>
              <a:off x="3422" y="2026"/>
              <a:ext cx="1150" cy="195"/>
            </a:xfrm>
            <a:prstGeom prst="rect">
              <a:avLst/>
            </a:prstGeom>
            <a:solidFill>
              <a:srgbClr val="FF66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Rectangle 12">
              <a:extLst>
                <a:ext uri="{FF2B5EF4-FFF2-40B4-BE49-F238E27FC236}">
                  <a16:creationId xmlns:a16="http://schemas.microsoft.com/office/drawing/2014/main" id="{5A8176C8-C661-4B78-8C6B-7F96306E9D1E}"/>
                </a:ext>
              </a:extLst>
            </p:cNvPr>
            <p:cNvSpPr>
              <a:spLocks noChangeArrowheads="1"/>
            </p:cNvSpPr>
            <p:nvPr/>
          </p:nvSpPr>
          <p:spPr bwMode="auto">
            <a:xfrm>
              <a:off x="3422" y="1549"/>
              <a:ext cx="1150" cy="85"/>
            </a:xfrm>
            <a:prstGeom prst="rect">
              <a:avLst/>
            </a:prstGeom>
            <a:solidFill>
              <a:srgbClr val="FF66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3" name="Line 13">
            <a:extLst>
              <a:ext uri="{FF2B5EF4-FFF2-40B4-BE49-F238E27FC236}">
                <a16:creationId xmlns:a16="http://schemas.microsoft.com/office/drawing/2014/main" id="{309DE810-801F-4EC0-A629-DD1E3FABE2F1}"/>
              </a:ext>
            </a:extLst>
          </p:cNvPr>
          <p:cNvSpPr>
            <a:spLocks noChangeShapeType="1"/>
          </p:cNvSpPr>
          <p:nvPr/>
        </p:nvSpPr>
        <p:spPr bwMode="auto">
          <a:xfrm>
            <a:off x="9833238" y="1949247"/>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14">
            <a:extLst>
              <a:ext uri="{FF2B5EF4-FFF2-40B4-BE49-F238E27FC236}">
                <a16:creationId xmlns:a16="http://schemas.microsoft.com/office/drawing/2014/main" id="{1CDB5383-64DE-4C2C-B261-0E1267827A6A}"/>
              </a:ext>
            </a:extLst>
          </p:cNvPr>
          <p:cNvSpPr>
            <a:spLocks noChangeShapeType="1"/>
          </p:cNvSpPr>
          <p:nvPr/>
        </p:nvSpPr>
        <p:spPr bwMode="auto">
          <a:xfrm>
            <a:off x="9833238" y="2092122"/>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15">
            <a:extLst>
              <a:ext uri="{FF2B5EF4-FFF2-40B4-BE49-F238E27FC236}">
                <a16:creationId xmlns:a16="http://schemas.microsoft.com/office/drawing/2014/main" id="{D6084BC1-4CF2-4079-B474-FA0A510C1089}"/>
              </a:ext>
            </a:extLst>
          </p:cNvPr>
          <p:cNvSpPr>
            <a:spLocks noChangeShapeType="1"/>
          </p:cNvSpPr>
          <p:nvPr/>
        </p:nvSpPr>
        <p:spPr bwMode="auto">
          <a:xfrm>
            <a:off x="9833238" y="2254047"/>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16">
            <a:extLst>
              <a:ext uri="{FF2B5EF4-FFF2-40B4-BE49-F238E27FC236}">
                <a16:creationId xmlns:a16="http://schemas.microsoft.com/office/drawing/2014/main" id="{1E5C365A-265F-4BF7-AA0A-FE7260D31DBF}"/>
              </a:ext>
            </a:extLst>
          </p:cNvPr>
          <p:cNvSpPr>
            <a:spLocks noChangeShapeType="1"/>
          </p:cNvSpPr>
          <p:nvPr/>
        </p:nvSpPr>
        <p:spPr bwMode="auto">
          <a:xfrm>
            <a:off x="9833238" y="2406447"/>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17">
            <a:extLst>
              <a:ext uri="{FF2B5EF4-FFF2-40B4-BE49-F238E27FC236}">
                <a16:creationId xmlns:a16="http://schemas.microsoft.com/office/drawing/2014/main" id="{872B3A1D-1410-414C-B581-BE7054B8AA9C}"/>
              </a:ext>
            </a:extLst>
          </p:cNvPr>
          <p:cNvSpPr>
            <a:spLocks noChangeShapeType="1"/>
          </p:cNvSpPr>
          <p:nvPr/>
        </p:nvSpPr>
        <p:spPr bwMode="auto">
          <a:xfrm>
            <a:off x="9833238" y="2558847"/>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18">
            <a:extLst>
              <a:ext uri="{FF2B5EF4-FFF2-40B4-BE49-F238E27FC236}">
                <a16:creationId xmlns:a16="http://schemas.microsoft.com/office/drawing/2014/main" id="{5A60CBD2-D4FD-4654-B96D-C1DD239A11DF}"/>
              </a:ext>
            </a:extLst>
          </p:cNvPr>
          <p:cNvSpPr>
            <a:spLocks noChangeShapeType="1"/>
          </p:cNvSpPr>
          <p:nvPr/>
        </p:nvSpPr>
        <p:spPr bwMode="auto">
          <a:xfrm>
            <a:off x="9833238" y="2711247"/>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19">
            <a:extLst>
              <a:ext uri="{FF2B5EF4-FFF2-40B4-BE49-F238E27FC236}">
                <a16:creationId xmlns:a16="http://schemas.microsoft.com/office/drawing/2014/main" id="{8821719D-E703-46E6-853B-94ADC9223C11}"/>
              </a:ext>
            </a:extLst>
          </p:cNvPr>
          <p:cNvSpPr>
            <a:spLocks noChangeShapeType="1"/>
          </p:cNvSpPr>
          <p:nvPr/>
        </p:nvSpPr>
        <p:spPr bwMode="auto">
          <a:xfrm>
            <a:off x="9833238" y="2863647"/>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20">
            <a:extLst>
              <a:ext uri="{FF2B5EF4-FFF2-40B4-BE49-F238E27FC236}">
                <a16:creationId xmlns:a16="http://schemas.microsoft.com/office/drawing/2014/main" id="{50A939AA-A927-4109-9DFB-00A352210D9B}"/>
              </a:ext>
            </a:extLst>
          </p:cNvPr>
          <p:cNvSpPr>
            <a:spLocks noChangeShapeType="1"/>
          </p:cNvSpPr>
          <p:nvPr/>
        </p:nvSpPr>
        <p:spPr bwMode="auto">
          <a:xfrm>
            <a:off x="9833238" y="3016047"/>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1" name="Group 21">
            <a:extLst>
              <a:ext uri="{FF2B5EF4-FFF2-40B4-BE49-F238E27FC236}">
                <a16:creationId xmlns:a16="http://schemas.microsoft.com/office/drawing/2014/main" id="{DEE0857B-3F9E-4918-BCA5-1B8F1717D564}"/>
              </a:ext>
            </a:extLst>
          </p:cNvPr>
          <p:cNvGrpSpPr>
            <a:grpSpLocks/>
          </p:cNvGrpSpPr>
          <p:nvPr/>
        </p:nvGrpSpPr>
        <p:grpSpPr bwMode="auto">
          <a:xfrm>
            <a:off x="10104700" y="1777797"/>
            <a:ext cx="1292225" cy="1347788"/>
            <a:chOff x="3708" y="1414"/>
            <a:chExt cx="814" cy="867"/>
          </a:xfrm>
        </p:grpSpPr>
        <p:sp>
          <p:nvSpPr>
            <p:cNvPr id="62" name="Line 22">
              <a:extLst>
                <a:ext uri="{FF2B5EF4-FFF2-40B4-BE49-F238E27FC236}">
                  <a16:creationId xmlns:a16="http://schemas.microsoft.com/office/drawing/2014/main" id="{BEB94828-641D-4729-97A8-333FC861B688}"/>
                </a:ext>
              </a:extLst>
            </p:cNvPr>
            <p:cNvSpPr>
              <a:spLocks noChangeShapeType="1"/>
            </p:cNvSpPr>
            <p:nvPr/>
          </p:nvSpPr>
          <p:spPr bwMode="auto">
            <a:xfrm>
              <a:off x="4146" y="1414"/>
              <a:ext cx="0" cy="867"/>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23">
              <a:extLst>
                <a:ext uri="{FF2B5EF4-FFF2-40B4-BE49-F238E27FC236}">
                  <a16:creationId xmlns:a16="http://schemas.microsoft.com/office/drawing/2014/main" id="{3F4B06C3-72A7-467D-A277-019D7D058D06}"/>
                </a:ext>
              </a:extLst>
            </p:cNvPr>
            <p:cNvSpPr>
              <a:spLocks noChangeShapeType="1"/>
            </p:cNvSpPr>
            <p:nvPr/>
          </p:nvSpPr>
          <p:spPr bwMode="auto">
            <a:xfrm>
              <a:off x="3708" y="1414"/>
              <a:ext cx="0" cy="867"/>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24">
              <a:extLst>
                <a:ext uri="{FF2B5EF4-FFF2-40B4-BE49-F238E27FC236}">
                  <a16:creationId xmlns:a16="http://schemas.microsoft.com/office/drawing/2014/main" id="{E30FFCFD-B6B7-487E-9573-D29F36245791}"/>
                </a:ext>
              </a:extLst>
            </p:cNvPr>
            <p:cNvSpPr>
              <a:spLocks noChangeShapeType="1"/>
            </p:cNvSpPr>
            <p:nvPr/>
          </p:nvSpPr>
          <p:spPr bwMode="auto">
            <a:xfrm>
              <a:off x="4317" y="1414"/>
              <a:ext cx="0" cy="867"/>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25">
              <a:extLst>
                <a:ext uri="{FF2B5EF4-FFF2-40B4-BE49-F238E27FC236}">
                  <a16:creationId xmlns:a16="http://schemas.microsoft.com/office/drawing/2014/main" id="{8BC99117-8E6F-4AAB-8A16-41C80E132871}"/>
                </a:ext>
              </a:extLst>
            </p:cNvPr>
            <p:cNvSpPr>
              <a:spLocks noChangeShapeType="1"/>
            </p:cNvSpPr>
            <p:nvPr/>
          </p:nvSpPr>
          <p:spPr bwMode="auto">
            <a:xfrm>
              <a:off x="4522" y="1422"/>
              <a:ext cx="0" cy="858"/>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6" name="Line 61">
            <a:extLst>
              <a:ext uri="{FF2B5EF4-FFF2-40B4-BE49-F238E27FC236}">
                <a16:creationId xmlns:a16="http://schemas.microsoft.com/office/drawing/2014/main" id="{E017A309-AA10-44A6-87E2-0C02F12EF708}"/>
              </a:ext>
            </a:extLst>
          </p:cNvPr>
          <p:cNvSpPr>
            <a:spLocks noChangeShapeType="1"/>
          </p:cNvSpPr>
          <p:nvPr/>
        </p:nvSpPr>
        <p:spPr bwMode="auto">
          <a:xfrm>
            <a:off x="8136201" y="1763511"/>
            <a:ext cx="0" cy="137636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62">
            <a:extLst>
              <a:ext uri="{FF2B5EF4-FFF2-40B4-BE49-F238E27FC236}">
                <a16:creationId xmlns:a16="http://schemas.microsoft.com/office/drawing/2014/main" id="{3C795104-6A89-411C-B42A-643544984641}"/>
              </a:ext>
            </a:extLst>
          </p:cNvPr>
          <p:cNvSpPr>
            <a:spLocks noChangeShapeType="1"/>
          </p:cNvSpPr>
          <p:nvPr/>
        </p:nvSpPr>
        <p:spPr bwMode="auto">
          <a:xfrm>
            <a:off x="7440876" y="1763511"/>
            <a:ext cx="0" cy="137636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63">
            <a:extLst>
              <a:ext uri="{FF2B5EF4-FFF2-40B4-BE49-F238E27FC236}">
                <a16:creationId xmlns:a16="http://schemas.microsoft.com/office/drawing/2014/main" id="{9BE20136-A35F-487B-8184-7DC82EA52D24}"/>
              </a:ext>
            </a:extLst>
          </p:cNvPr>
          <p:cNvSpPr>
            <a:spLocks noChangeShapeType="1"/>
          </p:cNvSpPr>
          <p:nvPr/>
        </p:nvSpPr>
        <p:spPr bwMode="auto">
          <a:xfrm>
            <a:off x="7169414" y="19349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Line 64">
            <a:extLst>
              <a:ext uri="{FF2B5EF4-FFF2-40B4-BE49-F238E27FC236}">
                <a16:creationId xmlns:a16="http://schemas.microsoft.com/office/drawing/2014/main" id="{7C9C34AD-C8D8-464F-BF18-B2233E8CB763}"/>
              </a:ext>
            </a:extLst>
          </p:cNvPr>
          <p:cNvSpPr>
            <a:spLocks noChangeShapeType="1"/>
          </p:cNvSpPr>
          <p:nvPr/>
        </p:nvSpPr>
        <p:spPr bwMode="auto">
          <a:xfrm>
            <a:off x="7169414" y="20873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Line 65">
            <a:extLst>
              <a:ext uri="{FF2B5EF4-FFF2-40B4-BE49-F238E27FC236}">
                <a16:creationId xmlns:a16="http://schemas.microsoft.com/office/drawing/2014/main" id="{96610D19-2FF5-47B6-B9C7-054848BF1283}"/>
              </a:ext>
            </a:extLst>
          </p:cNvPr>
          <p:cNvSpPr>
            <a:spLocks noChangeShapeType="1"/>
          </p:cNvSpPr>
          <p:nvPr/>
        </p:nvSpPr>
        <p:spPr bwMode="auto">
          <a:xfrm>
            <a:off x="7169414" y="22397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66">
            <a:extLst>
              <a:ext uri="{FF2B5EF4-FFF2-40B4-BE49-F238E27FC236}">
                <a16:creationId xmlns:a16="http://schemas.microsoft.com/office/drawing/2014/main" id="{1355DEC6-2FC4-4B1E-B9EC-2A6EF07DA0FE}"/>
              </a:ext>
            </a:extLst>
          </p:cNvPr>
          <p:cNvSpPr>
            <a:spLocks noChangeShapeType="1"/>
          </p:cNvSpPr>
          <p:nvPr/>
        </p:nvSpPr>
        <p:spPr bwMode="auto">
          <a:xfrm>
            <a:off x="7169414" y="23921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67">
            <a:extLst>
              <a:ext uri="{FF2B5EF4-FFF2-40B4-BE49-F238E27FC236}">
                <a16:creationId xmlns:a16="http://schemas.microsoft.com/office/drawing/2014/main" id="{8B3A208C-B6A3-4CB8-9C11-30955E327542}"/>
              </a:ext>
            </a:extLst>
          </p:cNvPr>
          <p:cNvSpPr>
            <a:spLocks noChangeShapeType="1"/>
          </p:cNvSpPr>
          <p:nvPr/>
        </p:nvSpPr>
        <p:spPr bwMode="auto">
          <a:xfrm>
            <a:off x="7169414" y="25445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68">
            <a:extLst>
              <a:ext uri="{FF2B5EF4-FFF2-40B4-BE49-F238E27FC236}">
                <a16:creationId xmlns:a16="http://schemas.microsoft.com/office/drawing/2014/main" id="{258E7EBA-38F5-4429-B994-0EBF7FB03E8F}"/>
              </a:ext>
            </a:extLst>
          </p:cNvPr>
          <p:cNvSpPr>
            <a:spLocks noChangeShapeType="1"/>
          </p:cNvSpPr>
          <p:nvPr/>
        </p:nvSpPr>
        <p:spPr bwMode="auto">
          <a:xfrm>
            <a:off x="7169414" y="26969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69">
            <a:extLst>
              <a:ext uri="{FF2B5EF4-FFF2-40B4-BE49-F238E27FC236}">
                <a16:creationId xmlns:a16="http://schemas.microsoft.com/office/drawing/2014/main" id="{48B697A5-24C5-447B-83D3-A94F08429C1B}"/>
              </a:ext>
            </a:extLst>
          </p:cNvPr>
          <p:cNvSpPr>
            <a:spLocks noChangeShapeType="1"/>
          </p:cNvSpPr>
          <p:nvPr/>
        </p:nvSpPr>
        <p:spPr bwMode="auto">
          <a:xfrm>
            <a:off x="7169414" y="28493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0">
            <a:extLst>
              <a:ext uri="{FF2B5EF4-FFF2-40B4-BE49-F238E27FC236}">
                <a16:creationId xmlns:a16="http://schemas.microsoft.com/office/drawing/2014/main" id="{6286A58A-9F91-409B-8C36-8179D483475F}"/>
              </a:ext>
            </a:extLst>
          </p:cNvPr>
          <p:cNvSpPr>
            <a:spLocks noChangeShapeType="1"/>
          </p:cNvSpPr>
          <p:nvPr/>
        </p:nvSpPr>
        <p:spPr bwMode="auto">
          <a:xfrm>
            <a:off x="7169414" y="3001761"/>
            <a:ext cx="1846262"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1">
            <a:extLst>
              <a:ext uri="{FF2B5EF4-FFF2-40B4-BE49-F238E27FC236}">
                <a16:creationId xmlns:a16="http://schemas.microsoft.com/office/drawing/2014/main" id="{B3A9EEA4-74C7-46D0-A9D8-100BCD9B7FB7}"/>
              </a:ext>
            </a:extLst>
          </p:cNvPr>
          <p:cNvSpPr>
            <a:spLocks noChangeShapeType="1"/>
          </p:cNvSpPr>
          <p:nvPr/>
        </p:nvSpPr>
        <p:spPr bwMode="auto">
          <a:xfrm>
            <a:off x="8407664" y="1763511"/>
            <a:ext cx="0" cy="137636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 name="Line 72">
            <a:extLst>
              <a:ext uri="{FF2B5EF4-FFF2-40B4-BE49-F238E27FC236}">
                <a16:creationId xmlns:a16="http://schemas.microsoft.com/office/drawing/2014/main" id="{4DE846B7-DB50-4302-BDAB-5C8011758E45}"/>
              </a:ext>
            </a:extLst>
          </p:cNvPr>
          <p:cNvSpPr>
            <a:spLocks noChangeShapeType="1"/>
          </p:cNvSpPr>
          <p:nvPr/>
        </p:nvSpPr>
        <p:spPr bwMode="auto">
          <a:xfrm>
            <a:off x="8733101" y="1761923"/>
            <a:ext cx="0" cy="1376363"/>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 name="Rectangle 75">
            <a:extLst>
              <a:ext uri="{FF2B5EF4-FFF2-40B4-BE49-F238E27FC236}">
                <a16:creationId xmlns:a16="http://schemas.microsoft.com/office/drawing/2014/main" id="{0FBED597-D1EB-43BC-B160-F61E4A70C237}"/>
              </a:ext>
            </a:extLst>
          </p:cNvPr>
          <p:cNvSpPr>
            <a:spLocks noChangeArrowheads="1"/>
          </p:cNvSpPr>
          <p:nvPr/>
        </p:nvSpPr>
        <p:spPr bwMode="auto">
          <a:xfrm>
            <a:off x="9831650" y="1790497"/>
            <a:ext cx="1841500" cy="1346200"/>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rgbClr val="CCCC99"/>
                </a:solidFill>
              </a14:hiddenFill>
            </a:ex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sp>
        <p:nvSpPr>
          <p:cNvPr id="79" name="Rectangle 77">
            <a:extLst>
              <a:ext uri="{FF2B5EF4-FFF2-40B4-BE49-F238E27FC236}">
                <a16:creationId xmlns:a16="http://schemas.microsoft.com/office/drawing/2014/main" id="{977D2970-E5AE-4DC4-96A8-7698E8BFDB3B}"/>
              </a:ext>
            </a:extLst>
          </p:cNvPr>
          <p:cNvSpPr>
            <a:spLocks noChangeArrowheads="1"/>
          </p:cNvSpPr>
          <p:nvPr/>
        </p:nvSpPr>
        <p:spPr bwMode="auto">
          <a:xfrm>
            <a:off x="7167826" y="1776211"/>
            <a:ext cx="1841500" cy="1346200"/>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rgbClr val="CCCC99"/>
                </a:solidFill>
              </a14:hiddenFill>
            </a:ex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sp>
        <p:nvSpPr>
          <p:cNvPr id="80" name="Rectangle 78">
            <a:extLst>
              <a:ext uri="{FF2B5EF4-FFF2-40B4-BE49-F238E27FC236}">
                <a16:creationId xmlns:a16="http://schemas.microsoft.com/office/drawing/2014/main" id="{FCFE8131-1DA8-4B86-93D7-4D396B930A84}"/>
              </a:ext>
            </a:extLst>
          </p:cNvPr>
          <p:cNvSpPr>
            <a:spLocks noChangeArrowheads="1"/>
          </p:cNvSpPr>
          <p:nvPr/>
        </p:nvSpPr>
        <p:spPr bwMode="blackWhite">
          <a:xfrm>
            <a:off x="6626495" y="3917173"/>
            <a:ext cx="1841500" cy="1346200"/>
          </a:xfrm>
          <a:prstGeom prst="rect">
            <a:avLst/>
          </a:prstGeom>
          <a:noFill/>
          <a:ln w="28575">
            <a:solidFill>
              <a:srgbClr val="000000"/>
            </a:solidFill>
            <a:miter lim="800000"/>
            <a:headEnd/>
            <a:tailEnd/>
          </a:ln>
          <a:effectLst/>
          <a:extLst>
            <a:ext uri="{909E8E84-426E-40DD-AFC4-6F175D3DCCD1}">
              <a14:hiddenFill xmlns:a14="http://schemas.microsoft.com/office/drawing/2010/main">
                <a:solidFill>
                  <a:srgbClr val="CCCC99"/>
                </a:solidFill>
              </a14:hiddenFill>
            </a:ex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anchor="ctr"/>
          <a:lstStyle/>
          <a:p>
            <a:endParaRPr lang="en-US"/>
          </a:p>
        </p:txBody>
      </p:sp>
      <p:sp>
        <p:nvSpPr>
          <p:cNvPr id="82" name="TextBox 81">
            <a:extLst>
              <a:ext uri="{FF2B5EF4-FFF2-40B4-BE49-F238E27FC236}">
                <a16:creationId xmlns:a16="http://schemas.microsoft.com/office/drawing/2014/main" id="{47F12A34-28EE-433C-87AA-2C6815AB0B1F}"/>
              </a:ext>
            </a:extLst>
          </p:cNvPr>
          <p:cNvSpPr txBox="1"/>
          <p:nvPr/>
        </p:nvSpPr>
        <p:spPr>
          <a:xfrm>
            <a:off x="117760" y="1776211"/>
            <a:ext cx="6199702" cy="3139321"/>
          </a:xfrm>
          <a:prstGeom prst="rect">
            <a:avLst/>
          </a:prstGeom>
          <a:noFill/>
        </p:spPr>
        <p:txBody>
          <a:bodyPr wrap="square">
            <a:spAutoFit/>
          </a:bodyPr>
          <a:lstStyle/>
          <a:p>
            <a:pPr>
              <a:buClr>
                <a:schemeClr val="accent6">
                  <a:lumMod val="50000"/>
                  <a:lumOff val="50000"/>
                </a:schemeClr>
              </a:buClr>
            </a:pPr>
            <a:r>
              <a:rPr lang="en-US" altLang="en-US" dirty="0">
                <a:solidFill>
                  <a:schemeClr val="tx1"/>
                </a:solidFill>
                <a:latin typeface="Tahoma" panose="020B0604030504040204" pitchFamily="34" charset="0"/>
                <a:ea typeface="Tahoma" panose="020B0604030504040204" pitchFamily="34" charset="0"/>
                <a:cs typeface="Tahoma" panose="020B0604030504040204" pitchFamily="34" charset="0"/>
              </a:rPr>
              <a:t>A SELECT statement retrieves information from the database. With a SELECT statement, you can use the following capabilities:</a:t>
            </a:r>
          </a:p>
          <a:p>
            <a:pPr marL="285750" indent="-285750">
              <a:buClr>
                <a:schemeClr val="accent6">
                  <a:lumMod val="50000"/>
                  <a:lumOff val="50000"/>
                </a:schemeClr>
              </a:buClr>
              <a:buFont typeface="Wingdings" panose="05000000000000000000" pitchFamily="2" charset="2"/>
              <a:buChar char="ü"/>
            </a:pPr>
            <a:r>
              <a:rPr lang="en-US" altLang="en-US" b="1" dirty="0">
                <a:solidFill>
                  <a:schemeClr val="tx1"/>
                </a:solidFill>
                <a:latin typeface="Tahoma" panose="020B0604030504040204" pitchFamily="34" charset="0"/>
                <a:ea typeface="Tahoma" panose="020B0604030504040204" pitchFamily="34" charset="0"/>
                <a:cs typeface="Tahoma" panose="020B0604030504040204" pitchFamily="34" charset="0"/>
              </a:rPr>
              <a:t>Projection:</a:t>
            </a:r>
            <a:r>
              <a:rPr lang="en-US" altLang="en-US" dirty="0">
                <a:solidFill>
                  <a:schemeClr val="tx1"/>
                </a:solidFill>
                <a:latin typeface="Tahoma" panose="020B0604030504040204" pitchFamily="34" charset="0"/>
                <a:ea typeface="Tahoma" panose="020B0604030504040204" pitchFamily="34" charset="0"/>
                <a:cs typeface="Tahoma" panose="020B0604030504040204" pitchFamily="34" charset="0"/>
              </a:rPr>
              <a:t> Select the columns in a table that are returned by a query. </a:t>
            </a:r>
            <a:r>
              <a:rPr lang="en-US" altLang="en-US" dirty="0">
                <a:latin typeface="Tahoma" panose="020B0604030504040204" pitchFamily="34" charset="0"/>
                <a:ea typeface="Tahoma" panose="020B0604030504040204" pitchFamily="34" charset="0"/>
                <a:cs typeface="Tahoma" panose="020B0604030504040204" pitchFamily="34" charset="0"/>
              </a:rPr>
              <a:t>Example </a:t>
            </a:r>
            <a:r>
              <a:rPr lang="en-US" altLang="en-US" dirty="0">
                <a:solidFill>
                  <a:schemeClr val="tx1"/>
                </a:solidFill>
                <a:latin typeface="Tahoma" panose="020B0604030504040204" pitchFamily="34" charset="0"/>
                <a:ea typeface="Tahoma" panose="020B0604030504040204" pitchFamily="34" charset="0"/>
                <a:cs typeface="Tahoma" panose="020B0604030504040204" pitchFamily="34" charset="0"/>
              </a:rPr>
              <a:t>Select as few or as many of the columns as   required.</a:t>
            </a:r>
          </a:p>
          <a:p>
            <a:pPr marL="285750" indent="-285750">
              <a:buClr>
                <a:schemeClr val="accent6">
                  <a:lumMod val="50000"/>
                  <a:lumOff val="50000"/>
                </a:schemeClr>
              </a:buClr>
              <a:buFont typeface="Wingdings" panose="05000000000000000000" pitchFamily="2" charset="2"/>
              <a:buChar char="ü"/>
            </a:pPr>
            <a:r>
              <a:rPr lang="en-US" altLang="en-US" b="1" dirty="0">
                <a:solidFill>
                  <a:schemeClr val="tx1"/>
                </a:solidFill>
                <a:latin typeface="Tahoma" panose="020B0604030504040204" pitchFamily="34" charset="0"/>
                <a:ea typeface="Tahoma" panose="020B0604030504040204" pitchFamily="34" charset="0"/>
                <a:cs typeface="Tahoma" panose="020B0604030504040204" pitchFamily="34" charset="0"/>
              </a:rPr>
              <a:t>Selection:</a:t>
            </a:r>
            <a:r>
              <a:rPr lang="en-US" altLang="en-US" dirty="0">
                <a:solidFill>
                  <a:schemeClr val="tx1"/>
                </a:solidFill>
                <a:latin typeface="Tahoma" panose="020B0604030504040204" pitchFamily="34" charset="0"/>
                <a:ea typeface="Tahoma" panose="020B0604030504040204" pitchFamily="34" charset="0"/>
                <a:cs typeface="Tahoma" panose="020B0604030504040204" pitchFamily="34" charset="0"/>
              </a:rPr>
              <a:t> Select the rows in a table that are returned by a query. Various criteria can be used to restrict the rows that are retrieved. </a:t>
            </a:r>
          </a:p>
          <a:p>
            <a:pPr marL="285750" indent="-285750">
              <a:buClr>
                <a:schemeClr val="accent6">
                  <a:lumMod val="50000"/>
                  <a:lumOff val="50000"/>
                </a:schemeClr>
              </a:buClr>
              <a:buFont typeface="Wingdings" panose="05000000000000000000" pitchFamily="2" charset="2"/>
              <a:buChar char="ü"/>
            </a:pPr>
            <a:r>
              <a:rPr lang="en-US" altLang="en-US" b="1" dirty="0">
                <a:solidFill>
                  <a:schemeClr val="tx1"/>
                </a:solidFill>
                <a:latin typeface="Tahoma" panose="020B0604030504040204" pitchFamily="34" charset="0"/>
                <a:ea typeface="Tahoma" panose="020B0604030504040204" pitchFamily="34" charset="0"/>
                <a:cs typeface="Tahoma" panose="020B0604030504040204" pitchFamily="34" charset="0"/>
              </a:rPr>
              <a:t>Joining:</a:t>
            </a:r>
            <a:r>
              <a:rPr lang="en-US" altLang="en-US" dirty="0">
                <a:solidFill>
                  <a:schemeClr val="tx1"/>
                </a:solidFill>
                <a:latin typeface="Tahoma" panose="020B0604030504040204" pitchFamily="34" charset="0"/>
                <a:ea typeface="Tahoma" panose="020B0604030504040204" pitchFamily="34" charset="0"/>
                <a:cs typeface="Tahoma" panose="020B0604030504040204" pitchFamily="34" charset="0"/>
              </a:rPr>
              <a:t> Bring together data that is stored in different tables by specifying the link between them. </a:t>
            </a:r>
          </a:p>
        </p:txBody>
      </p:sp>
    </p:spTree>
    <p:extLst>
      <p:ext uri="{BB962C8B-B14F-4D97-AF65-F5344CB8AC3E}">
        <p14:creationId xmlns:p14="http://schemas.microsoft.com/office/powerpoint/2010/main" val="6640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6</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SELECT Columns Syntax</a:t>
            </a:r>
          </a:p>
        </p:txBody>
      </p:sp>
      <p:sp>
        <p:nvSpPr>
          <p:cNvPr id="6" name="Rectangle 6">
            <a:extLst>
              <a:ext uri="{FF2B5EF4-FFF2-40B4-BE49-F238E27FC236}">
                <a16:creationId xmlns:a16="http://schemas.microsoft.com/office/drawing/2014/main" id="{00A7AA47-989A-4FDF-ADAB-3194F651E01B}"/>
              </a:ext>
            </a:extLst>
          </p:cNvPr>
          <p:cNvSpPr txBox="1">
            <a:spLocks noChangeArrowheads="1"/>
          </p:cNvSpPr>
          <p:nvPr/>
        </p:nvSpPr>
        <p:spPr>
          <a:xfrm>
            <a:off x="4834647" y="1927523"/>
            <a:ext cx="7256938" cy="1893375"/>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pPr>
            <a:r>
              <a:rPr lang="en-US" altLang="en-US" sz="2800" b="1" dirty="0"/>
              <a:t>SELECT</a:t>
            </a:r>
            <a:r>
              <a:rPr lang="en-US" altLang="en-US" sz="2800" dirty="0"/>
              <a:t> identifies the columns to be displayed.</a:t>
            </a:r>
          </a:p>
          <a:p>
            <a:pPr lvl="1">
              <a:lnSpc>
                <a:spcPct val="160000"/>
              </a:lnSpc>
            </a:pPr>
            <a:r>
              <a:rPr lang="en-US" altLang="en-US" sz="2800" b="1" dirty="0"/>
              <a:t>FROM</a:t>
            </a:r>
            <a:r>
              <a:rPr lang="en-US" altLang="en-US" sz="2800" dirty="0"/>
              <a:t> identifies the table containing those columns</a:t>
            </a:r>
            <a:r>
              <a:rPr lang="en-US" altLang="en-US" dirty="0"/>
              <a:t>.</a:t>
            </a:r>
          </a:p>
          <a:p>
            <a:pPr lvl="1" algn="ctr">
              <a:lnSpc>
                <a:spcPct val="160000"/>
              </a:lnSpc>
            </a:pPr>
            <a:r>
              <a:rPr lang="en-US" altLang="en-US" sz="2800" b="1" dirty="0"/>
              <a:t>Selecting All Columns</a:t>
            </a:r>
          </a:p>
        </p:txBody>
      </p:sp>
      <p:sp>
        <p:nvSpPr>
          <p:cNvPr id="7" name="Rectangle 4">
            <a:extLst>
              <a:ext uri="{FF2B5EF4-FFF2-40B4-BE49-F238E27FC236}">
                <a16:creationId xmlns:a16="http://schemas.microsoft.com/office/drawing/2014/main" id="{48F32ACC-3133-4AC8-BF8B-4E2150727286}"/>
              </a:ext>
            </a:extLst>
          </p:cNvPr>
          <p:cNvSpPr>
            <a:spLocks noChangeArrowheads="1"/>
          </p:cNvSpPr>
          <p:nvPr/>
        </p:nvSpPr>
        <p:spPr bwMode="blackGray">
          <a:xfrm>
            <a:off x="197692" y="1086950"/>
            <a:ext cx="7256937" cy="7334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*|{[DISTINCT] </a:t>
            </a:r>
            <a:r>
              <a:rPr lang="en-US" altLang="en-US" sz="1800" b="1" dirty="0" err="1">
                <a:solidFill>
                  <a:srgbClr val="000000"/>
                </a:solidFill>
                <a:latin typeface="Courier New" panose="02070309020205020404" pitchFamily="49" charset="0"/>
              </a:rPr>
              <a:t>column|expression</a:t>
            </a:r>
            <a:r>
              <a:rPr lang="en-US" altLang="en-US" sz="1800" b="1" dirty="0">
                <a:solidFill>
                  <a:srgbClr val="000000"/>
                </a:solidFill>
                <a:latin typeface="Courier New" panose="02070309020205020404" pitchFamily="49" charset="0"/>
              </a:rPr>
              <a:t> [alias],...}</a:t>
            </a:r>
          </a:p>
          <a:p>
            <a:pPr eaLnBrk="0" hangingPunct="0">
              <a:buClrTx/>
              <a:buFontTx/>
              <a:buNone/>
            </a:pPr>
            <a:r>
              <a:rPr lang="en-US" altLang="en-US" sz="1800" b="1" dirty="0">
                <a:solidFill>
                  <a:srgbClr val="000000"/>
                </a:solidFill>
                <a:latin typeface="Courier New" panose="02070309020205020404" pitchFamily="49" charset="0"/>
              </a:rPr>
              <a:t>FROM    table;</a:t>
            </a:r>
          </a:p>
        </p:txBody>
      </p:sp>
      <p:sp>
        <p:nvSpPr>
          <p:cNvPr id="8" name="Rectangle 6">
            <a:extLst>
              <a:ext uri="{FF2B5EF4-FFF2-40B4-BE49-F238E27FC236}">
                <a16:creationId xmlns:a16="http://schemas.microsoft.com/office/drawing/2014/main" id="{81F8F843-36C0-4404-BC7B-E868647F486C}"/>
              </a:ext>
            </a:extLst>
          </p:cNvPr>
          <p:cNvSpPr>
            <a:spLocks noChangeArrowheads="1"/>
          </p:cNvSpPr>
          <p:nvPr/>
        </p:nvSpPr>
        <p:spPr bwMode="blackGray">
          <a:xfrm>
            <a:off x="6155062" y="3916202"/>
            <a:ext cx="5819819" cy="7334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mn-lt"/>
              </a:rPr>
              <a:t>SELECT   *   FROM   departments;</a:t>
            </a:r>
          </a:p>
        </p:txBody>
      </p:sp>
      <p:sp>
        <p:nvSpPr>
          <p:cNvPr id="9" name="Rectangle 7">
            <a:extLst>
              <a:ext uri="{FF2B5EF4-FFF2-40B4-BE49-F238E27FC236}">
                <a16:creationId xmlns:a16="http://schemas.microsoft.com/office/drawing/2014/main" id="{6CF24EEF-963F-464E-840F-C8ABA95245F3}"/>
              </a:ext>
            </a:extLst>
          </p:cNvPr>
          <p:cNvSpPr>
            <a:spLocks noChangeArrowheads="1"/>
          </p:cNvSpPr>
          <p:nvPr/>
        </p:nvSpPr>
        <p:spPr bwMode="gray">
          <a:xfrm flipH="1" flipV="1">
            <a:off x="7262906" y="4124906"/>
            <a:ext cx="237816" cy="24765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0" name="Picture 9">
            <a:extLst>
              <a:ext uri="{FF2B5EF4-FFF2-40B4-BE49-F238E27FC236}">
                <a16:creationId xmlns:a16="http://schemas.microsoft.com/office/drawing/2014/main" id="{D4D382B5-78C0-4E50-8BFA-82F7D28039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214781" y="4744932"/>
            <a:ext cx="5819819" cy="148504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5">
            <a:extLst>
              <a:ext uri="{FF2B5EF4-FFF2-40B4-BE49-F238E27FC236}">
                <a16:creationId xmlns:a16="http://schemas.microsoft.com/office/drawing/2014/main" id="{FB8D2F82-F435-4360-A56A-928A081FCA57}"/>
              </a:ext>
            </a:extLst>
          </p:cNvPr>
          <p:cNvSpPr>
            <a:spLocks noChangeArrowheads="1"/>
          </p:cNvSpPr>
          <p:nvPr/>
        </p:nvSpPr>
        <p:spPr bwMode="gray">
          <a:xfrm>
            <a:off x="841777" y="3187700"/>
            <a:ext cx="3733800" cy="3206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Rectangle 6">
            <a:extLst>
              <a:ext uri="{FF2B5EF4-FFF2-40B4-BE49-F238E27FC236}">
                <a16:creationId xmlns:a16="http://schemas.microsoft.com/office/drawing/2014/main" id="{4A1037EE-2C54-49A2-8603-92688E7845FE}"/>
              </a:ext>
            </a:extLst>
          </p:cNvPr>
          <p:cNvSpPr>
            <a:spLocks noChangeArrowheads="1"/>
          </p:cNvSpPr>
          <p:nvPr/>
        </p:nvSpPr>
        <p:spPr bwMode="blackGray">
          <a:xfrm>
            <a:off x="197692" y="3115944"/>
            <a:ext cx="5214830" cy="7334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department_id</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location_id</a:t>
            </a:r>
            <a:endParaRPr lang="en-US" altLang="en-US" sz="1800" b="1" dirty="0">
              <a:solidFill>
                <a:srgbClr val="000000"/>
              </a:solidFill>
              <a:latin typeface="Courier New" panose="02070309020205020404" pitchFamily="49" charset="0"/>
            </a:endParaRPr>
          </a:p>
          <a:p>
            <a:pPr eaLnBrk="0" hangingPunct="0">
              <a:buClrTx/>
              <a:buFontTx/>
              <a:buNone/>
            </a:pPr>
            <a:r>
              <a:rPr lang="en-US" altLang="en-US" sz="1800" b="1" dirty="0">
                <a:solidFill>
                  <a:srgbClr val="000000"/>
                </a:solidFill>
                <a:latin typeface="Courier New" panose="02070309020205020404" pitchFamily="49" charset="0"/>
              </a:rPr>
              <a:t>FROM   departments;</a:t>
            </a:r>
          </a:p>
        </p:txBody>
      </p:sp>
      <p:sp>
        <p:nvSpPr>
          <p:cNvPr id="13" name="Rectangle 7">
            <a:extLst>
              <a:ext uri="{FF2B5EF4-FFF2-40B4-BE49-F238E27FC236}">
                <a16:creationId xmlns:a16="http://schemas.microsoft.com/office/drawing/2014/main" id="{CC1FA600-D60E-4028-A799-4B9E661EC4FB}"/>
              </a:ext>
            </a:extLst>
          </p:cNvPr>
          <p:cNvSpPr>
            <a:spLocks noChangeArrowheads="1"/>
          </p:cNvSpPr>
          <p:nvPr/>
        </p:nvSpPr>
        <p:spPr bwMode="gray">
          <a:xfrm>
            <a:off x="1215279" y="3196907"/>
            <a:ext cx="3733800" cy="3206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4" name="Picture 9">
            <a:extLst>
              <a:ext uri="{FF2B5EF4-FFF2-40B4-BE49-F238E27FC236}">
                <a16:creationId xmlns:a16="http://schemas.microsoft.com/office/drawing/2014/main" id="{33FD70AC-3034-4A94-9F89-6EA8BA691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069363" y="4190363"/>
            <a:ext cx="2914650" cy="2114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0703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7</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Database Terminology</a:t>
            </a:r>
            <a:endParaRPr lang="en-US" alt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15" name="Content Placeholder 2">
            <a:extLst>
              <a:ext uri="{FF2B5EF4-FFF2-40B4-BE49-F238E27FC236}">
                <a16:creationId xmlns:a16="http://schemas.microsoft.com/office/drawing/2014/main" id="{02361BEC-6E61-4F82-A113-AA936E85BA1D}"/>
              </a:ext>
            </a:extLst>
          </p:cNvPr>
          <p:cNvSpPr txBox="1">
            <a:spLocks/>
          </p:cNvSpPr>
          <p:nvPr/>
        </p:nvSpPr>
        <p:spPr>
          <a:xfrm>
            <a:off x="228718" y="1011676"/>
            <a:ext cx="11734564" cy="5192483"/>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buClr>
                <a:schemeClr val="accent6">
                  <a:lumMod val="50000"/>
                  <a:lumOff val="50000"/>
                </a:schemeClr>
              </a:buClr>
              <a:buFont typeface="Wingdings" panose="05000000000000000000" pitchFamily="2" charset="2"/>
              <a:buChar char="ü"/>
            </a:pPr>
            <a:r>
              <a:rPr lang="en-US" sz="2800" dirty="0">
                <a:latin typeface="Tahoma" panose="020B0604030504040204" pitchFamily="34" charset="0"/>
                <a:ea typeface="Tahoma" panose="020B0604030504040204" pitchFamily="34" charset="0"/>
                <a:cs typeface="Tahoma" panose="020B0604030504040204" pitchFamily="34" charset="0"/>
              </a:rPr>
              <a:t>A </a:t>
            </a:r>
            <a:r>
              <a:rPr lang="en-US" sz="2800" i="1" dirty="0">
                <a:latin typeface="Tahoma" panose="020B0604030504040204" pitchFamily="34" charset="0"/>
                <a:ea typeface="Tahoma" panose="020B0604030504040204" pitchFamily="34" charset="0"/>
                <a:cs typeface="Tahoma" panose="020B0604030504040204" pitchFamily="34" charset="0"/>
              </a:rPr>
              <a:t>keyword </a:t>
            </a:r>
            <a:r>
              <a:rPr lang="en-US" sz="2800" dirty="0">
                <a:latin typeface="Tahoma" panose="020B0604030504040204" pitchFamily="34" charset="0"/>
                <a:ea typeface="Tahoma" panose="020B0604030504040204" pitchFamily="34" charset="0"/>
                <a:cs typeface="Tahoma" panose="020B0604030504040204" pitchFamily="34" charset="0"/>
              </a:rPr>
              <a:t>refers to an individual SQL element.</a:t>
            </a:r>
          </a:p>
          <a:p>
            <a:pPr marL="0" indent="0">
              <a:lnSpc>
                <a:spcPct val="150000"/>
              </a:lnSpc>
              <a:buClr>
                <a:schemeClr val="accent6">
                  <a:lumMod val="50000"/>
                  <a:lumOff val="50000"/>
                </a:schemeClr>
              </a:buClr>
              <a:buNone/>
            </a:pPr>
            <a:r>
              <a:rPr lang="en-US" sz="2800" dirty="0">
                <a:latin typeface="Tahoma" panose="020B0604030504040204" pitchFamily="34" charset="0"/>
                <a:ea typeface="Tahoma" panose="020B0604030504040204" pitchFamily="34" charset="0"/>
                <a:cs typeface="Tahoma" panose="020B0604030504040204" pitchFamily="34" charset="0"/>
              </a:rPr>
              <a:t>	For example, </a:t>
            </a:r>
            <a:r>
              <a:rPr lang="en-US" sz="2800" b="1" dirty="0">
                <a:latin typeface="Tahoma" panose="020B0604030504040204" pitchFamily="34" charset="0"/>
                <a:ea typeface="Tahoma" panose="020B0604030504040204" pitchFamily="34" charset="0"/>
                <a:cs typeface="Tahoma" panose="020B0604030504040204" pitchFamily="34" charset="0"/>
              </a:rPr>
              <a:t>SELECT</a:t>
            </a:r>
            <a:r>
              <a:rPr lang="en-US" sz="2800" dirty="0">
                <a:latin typeface="Tahoma" panose="020B0604030504040204" pitchFamily="34" charset="0"/>
                <a:ea typeface="Tahoma" panose="020B0604030504040204" pitchFamily="34" charset="0"/>
                <a:cs typeface="Tahoma" panose="020B0604030504040204" pitchFamily="34" charset="0"/>
              </a:rPr>
              <a:t> ,</a:t>
            </a:r>
            <a:r>
              <a:rPr lang="en-US" sz="2800" b="1" dirty="0">
                <a:latin typeface="Tahoma" panose="020B0604030504040204" pitchFamily="34" charset="0"/>
                <a:ea typeface="Tahoma" panose="020B0604030504040204" pitchFamily="34" charset="0"/>
                <a:cs typeface="Tahoma" panose="020B0604030504040204" pitchFamily="34" charset="0"/>
              </a:rPr>
              <a:t>FROM,</a:t>
            </a:r>
            <a:r>
              <a:rPr lang="en-US" sz="2800" dirty="0">
                <a:latin typeface="Tahoma" panose="020B0604030504040204" pitchFamily="34" charset="0"/>
                <a:ea typeface="Tahoma" panose="020B0604030504040204" pitchFamily="34" charset="0"/>
                <a:cs typeface="Tahoma" panose="020B0604030504040204" pitchFamily="34" charset="0"/>
              </a:rPr>
              <a:t> </a:t>
            </a:r>
            <a:r>
              <a:rPr lang="en-US" sz="2800" b="1" dirty="0">
                <a:latin typeface="Tahoma" panose="020B0604030504040204" pitchFamily="34" charset="0"/>
                <a:ea typeface="Tahoma" panose="020B0604030504040204" pitchFamily="34" charset="0"/>
                <a:cs typeface="Tahoma" panose="020B0604030504040204" pitchFamily="34" charset="0"/>
              </a:rPr>
              <a:t>WHERE</a:t>
            </a:r>
            <a:r>
              <a:rPr lang="en-US" sz="2800" dirty="0">
                <a:latin typeface="Tahoma" panose="020B0604030504040204" pitchFamily="34" charset="0"/>
                <a:ea typeface="Tahoma" panose="020B0604030504040204" pitchFamily="34" charset="0"/>
                <a:cs typeface="Tahoma" panose="020B0604030504040204" pitchFamily="34" charset="0"/>
              </a:rPr>
              <a:t> are keywords.</a:t>
            </a:r>
          </a:p>
          <a:p>
            <a:pPr>
              <a:lnSpc>
                <a:spcPct val="150000"/>
              </a:lnSpc>
              <a:buClr>
                <a:schemeClr val="accent6">
                  <a:lumMod val="50000"/>
                  <a:lumOff val="50000"/>
                </a:schemeClr>
              </a:buClr>
              <a:buFont typeface="Wingdings" panose="05000000000000000000" pitchFamily="2" charset="2"/>
              <a:buChar char="ü"/>
            </a:pPr>
            <a:r>
              <a:rPr lang="en-US" sz="2800" dirty="0">
                <a:latin typeface="Tahoma" panose="020B0604030504040204" pitchFamily="34" charset="0"/>
                <a:ea typeface="Tahoma" panose="020B0604030504040204" pitchFamily="34" charset="0"/>
                <a:cs typeface="Tahoma" panose="020B0604030504040204" pitchFamily="34" charset="0"/>
              </a:rPr>
              <a:t>A </a:t>
            </a:r>
            <a:r>
              <a:rPr lang="en-US" sz="2800" b="1" i="1" dirty="0">
                <a:latin typeface="Tahoma" panose="020B0604030504040204" pitchFamily="34" charset="0"/>
                <a:ea typeface="Tahoma" panose="020B0604030504040204" pitchFamily="34" charset="0"/>
                <a:cs typeface="Tahoma" panose="020B0604030504040204" pitchFamily="34" charset="0"/>
              </a:rPr>
              <a:t>clause</a:t>
            </a:r>
            <a:r>
              <a:rPr lang="en-US" sz="2800" i="1" dirty="0">
                <a:latin typeface="Tahoma" panose="020B0604030504040204" pitchFamily="34" charset="0"/>
                <a:ea typeface="Tahoma" panose="020B0604030504040204" pitchFamily="34" charset="0"/>
                <a:cs typeface="Tahoma" panose="020B0604030504040204" pitchFamily="34" charset="0"/>
              </a:rPr>
              <a:t> </a:t>
            </a:r>
            <a:r>
              <a:rPr lang="en-US" sz="2800" dirty="0">
                <a:latin typeface="Tahoma" panose="020B0604030504040204" pitchFamily="34" charset="0"/>
                <a:ea typeface="Tahoma" panose="020B0604030504040204" pitchFamily="34" charset="0"/>
                <a:cs typeface="Tahoma" panose="020B0604030504040204" pitchFamily="34" charset="0"/>
              </a:rPr>
              <a:t>is a part of a SQL statement. </a:t>
            </a:r>
          </a:p>
          <a:p>
            <a:pPr marL="342900" lvl="1" indent="0">
              <a:lnSpc>
                <a:spcPct val="150000"/>
              </a:lnSpc>
              <a:buClr>
                <a:schemeClr val="accent6">
                  <a:lumMod val="50000"/>
                  <a:lumOff val="50000"/>
                </a:schemeClr>
              </a:buClr>
              <a:buNone/>
            </a:pPr>
            <a:r>
              <a:rPr lang="en-US" sz="2400" dirty="0">
                <a:latin typeface="Tahoma" panose="020B0604030504040204" pitchFamily="34" charset="0"/>
                <a:ea typeface="Tahoma" panose="020B0604030504040204" pitchFamily="34" charset="0"/>
                <a:cs typeface="Tahoma" panose="020B0604030504040204" pitchFamily="34" charset="0"/>
              </a:rPr>
              <a:t>	For example, SELECT </a:t>
            </a:r>
            <a:r>
              <a:rPr lang="en-US" sz="2400" dirty="0" err="1">
                <a:latin typeface="Tahoma" panose="020B0604030504040204" pitchFamily="34" charset="0"/>
                <a:ea typeface="Tahoma" panose="020B0604030504040204" pitchFamily="34" charset="0"/>
                <a:cs typeface="Tahoma" panose="020B0604030504040204" pitchFamily="34" charset="0"/>
              </a:rPr>
              <a:t>employee_id</a:t>
            </a:r>
            <a:r>
              <a:rPr lang="en-US" sz="2400" dirty="0">
                <a:latin typeface="Tahoma" panose="020B0604030504040204" pitchFamily="34" charset="0"/>
                <a:ea typeface="Tahoma" panose="020B0604030504040204" pitchFamily="34" charset="0"/>
                <a:cs typeface="Tahoma" panose="020B0604030504040204" pitchFamily="34" charset="0"/>
              </a:rPr>
              <a:t>, last_name, and so on is a clause.</a:t>
            </a:r>
          </a:p>
          <a:p>
            <a:pPr>
              <a:lnSpc>
                <a:spcPct val="150000"/>
              </a:lnSpc>
              <a:buClr>
                <a:schemeClr val="accent6">
                  <a:lumMod val="50000"/>
                  <a:lumOff val="50000"/>
                </a:schemeClr>
              </a:buClr>
              <a:buFont typeface="Wingdings" panose="05000000000000000000" pitchFamily="2" charset="2"/>
              <a:buChar char="ü"/>
            </a:pPr>
            <a:r>
              <a:rPr lang="en-US" sz="2800" dirty="0">
                <a:latin typeface="Tahoma" panose="020B0604030504040204" pitchFamily="34" charset="0"/>
                <a:ea typeface="Tahoma" panose="020B0604030504040204" pitchFamily="34" charset="0"/>
                <a:cs typeface="Tahoma" panose="020B0604030504040204" pitchFamily="34" charset="0"/>
              </a:rPr>
              <a:t>A </a:t>
            </a:r>
            <a:r>
              <a:rPr lang="en-US" sz="2800" b="1" i="1" dirty="0">
                <a:latin typeface="Tahoma" panose="020B0604030504040204" pitchFamily="34" charset="0"/>
                <a:ea typeface="Tahoma" panose="020B0604030504040204" pitchFamily="34" charset="0"/>
                <a:cs typeface="Tahoma" panose="020B0604030504040204" pitchFamily="34" charset="0"/>
              </a:rPr>
              <a:t>statement</a:t>
            </a:r>
            <a:r>
              <a:rPr lang="en-US" sz="2800" i="1" dirty="0">
                <a:latin typeface="Tahoma" panose="020B0604030504040204" pitchFamily="34" charset="0"/>
                <a:ea typeface="Tahoma" panose="020B0604030504040204" pitchFamily="34" charset="0"/>
                <a:cs typeface="Tahoma" panose="020B0604030504040204" pitchFamily="34" charset="0"/>
              </a:rPr>
              <a:t> </a:t>
            </a:r>
            <a:r>
              <a:rPr lang="en-US" sz="2800" dirty="0">
                <a:latin typeface="Tahoma" panose="020B0604030504040204" pitchFamily="34" charset="0"/>
                <a:ea typeface="Tahoma" panose="020B0604030504040204" pitchFamily="34" charset="0"/>
                <a:cs typeface="Tahoma" panose="020B0604030504040204" pitchFamily="34" charset="0"/>
              </a:rPr>
              <a:t>is a combination of two or more clauses.</a:t>
            </a:r>
            <a:br>
              <a:rPr lang="en-US" sz="2800" dirty="0">
                <a:latin typeface="Tahoma" panose="020B0604030504040204" pitchFamily="34" charset="0"/>
                <a:ea typeface="Tahoma" panose="020B0604030504040204" pitchFamily="34" charset="0"/>
                <a:cs typeface="Tahoma" panose="020B0604030504040204" pitchFamily="34" charset="0"/>
              </a:rPr>
            </a:br>
            <a:r>
              <a:rPr lang="en-US" sz="2800" dirty="0">
                <a:latin typeface="Tahoma" panose="020B0604030504040204" pitchFamily="34" charset="0"/>
                <a:ea typeface="Tahoma" panose="020B0604030504040204" pitchFamily="34" charset="0"/>
                <a:cs typeface="Tahoma" panose="020B0604030504040204" pitchFamily="34" charset="0"/>
              </a:rPr>
              <a:t>	For example, SELECT * FROM employees is a SQL statement. </a:t>
            </a:r>
          </a:p>
        </p:txBody>
      </p:sp>
    </p:spTree>
    <p:extLst>
      <p:ext uri="{BB962C8B-B14F-4D97-AF65-F5344CB8AC3E}">
        <p14:creationId xmlns:p14="http://schemas.microsoft.com/office/powerpoint/2010/main" val="1865381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8</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Writing Rules Of SQL Statements</a:t>
            </a:r>
          </a:p>
        </p:txBody>
      </p:sp>
      <p:sp>
        <p:nvSpPr>
          <p:cNvPr id="7" name="Rectangle 5">
            <a:extLst>
              <a:ext uri="{FF2B5EF4-FFF2-40B4-BE49-F238E27FC236}">
                <a16:creationId xmlns:a16="http://schemas.microsoft.com/office/drawing/2014/main" id="{7A209389-B280-436C-AFF5-8881FCC35195}"/>
              </a:ext>
            </a:extLst>
          </p:cNvPr>
          <p:cNvSpPr txBox="1">
            <a:spLocks noChangeArrowheads="1"/>
          </p:cNvSpPr>
          <p:nvPr/>
        </p:nvSpPr>
        <p:spPr>
          <a:xfrm>
            <a:off x="272375" y="1092646"/>
            <a:ext cx="11804050" cy="5126532"/>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SQL statements are not case-sensitive.</a:t>
            </a:r>
          </a:p>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SQL statements can be entered on one or more lines.</a:t>
            </a:r>
          </a:p>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Keywords cannot be abbreviated or split across lines.</a:t>
            </a:r>
          </a:p>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Clauses are usually placed on separate lines.</a:t>
            </a:r>
          </a:p>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Indents are used to enhance readability.</a:t>
            </a:r>
          </a:p>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SQL Developer, SQL statements can optionally be terminated by a semicolon (;). Semicolons are required when you execute multiple SQL statements.</a:t>
            </a:r>
          </a:p>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SQL*Plus, you are required to end each SQL statement with a semicolon (;).</a:t>
            </a:r>
          </a:p>
        </p:txBody>
      </p:sp>
    </p:spTree>
    <p:extLst>
      <p:ext uri="{BB962C8B-B14F-4D97-AF65-F5344CB8AC3E}">
        <p14:creationId xmlns:p14="http://schemas.microsoft.com/office/powerpoint/2010/main" val="2237831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9</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Column Heading Defaults</a:t>
            </a:r>
          </a:p>
        </p:txBody>
      </p:sp>
      <p:sp>
        <p:nvSpPr>
          <p:cNvPr id="8" name="Rectangle 5">
            <a:extLst>
              <a:ext uri="{FF2B5EF4-FFF2-40B4-BE49-F238E27FC236}">
                <a16:creationId xmlns:a16="http://schemas.microsoft.com/office/drawing/2014/main" id="{E635ADFA-7EFB-4F1F-9F34-C2EDB065D59A}"/>
              </a:ext>
            </a:extLst>
          </p:cNvPr>
          <p:cNvSpPr txBox="1">
            <a:spLocks noChangeArrowheads="1"/>
          </p:cNvSpPr>
          <p:nvPr/>
        </p:nvSpPr>
        <p:spPr>
          <a:xfrm>
            <a:off x="853669" y="1643941"/>
            <a:ext cx="7941013" cy="424129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SQL Developer:</a:t>
            </a:r>
          </a:p>
          <a:p>
            <a:pPr lvl="2">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Default heading alignment: Left-aligned</a:t>
            </a:r>
          </a:p>
          <a:p>
            <a:pPr lvl="2">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Default heading display: Uppercase</a:t>
            </a:r>
          </a:p>
          <a:p>
            <a:pPr lvl="1">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SQL*Plus:</a:t>
            </a:r>
          </a:p>
          <a:p>
            <a:pPr lvl="2">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Character and Date column headings are left-aligned.</a:t>
            </a:r>
          </a:p>
          <a:p>
            <a:pPr lvl="2">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Number column headings are right-aligned.</a:t>
            </a:r>
          </a:p>
          <a:p>
            <a:pPr lvl="2">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Default heading display: Uppercase</a:t>
            </a:r>
          </a:p>
        </p:txBody>
      </p:sp>
    </p:spTree>
    <p:extLst>
      <p:ext uri="{BB962C8B-B14F-4D97-AF65-F5344CB8AC3E}">
        <p14:creationId xmlns:p14="http://schemas.microsoft.com/office/powerpoint/2010/main" val="3756944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10</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Filtering the Rows that Are Selected</a:t>
            </a:r>
          </a:p>
        </p:txBody>
      </p:sp>
      <p:sp>
        <p:nvSpPr>
          <p:cNvPr id="7" name="Content Placeholder 15">
            <a:extLst>
              <a:ext uri="{FF2B5EF4-FFF2-40B4-BE49-F238E27FC236}">
                <a16:creationId xmlns:a16="http://schemas.microsoft.com/office/drawing/2014/main" id="{083E9AAC-FF7E-470E-BA1A-A33C5719BBF6}"/>
              </a:ext>
            </a:extLst>
          </p:cNvPr>
          <p:cNvSpPr txBox="1">
            <a:spLocks/>
          </p:cNvSpPr>
          <p:nvPr/>
        </p:nvSpPr>
        <p:spPr>
          <a:xfrm>
            <a:off x="168276" y="1196502"/>
            <a:ext cx="10729609" cy="4893013"/>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sz="2600" b="1" dirty="0">
                <a:latin typeface="Tahoma" panose="020B0604030504040204" pitchFamily="34" charset="0"/>
                <a:ea typeface="Tahoma" panose="020B0604030504040204" pitchFamily="34" charset="0"/>
                <a:cs typeface="Tahoma" panose="020B0604030504040204" pitchFamily="34" charset="0"/>
              </a:rPr>
              <a:t>SELECT *|{[DISTINCT] </a:t>
            </a:r>
            <a:r>
              <a:rPr lang="en-US" sz="2600" b="1" i="1" dirty="0" err="1">
                <a:latin typeface="Tahoma" panose="020B0604030504040204" pitchFamily="34" charset="0"/>
                <a:ea typeface="Tahoma" panose="020B0604030504040204" pitchFamily="34" charset="0"/>
                <a:cs typeface="Tahoma" panose="020B0604030504040204" pitchFamily="34" charset="0"/>
              </a:rPr>
              <a:t>column|expression</a:t>
            </a:r>
            <a:r>
              <a:rPr lang="en-US" sz="2600" b="1" i="1" dirty="0">
                <a:latin typeface="Tahoma" panose="020B0604030504040204" pitchFamily="34" charset="0"/>
                <a:ea typeface="Tahoma" panose="020B0604030504040204" pitchFamily="34" charset="0"/>
                <a:cs typeface="Tahoma" panose="020B0604030504040204" pitchFamily="34" charset="0"/>
              </a:rPr>
              <a:t> </a:t>
            </a:r>
            <a:r>
              <a:rPr lang="en-US" sz="2600" b="1" dirty="0">
                <a:latin typeface="Tahoma" panose="020B0604030504040204" pitchFamily="34" charset="0"/>
                <a:ea typeface="Tahoma" panose="020B0604030504040204" pitchFamily="34" charset="0"/>
                <a:cs typeface="Tahoma" panose="020B0604030504040204" pitchFamily="34" charset="0"/>
              </a:rPr>
              <a:t>[</a:t>
            </a:r>
            <a:r>
              <a:rPr lang="en-US" sz="2600" b="1" i="1" dirty="0">
                <a:latin typeface="Tahoma" panose="020B0604030504040204" pitchFamily="34" charset="0"/>
                <a:ea typeface="Tahoma" panose="020B0604030504040204" pitchFamily="34" charset="0"/>
                <a:cs typeface="Tahoma" panose="020B0604030504040204" pitchFamily="34" charset="0"/>
              </a:rPr>
              <a:t>alias</a:t>
            </a:r>
            <a:r>
              <a:rPr lang="en-US" sz="2600" b="1" dirty="0">
                <a:latin typeface="Tahoma" panose="020B0604030504040204" pitchFamily="34" charset="0"/>
                <a:ea typeface="Tahoma" panose="020B0604030504040204" pitchFamily="34" charset="0"/>
                <a:cs typeface="Tahoma" panose="020B0604030504040204" pitchFamily="34" charset="0"/>
              </a:rPr>
              <a:t>],…}</a:t>
            </a:r>
            <a:br>
              <a:rPr lang="en-US" sz="2600" b="1" dirty="0">
                <a:latin typeface="Tahoma" panose="020B0604030504040204" pitchFamily="34" charset="0"/>
                <a:ea typeface="Tahoma" panose="020B0604030504040204" pitchFamily="34" charset="0"/>
                <a:cs typeface="Tahoma" panose="020B0604030504040204" pitchFamily="34" charset="0"/>
              </a:rPr>
            </a:br>
            <a:r>
              <a:rPr lang="en-US" sz="2600" b="1" dirty="0">
                <a:latin typeface="Tahoma" panose="020B0604030504040204" pitchFamily="34" charset="0"/>
                <a:ea typeface="Tahoma" panose="020B0604030504040204" pitchFamily="34" charset="0"/>
                <a:cs typeface="Tahoma" panose="020B0604030504040204" pitchFamily="34" charset="0"/>
              </a:rPr>
              <a:t>FROM </a:t>
            </a:r>
            <a:r>
              <a:rPr lang="en-US" sz="2600" b="1" i="1" dirty="0">
                <a:latin typeface="Tahoma" panose="020B0604030504040204" pitchFamily="34" charset="0"/>
                <a:ea typeface="Tahoma" panose="020B0604030504040204" pitchFamily="34" charset="0"/>
                <a:cs typeface="Tahoma" panose="020B0604030504040204" pitchFamily="34" charset="0"/>
              </a:rPr>
              <a:t>table </a:t>
            </a:r>
          </a:p>
          <a:p>
            <a:pPr marL="0" indent="0">
              <a:lnSpc>
                <a:spcPct val="150000"/>
              </a:lnSpc>
              <a:buNone/>
            </a:pPr>
            <a:r>
              <a:rPr lang="en-US" sz="2600" b="1" i="1" dirty="0">
                <a:latin typeface="Tahoma" panose="020B0604030504040204" pitchFamily="34" charset="0"/>
                <a:ea typeface="Tahoma" panose="020B0604030504040204" pitchFamily="34" charset="0"/>
                <a:cs typeface="Tahoma" panose="020B0604030504040204" pitchFamily="34" charset="0"/>
              </a:rPr>
              <a:t>  </a:t>
            </a:r>
            <a:r>
              <a:rPr lang="en-US" sz="2600" b="1" dirty="0">
                <a:latin typeface="Tahoma" panose="020B0604030504040204" pitchFamily="34" charset="0"/>
                <a:ea typeface="Tahoma" panose="020B0604030504040204" pitchFamily="34" charset="0"/>
                <a:cs typeface="Tahoma" panose="020B0604030504040204" pitchFamily="34" charset="0"/>
              </a:rPr>
              <a:t>[WHERE </a:t>
            </a:r>
            <a:r>
              <a:rPr lang="en-US" sz="2600" b="1" i="1" dirty="0">
                <a:latin typeface="Tahoma" panose="020B0604030504040204" pitchFamily="34" charset="0"/>
                <a:ea typeface="Tahoma" panose="020B0604030504040204" pitchFamily="34" charset="0"/>
                <a:cs typeface="Tahoma" panose="020B0604030504040204" pitchFamily="34" charset="0"/>
              </a:rPr>
              <a:t>condition(s)</a:t>
            </a:r>
            <a:r>
              <a:rPr lang="en-US" sz="2600" b="1" dirty="0">
                <a:latin typeface="Tahoma" panose="020B0604030504040204" pitchFamily="34" charset="0"/>
                <a:ea typeface="Tahoma" panose="020B0604030504040204" pitchFamily="34" charset="0"/>
                <a:cs typeface="Tahoma" panose="020B0604030504040204" pitchFamily="34" charset="0"/>
              </a:rPr>
              <a:t>]; </a:t>
            </a:r>
            <a:br>
              <a:rPr lang="en-US" dirty="0">
                <a:latin typeface="Tahoma" panose="020B0604030504040204" pitchFamily="34" charset="0"/>
                <a:ea typeface="Tahoma" panose="020B0604030504040204" pitchFamily="34" charset="0"/>
                <a:cs typeface="Tahoma" panose="020B0604030504040204" pitchFamily="34" charset="0"/>
              </a:rPr>
            </a:br>
            <a:r>
              <a:rPr lang="en-US" dirty="0">
                <a:latin typeface="Tahoma" panose="020B0604030504040204" pitchFamily="34" charset="0"/>
                <a:ea typeface="Tahoma" panose="020B0604030504040204" pitchFamily="34" charset="0"/>
                <a:cs typeface="Tahoma" panose="020B0604030504040204" pitchFamily="34" charset="0"/>
              </a:rPr>
              <a:t>The </a:t>
            </a:r>
            <a:r>
              <a:rPr lang="en-US" b="1" dirty="0">
                <a:latin typeface="Tahoma" panose="020B0604030504040204" pitchFamily="34" charset="0"/>
                <a:ea typeface="Tahoma" panose="020B0604030504040204" pitchFamily="34" charset="0"/>
                <a:cs typeface="Tahoma" panose="020B0604030504040204" pitchFamily="34" charset="0"/>
              </a:rPr>
              <a:t>square brackets </a:t>
            </a:r>
            <a:r>
              <a:rPr lang="en-US" dirty="0">
                <a:latin typeface="Tahoma" panose="020B0604030504040204" pitchFamily="34" charset="0"/>
                <a:ea typeface="Tahoma" panose="020B0604030504040204" pitchFamily="34" charset="0"/>
                <a:cs typeface="Tahoma" panose="020B0604030504040204" pitchFamily="34" charset="0"/>
              </a:rPr>
              <a:t>indicate that the WHERE clause is optional. </a:t>
            </a:r>
            <a:br>
              <a:rPr lang="en-US" dirty="0">
                <a:latin typeface="Tahoma" panose="020B0604030504040204" pitchFamily="34" charset="0"/>
                <a:ea typeface="Tahoma" panose="020B0604030504040204" pitchFamily="34" charset="0"/>
                <a:cs typeface="Tahoma" panose="020B0604030504040204" pitchFamily="34" charset="0"/>
              </a:rPr>
            </a:br>
            <a:r>
              <a:rPr lang="en-US" dirty="0">
                <a:solidFill>
                  <a:srgbClr val="242021"/>
                </a:solidFill>
                <a:latin typeface="Tahoma" panose="020B0604030504040204" pitchFamily="34" charset="0"/>
                <a:ea typeface="Tahoma" panose="020B0604030504040204" pitchFamily="34" charset="0"/>
                <a:cs typeface="Tahoma" panose="020B0604030504040204" pitchFamily="34" charset="0"/>
              </a:rPr>
              <a:t>A </a:t>
            </a:r>
            <a:r>
              <a:rPr lang="en-US" b="1" i="1" dirty="0">
                <a:solidFill>
                  <a:srgbClr val="242021"/>
                </a:solidFill>
                <a:latin typeface="Tahoma" panose="020B0604030504040204" pitchFamily="34" charset="0"/>
                <a:ea typeface="Tahoma" panose="020B0604030504040204" pitchFamily="34" charset="0"/>
                <a:cs typeface="Tahoma" panose="020B0604030504040204" pitchFamily="34" charset="0"/>
              </a:rPr>
              <a:t>condition</a:t>
            </a:r>
            <a:r>
              <a:rPr lang="en-US" dirty="0">
                <a:solidFill>
                  <a:srgbClr val="242021"/>
                </a:solidFill>
                <a:latin typeface="Tahoma" panose="020B0604030504040204" pitchFamily="34" charset="0"/>
                <a:ea typeface="Tahoma" panose="020B0604030504040204" pitchFamily="34" charset="0"/>
                <a:cs typeface="Tahoma" panose="020B0604030504040204" pitchFamily="34" charset="0"/>
              </a:rPr>
              <a:t> is specified by comparing two terms using a conditional operator. </a:t>
            </a:r>
          </a:p>
          <a:p>
            <a:pPr marL="0" indent="0">
              <a:lnSpc>
                <a:spcPct val="150000"/>
              </a:lnSpc>
              <a:buNone/>
            </a:pPr>
            <a:r>
              <a:rPr lang="en-US" dirty="0">
                <a:solidFill>
                  <a:srgbClr val="242021"/>
                </a:solidFill>
                <a:latin typeface="Tahoma" panose="020B0604030504040204" pitchFamily="34" charset="0"/>
                <a:ea typeface="Tahoma" panose="020B0604030504040204" pitchFamily="34" charset="0"/>
                <a:cs typeface="Tahoma" panose="020B0604030504040204" pitchFamily="34" charset="0"/>
              </a:rPr>
              <a:t>These terms may be column values, literals, or expressions.</a:t>
            </a:r>
            <a:br>
              <a:rPr lang="en-US" dirty="0">
                <a:solidFill>
                  <a:srgbClr val="242021"/>
                </a:solidFill>
                <a:latin typeface="Tahoma" panose="020B0604030504040204" pitchFamily="34" charset="0"/>
                <a:ea typeface="Tahoma" panose="020B0604030504040204" pitchFamily="34" charset="0"/>
                <a:cs typeface="Tahoma" panose="020B0604030504040204" pitchFamily="34" charset="0"/>
              </a:rPr>
            </a:br>
            <a:r>
              <a:rPr lang="en-US" dirty="0">
                <a:solidFill>
                  <a:srgbClr val="242021"/>
                </a:solidFill>
                <a:latin typeface="Tahoma" panose="020B0604030504040204" pitchFamily="34" charset="0"/>
                <a:ea typeface="Tahoma" panose="020B0604030504040204" pitchFamily="34" charset="0"/>
                <a:cs typeface="Tahoma" panose="020B0604030504040204" pitchFamily="34" charset="0"/>
              </a:rPr>
              <a:t>The </a:t>
            </a:r>
            <a:r>
              <a:rPr lang="en-US" b="1" i="1" dirty="0">
                <a:solidFill>
                  <a:srgbClr val="242021"/>
                </a:solidFill>
                <a:latin typeface="Tahoma" panose="020B0604030504040204" pitchFamily="34" charset="0"/>
                <a:ea typeface="Tahoma" panose="020B0604030504040204" pitchFamily="34" charset="0"/>
                <a:cs typeface="Tahoma" panose="020B0604030504040204" pitchFamily="34" charset="0"/>
              </a:rPr>
              <a:t>equality</a:t>
            </a:r>
            <a:r>
              <a:rPr lang="en-US" i="1" dirty="0">
                <a:solidFill>
                  <a:srgbClr val="242021"/>
                </a:solidFill>
                <a:latin typeface="Tahoma" panose="020B0604030504040204" pitchFamily="34" charset="0"/>
                <a:ea typeface="Tahoma" panose="020B0604030504040204" pitchFamily="34" charset="0"/>
                <a:cs typeface="Tahoma" panose="020B0604030504040204" pitchFamily="34" charset="0"/>
              </a:rPr>
              <a:t> </a:t>
            </a:r>
            <a:r>
              <a:rPr lang="en-US" dirty="0">
                <a:solidFill>
                  <a:srgbClr val="242021"/>
                </a:solidFill>
                <a:latin typeface="Tahoma" panose="020B0604030504040204" pitchFamily="34" charset="0"/>
                <a:ea typeface="Tahoma" panose="020B0604030504040204" pitchFamily="34" charset="0"/>
                <a:cs typeface="Tahoma" panose="020B0604030504040204" pitchFamily="34" charset="0"/>
              </a:rPr>
              <a:t>operator is most commonly used to restrict result sets.</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91901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11</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Filtering the Rows that Are Selected</a:t>
            </a:r>
          </a:p>
        </p:txBody>
      </p:sp>
      <p:sp>
        <p:nvSpPr>
          <p:cNvPr id="8" name="Rectangle 7">
            <a:extLst>
              <a:ext uri="{FF2B5EF4-FFF2-40B4-BE49-F238E27FC236}">
                <a16:creationId xmlns:a16="http://schemas.microsoft.com/office/drawing/2014/main" id="{2693AC4A-E56B-46C1-BD94-3522A569963F}"/>
              </a:ext>
            </a:extLst>
          </p:cNvPr>
          <p:cNvSpPr txBox="1">
            <a:spLocks noChangeArrowheads="1"/>
          </p:cNvSpPr>
          <p:nvPr/>
        </p:nvSpPr>
        <p:spPr>
          <a:xfrm>
            <a:off x="116731" y="963038"/>
            <a:ext cx="11867745" cy="277238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Restrict the rows that are returned by using the WHERE clause:</a:t>
            </a:r>
          </a:p>
          <a:p>
            <a:pPr>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The WHERE clause extends the SELECT statement by providing the language to restrict rows returned based on one or more conditions.</a:t>
            </a:r>
          </a:p>
          <a:p>
            <a:pPr>
              <a:lnSpc>
                <a:spcPct val="150000"/>
              </a:lnSpc>
            </a:pPr>
            <a:endParaRPr lang="en-US" altLang="en-US" sz="20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The </a:t>
            </a:r>
            <a:r>
              <a:rPr lang="en-US" altLang="en-US" sz="2000" b="1" dirty="0">
                <a:latin typeface="Tahoma" panose="020B0604030504040204" pitchFamily="34" charset="0"/>
                <a:ea typeface="Tahoma" panose="020B0604030504040204" pitchFamily="34" charset="0"/>
                <a:cs typeface="Tahoma" panose="020B0604030504040204" pitchFamily="34" charset="0"/>
              </a:rPr>
              <a:t>WHERE</a:t>
            </a:r>
            <a:r>
              <a:rPr lang="en-US" altLang="en-US" sz="2000" dirty="0">
                <a:latin typeface="Tahoma" panose="020B0604030504040204" pitchFamily="34" charset="0"/>
                <a:ea typeface="Tahoma" panose="020B0604030504040204" pitchFamily="34" charset="0"/>
                <a:cs typeface="Tahoma" panose="020B0604030504040204" pitchFamily="34" charset="0"/>
              </a:rPr>
              <a:t> clause follows the FROM clause.</a:t>
            </a:r>
          </a:p>
        </p:txBody>
      </p:sp>
      <p:sp>
        <p:nvSpPr>
          <p:cNvPr id="9" name="Rectangle 4">
            <a:extLst>
              <a:ext uri="{FF2B5EF4-FFF2-40B4-BE49-F238E27FC236}">
                <a16:creationId xmlns:a16="http://schemas.microsoft.com/office/drawing/2014/main" id="{9713848E-96EF-46E0-B0B3-72C3FC8C1EE6}"/>
              </a:ext>
            </a:extLst>
          </p:cNvPr>
          <p:cNvSpPr>
            <a:spLocks noChangeArrowheads="1"/>
          </p:cNvSpPr>
          <p:nvPr/>
        </p:nvSpPr>
        <p:spPr bwMode="blackGray">
          <a:xfrm>
            <a:off x="4327145" y="2226859"/>
            <a:ext cx="7262813" cy="92392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*|{[DISTINCT] </a:t>
            </a:r>
            <a:r>
              <a:rPr lang="en-US" altLang="en-US" i="1" dirty="0" err="1"/>
              <a:t>column|expression</a:t>
            </a:r>
            <a:r>
              <a:rPr lang="en-US" altLang="en-US" dirty="0"/>
              <a:t> [</a:t>
            </a:r>
            <a:r>
              <a:rPr lang="en-US" altLang="en-US" i="1" dirty="0"/>
              <a:t>alias</a:t>
            </a:r>
            <a:r>
              <a:rPr lang="en-US" altLang="en-US" dirty="0"/>
              <a:t>],...}</a:t>
            </a:r>
          </a:p>
          <a:p>
            <a:r>
              <a:rPr lang="en-US" altLang="en-US" dirty="0"/>
              <a:t>FROM   </a:t>
            </a:r>
            <a:r>
              <a:rPr lang="en-US" altLang="en-US" i="1" dirty="0"/>
              <a:t>table</a:t>
            </a:r>
            <a:endParaRPr lang="en-US" altLang="en-US" dirty="0"/>
          </a:p>
          <a:p>
            <a:r>
              <a:rPr lang="en-US" altLang="en-US" dirty="0"/>
              <a:t>[WHERE </a:t>
            </a:r>
            <a:r>
              <a:rPr lang="en-US" altLang="en-US" i="1" dirty="0"/>
              <a:t>condition(s)</a:t>
            </a:r>
            <a:r>
              <a:rPr lang="en-US" altLang="en-US" dirty="0"/>
              <a:t>];</a:t>
            </a:r>
          </a:p>
        </p:txBody>
      </p:sp>
      <p:sp>
        <p:nvSpPr>
          <p:cNvPr id="10" name="Rectangle 5">
            <a:extLst>
              <a:ext uri="{FF2B5EF4-FFF2-40B4-BE49-F238E27FC236}">
                <a16:creationId xmlns:a16="http://schemas.microsoft.com/office/drawing/2014/main" id="{4ADDD596-4F00-40AD-8ECF-8D844893A0E2}"/>
              </a:ext>
            </a:extLst>
          </p:cNvPr>
          <p:cNvSpPr>
            <a:spLocks noChangeArrowheads="1"/>
          </p:cNvSpPr>
          <p:nvPr/>
        </p:nvSpPr>
        <p:spPr bwMode="gray">
          <a:xfrm>
            <a:off x="4406518" y="2803120"/>
            <a:ext cx="2971800" cy="29845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1" name="Rectangle 2">
            <a:extLst>
              <a:ext uri="{FF2B5EF4-FFF2-40B4-BE49-F238E27FC236}">
                <a16:creationId xmlns:a16="http://schemas.microsoft.com/office/drawing/2014/main" id="{D1BFF5FF-1EB5-45E7-9DF7-EB0924799393}"/>
              </a:ext>
            </a:extLst>
          </p:cNvPr>
          <p:cNvSpPr>
            <a:spLocks noChangeArrowheads="1"/>
          </p:cNvSpPr>
          <p:nvPr/>
        </p:nvSpPr>
        <p:spPr bwMode="blackGray">
          <a:xfrm>
            <a:off x="679861" y="3871174"/>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employee_id</a:t>
            </a:r>
            <a:r>
              <a:rPr lang="en-US" altLang="en-US" dirty="0"/>
              <a:t>, </a:t>
            </a:r>
            <a:r>
              <a:rPr lang="en-US" altLang="en-US" dirty="0" err="1"/>
              <a:t>last_name</a:t>
            </a:r>
            <a:r>
              <a:rPr lang="en-US" altLang="en-US" dirty="0"/>
              <a:t>, </a:t>
            </a:r>
            <a:r>
              <a:rPr lang="en-US" altLang="en-US" dirty="0" err="1"/>
              <a:t>job_id</a:t>
            </a:r>
            <a:r>
              <a:rPr lang="en-US" altLang="en-US" dirty="0"/>
              <a:t>, </a:t>
            </a:r>
            <a:r>
              <a:rPr lang="en-US" altLang="en-US" dirty="0" err="1"/>
              <a:t>department_id</a:t>
            </a:r>
            <a:endParaRPr lang="en-US" altLang="en-US" dirty="0"/>
          </a:p>
          <a:p>
            <a:r>
              <a:rPr lang="en-US" altLang="en-US" dirty="0"/>
              <a:t>FROM   employees</a:t>
            </a:r>
          </a:p>
          <a:p>
            <a:r>
              <a:rPr lang="en-US" altLang="en-US" dirty="0"/>
              <a:t>WHERE  </a:t>
            </a:r>
            <a:r>
              <a:rPr lang="en-US" altLang="en-US" dirty="0" err="1"/>
              <a:t>department_id</a:t>
            </a:r>
            <a:r>
              <a:rPr lang="en-US" altLang="en-US" dirty="0"/>
              <a:t> = 90 ;</a:t>
            </a:r>
          </a:p>
        </p:txBody>
      </p:sp>
      <p:sp>
        <p:nvSpPr>
          <p:cNvPr id="12" name="Rectangle 4">
            <a:extLst>
              <a:ext uri="{FF2B5EF4-FFF2-40B4-BE49-F238E27FC236}">
                <a16:creationId xmlns:a16="http://schemas.microsoft.com/office/drawing/2014/main" id="{E23C2033-3B1F-473C-B9BC-337BA7BB18B5}"/>
              </a:ext>
            </a:extLst>
          </p:cNvPr>
          <p:cNvSpPr>
            <a:spLocks noChangeArrowheads="1"/>
          </p:cNvSpPr>
          <p:nvPr/>
        </p:nvSpPr>
        <p:spPr bwMode="gray">
          <a:xfrm>
            <a:off x="717963" y="4480774"/>
            <a:ext cx="3586163" cy="26987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pic>
        <p:nvPicPr>
          <p:cNvPr id="13" name="Picture 7" descr="C:\project-SQLFund1\images\img-02-05.gif">
            <a:extLst>
              <a:ext uri="{FF2B5EF4-FFF2-40B4-BE49-F238E27FC236}">
                <a16:creationId xmlns:a16="http://schemas.microsoft.com/office/drawing/2014/main" id="{2FED13B9-6794-400F-9A86-1D3AA59C28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983994" y="5161017"/>
            <a:ext cx="4640263"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5895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12</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Character Strings and Dates Rows</a:t>
            </a:r>
          </a:p>
        </p:txBody>
      </p:sp>
      <p:sp>
        <p:nvSpPr>
          <p:cNvPr id="14" name="Rectangle 2">
            <a:extLst>
              <a:ext uri="{FF2B5EF4-FFF2-40B4-BE49-F238E27FC236}">
                <a16:creationId xmlns:a16="http://schemas.microsoft.com/office/drawing/2014/main" id="{CB858100-0E75-451C-A6A7-90435BA040FA}"/>
              </a:ext>
            </a:extLst>
          </p:cNvPr>
          <p:cNvSpPr>
            <a:spLocks noChangeArrowheads="1"/>
          </p:cNvSpPr>
          <p:nvPr/>
        </p:nvSpPr>
        <p:spPr bwMode="blackGray">
          <a:xfrm>
            <a:off x="1473124" y="3521414"/>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job_id, department_id</a:t>
            </a:r>
          </a:p>
          <a:p>
            <a:r>
              <a:rPr lang="en-US" altLang="en-US"/>
              <a:t>FROM   employees</a:t>
            </a:r>
          </a:p>
          <a:p>
            <a:r>
              <a:rPr lang="en-US" altLang="en-US"/>
              <a:t>WHERE  last_name = 'Whalen' ;</a:t>
            </a:r>
          </a:p>
        </p:txBody>
      </p:sp>
      <p:sp>
        <p:nvSpPr>
          <p:cNvPr id="15" name="Rectangle 7">
            <a:extLst>
              <a:ext uri="{FF2B5EF4-FFF2-40B4-BE49-F238E27FC236}">
                <a16:creationId xmlns:a16="http://schemas.microsoft.com/office/drawing/2014/main" id="{997A5C76-B5E0-4E5A-B7AA-F13AF6AAB154}"/>
              </a:ext>
            </a:extLst>
          </p:cNvPr>
          <p:cNvSpPr txBox="1">
            <a:spLocks noChangeArrowheads="1"/>
          </p:cNvSpPr>
          <p:nvPr/>
        </p:nvSpPr>
        <p:spPr>
          <a:xfrm>
            <a:off x="0" y="907232"/>
            <a:ext cx="12023387" cy="24293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Character strings and date values are enclosed with single quotation marks.</a:t>
            </a:r>
          </a:p>
          <a:p>
            <a:pPr marL="457200" indent="-4572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Character values are case-sensitive and date values are format-sensitive.</a:t>
            </a:r>
          </a:p>
          <a:p>
            <a:pPr marL="457200" indent="-4572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The default date display format is DD-MON-YY.</a:t>
            </a:r>
          </a:p>
        </p:txBody>
      </p:sp>
      <p:sp>
        <p:nvSpPr>
          <p:cNvPr id="16" name="Rectangle 5">
            <a:extLst>
              <a:ext uri="{FF2B5EF4-FFF2-40B4-BE49-F238E27FC236}">
                <a16:creationId xmlns:a16="http://schemas.microsoft.com/office/drawing/2014/main" id="{B7118FED-5B6B-4750-8B6F-FE82DB2274EA}"/>
              </a:ext>
            </a:extLst>
          </p:cNvPr>
          <p:cNvSpPr>
            <a:spLocks noChangeArrowheads="1"/>
          </p:cNvSpPr>
          <p:nvPr/>
        </p:nvSpPr>
        <p:spPr bwMode="gray">
          <a:xfrm>
            <a:off x="4124251" y="4088150"/>
            <a:ext cx="1171575" cy="290512"/>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7" name="Rectangle 9">
            <a:extLst>
              <a:ext uri="{FF2B5EF4-FFF2-40B4-BE49-F238E27FC236}">
                <a16:creationId xmlns:a16="http://schemas.microsoft.com/office/drawing/2014/main" id="{39EBBFE3-5A01-44E5-BBBB-D22C3D4C2C91}"/>
              </a:ext>
            </a:extLst>
          </p:cNvPr>
          <p:cNvSpPr>
            <a:spLocks noChangeArrowheads="1"/>
          </p:cNvSpPr>
          <p:nvPr/>
        </p:nvSpPr>
        <p:spPr bwMode="blackGray">
          <a:xfrm>
            <a:off x="1504874" y="4740614"/>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a:t>
            </a:r>
          </a:p>
          <a:p>
            <a:r>
              <a:rPr lang="en-US" altLang="en-US"/>
              <a:t>FROM   employees</a:t>
            </a:r>
          </a:p>
          <a:p>
            <a:r>
              <a:rPr lang="en-US" altLang="en-US"/>
              <a:t>WHERE  hire_date = '17-FEB-96' ;</a:t>
            </a:r>
          </a:p>
        </p:txBody>
      </p:sp>
      <p:sp>
        <p:nvSpPr>
          <p:cNvPr id="18" name="Rectangle 10">
            <a:extLst>
              <a:ext uri="{FF2B5EF4-FFF2-40B4-BE49-F238E27FC236}">
                <a16:creationId xmlns:a16="http://schemas.microsoft.com/office/drawing/2014/main" id="{C9CDA7AB-9CB4-4E8E-9857-46F6D04D0AD3}"/>
              </a:ext>
            </a:extLst>
          </p:cNvPr>
          <p:cNvSpPr>
            <a:spLocks noChangeArrowheads="1"/>
          </p:cNvSpPr>
          <p:nvPr/>
        </p:nvSpPr>
        <p:spPr bwMode="gray">
          <a:xfrm>
            <a:off x="4171874" y="5274012"/>
            <a:ext cx="1600200" cy="3810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344033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13</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Character Strings and Dates Rows</a:t>
            </a:r>
          </a:p>
        </p:txBody>
      </p:sp>
      <p:sp>
        <p:nvSpPr>
          <p:cNvPr id="14" name="Rectangle 2">
            <a:extLst>
              <a:ext uri="{FF2B5EF4-FFF2-40B4-BE49-F238E27FC236}">
                <a16:creationId xmlns:a16="http://schemas.microsoft.com/office/drawing/2014/main" id="{CB858100-0E75-451C-A6A7-90435BA040FA}"/>
              </a:ext>
            </a:extLst>
          </p:cNvPr>
          <p:cNvSpPr>
            <a:spLocks noChangeArrowheads="1"/>
          </p:cNvSpPr>
          <p:nvPr/>
        </p:nvSpPr>
        <p:spPr bwMode="blackGray">
          <a:xfrm>
            <a:off x="1473124" y="3521414"/>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job_id, department_id</a:t>
            </a:r>
          </a:p>
          <a:p>
            <a:r>
              <a:rPr lang="en-US" altLang="en-US"/>
              <a:t>FROM   employees</a:t>
            </a:r>
          </a:p>
          <a:p>
            <a:r>
              <a:rPr lang="en-US" altLang="en-US"/>
              <a:t>WHERE  last_name = 'Whalen' ;</a:t>
            </a:r>
          </a:p>
        </p:txBody>
      </p:sp>
      <p:sp>
        <p:nvSpPr>
          <p:cNvPr id="15" name="Rectangle 7">
            <a:extLst>
              <a:ext uri="{FF2B5EF4-FFF2-40B4-BE49-F238E27FC236}">
                <a16:creationId xmlns:a16="http://schemas.microsoft.com/office/drawing/2014/main" id="{997A5C76-B5E0-4E5A-B7AA-F13AF6AAB154}"/>
              </a:ext>
            </a:extLst>
          </p:cNvPr>
          <p:cNvSpPr txBox="1">
            <a:spLocks noChangeArrowheads="1"/>
          </p:cNvSpPr>
          <p:nvPr/>
        </p:nvSpPr>
        <p:spPr>
          <a:xfrm>
            <a:off x="0" y="907232"/>
            <a:ext cx="12023387" cy="24293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Character strings and date values are enclosed with single quotation marks.</a:t>
            </a:r>
          </a:p>
          <a:p>
            <a:pPr marL="457200" indent="-4572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Character values are case-sensitive and date values are format-sensitive.</a:t>
            </a:r>
          </a:p>
          <a:p>
            <a:pPr marL="457200" indent="-4572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The default date display format is DD-MON-YY.</a:t>
            </a:r>
          </a:p>
        </p:txBody>
      </p:sp>
      <p:sp>
        <p:nvSpPr>
          <p:cNvPr id="16" name="Rectangle 5">
            <a:extLst>
              <a:ext uri="{FF2B5EF4-FFF2-40B4-BE49-F238E27FC236}">
                <a16:creationId xmlns:a16="http://schemas.microsoft.com/office/drawing/2014/main" id="{B7118FED-5B6B-4750-8B6F-FE82DB2274EA}"/>
              </a:ext>
            </a:extLst>
          </p:cNvPr>
          <p:cNvSpPr>
            <a:spLocks noChangeArrowheads="1"/>
          </p:cNvSpPr>
          <p:nvPr/>
        </p:nvSpPr>
        <p:spPr bwMode="gray">
          <a:xfrm>
            <a:off x="4124251" y="4088150"/>
            <a:ext cx="1171575" cy="290512"/>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7" name="Rectangle 9">
            <a:extLst>
              <a:ext uri="{FF2B5EF4-FFF2-40B4-BE49-F238E27FC236}">
                <a16:creationId xmlns:a16="http://schemas.microsoft.com/office/drawing/2014/main" id="{39EBBFE3-5A01-44E5-BBBB-D22C3D4C2C91}"/>
              </a:ext>
            </a:extLst>
          </p:cNvPr>
          <p:cNvSpPr>
            <a:spLocks noChangeArrowheads="1"/>
          </p:cNvSpPr>
          <p:nvPr/>
        </p:nvSpPr>
        <p:spPr bwMode="blackGray">
          <a:xfrm>
            <a:off x="1504874" y="4740614"/>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a:t>
            </a:r>
          </a:p>
          <a:p>
            <a:r>
              <a:rPr lang="en-US" altLang="en-US"/>
              <a:t>FROM   employees</a:t>
            </a:r>
          </a:p>
          <a:p>
            <a:r>
              <a:rPr lang="en-US" altLang="en-US"/>
              <a:t>WHERE  hire_date = '17-FEB-96' ;</a:t>
            </a:r>
          </a:p>
        </p:txBody>
      </p:sp>
      <p:sp>
        <p:nvSpPr>
          <p:cNvPr id="18" name="Rectangle 10">
            <a:extLst>
              <a:ext uri="{FF2B5EF4-FFF2-40B4-BE49-F238E27FC236}">
                <a16:creationId xmlns:a16="http://schemas.microsoft.com/office/drawing/2014/main" id="{C9CDA7AB-9CB4-4E8E-9857-46F6D04D0AD3}"/>
              </a:ext>
            </a:extLst>
          </p:cNvPr>
          <p:cNvSpPr>
            <a:spLocks noChangeArrowheads="1"/>
          </p:cNvSpPr>
          <p:nvPr/>
        </p:nvSpPr>
        <p:spPr bwMode="gray">
          <a:xfrm>
            <a:off x="4171874" y="5274012"/>
            <a:ext cx="1600200" cy="3810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655720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BF9822-E81C-4021-BDE1-B069D02BC26A}"/>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8B77FD99-22D3-4600-838A-F0B7933A7256}"/>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D406294B-2656-4727-A5F4-1F4B0965837D}"/>
              </a:ext>
            </a:extLst>
          </p:cNvPr>
          <p:cNvSpPr>
            <a:spLocks noGrp="1"/>
          </p:cNvSpPr>
          <p:nvPr>
            <p:ph type="sldNum" sz="quarter" idx="4"/>
          </p:nvPr>
        </p:nvSpPr>
        <p:spPr/>
        <p:txBody>
          <a:bodyPr/>
          <a:lstStyle/>
          <a:p>
            <a:fld id="{48F63A3B-78C7-47BE-AE5E-E10140E04643}" type="slidenum">
              <a:rPr lang="en-US" smtClean="0"/>
              <a:pPr/>
              <a:t>14</a:t>
            </a:fld>
            <a:endParaRPr lang="en-US" dirty="0"/>
          </a:p>
        </p:txBody>
      </p:sp>
      <p:sp>
        <p:nvSpPr>
          <p:cNvPr id="7" name="TextBox 6">
            <a:extLst>
              <a:ext uri="{FF2B5EF4-FFF2-40B4-BE49-F238E27FC236}">
                <a16:creationId xmlns:a16="http://schemas.microsoft.com/office/drawing/2014/main" id="{547777A9-5275-4165-8964-6DFB13CD7A99}"/>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Using the ORDER BY Clause</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8" name="Rectangle 12">
            <a:extLst>
              <a:ext uri="{FF2B5EF4-FFF2-40B4-BE49-F238E27FC236}">
                <a16:creationId xmlns:a16="http://schemas.microsoft.com/office/drawing/2014/main" id="{7F3812BF-1B5A-4630-82CE-E8360C9FFDDE}"/>
              </a:ext>
            </a:extLst>
          </p:cNvPr>
          <p:cNvSpPr txBox="1">
            <a:spLocks noChangeArrowheads="1"/>
          </p:cNvSpPr>
          <p:nvPr/>
        </p:nvSpPr>
        <p:spPr>
          <a:xfrm>
            <a:off x="204281" y="1153691"/>
            <a:ext cx="11256523" cy="1492250"/>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latin typeface="Tahoma" panose="020B0604030504040204" pitchFamily="34" charset="0"/>
                <a:ea typeface="Tahoma" panose="020B0604030504040204" pitchFamily="34" charset="0"/>
                <a:cs typeface="Tahoma" panose="020B0604030504040204" pitchFamily="34" charset="0"/>
              </a:rPr>
              <a:t>Sort retrieved rows with the </a:t>
            </a:r>
            <a:r>
              <a:rPr lang="en-US" altLang="en-US" sz="2400" b="1" dirty="0">
                <a:latin typeface="Tahoma" panose="020B0604030504040204" pitchFamily="34" charset="0"/>
                <a:ea typeface="Tahoma" panose="020B0604030504040204" pitchFamily="34" charset="0"/>
                <a:cs typeface="Tahoma" panose="020B0604030504040204" pitchFamily="34" charset="0"/>
              </a:rPr>
              <a:t>ORDER BY </a:t>
            </a:r>
            <a:r>
              <a:rPr lang="en-US" altLang="en-US" sz="2400" dirty="0">
                <a:latin typeface="Tahoma" panose="020B0604030504040204" pitchFamily="34" charset="0"/>
                <a:ea typeface="Tahoma" panose="020B0604030504040204" pitchFamily="34" charset="0"/>
                <a:cs typeface="Tahoma" panose="020B0604030504040204" pitchFamily="34" charset="0"/>
              </a:rPr>
              <a:t>clause:</a:t>
            </a:r>
          </a:p>
          <a:p>
            <a:pPr lvl="1"/>
            <a:r>
              <a:rPr lang="en-US" altLang="en-US" sz="2200" b="1" dirty="0">
                <a:latin typeface="Tahoma" panose="020B0604030504040204" pitchFamily="34" charset="0"/>
                <a:ea typeface="Tahoma" panose="020B0604030504040204" pitchFamily="34" charset="0"/>
                <a:cs typeface="Tahoma" panose="020B0604030504040204" pitchFamily="34" charset="0"/>
              </a:rPr>
              <a:t>ASC</a:t>
            </a:r>
            <a:r>
              <a:rPr lang="en-US" altLang="en-US" sz="2200" dirty="0">
                <a:latin typeface="Tahoma" panose="020B0604030504040204" pitchFamily="34" charset="0"/>
                <a:ea typeface="Tahoma" panose="020B0604030504040204" pitchFamily="34" charset="0"/>
                <a:cs typeface="Tahoma" panose="020B0604030504040204" pitchFamily="34" charset="0"/>
              </a:rPr>
              <a:t>: Ascending order, default</a:t>
            </a:r>
          </a:p>
          <a:p>
            <a:pPr lvl="1"/>
            <a:r>
              <a:rPr lang="en-US" altLang="en-US" sz="2200" b="1" dirty="0">
                <a:latin typeface="Tahoma" panose="020B0604030504040204" pitchFamily="34" charset="0"/>
                <a:ea typeface="Tahoma" panose="020B0604030504040204" pitchFamily="34" charset="0"/>
                <a:cs typeface="Tahoma" panose="020B0604030504040204" pitchFamily="34" charset="0"/>
              </a:rPr>
              <a:t>DESC</a:t>
            </a:r>
            <a:r>
              <a:rPr lang="en-US" altLang="en-US" sz="2200" dirty="0">
                <a:latin typeface="Tahoma" panose="020B0604030504040204" pitchFamily="34" charset="0"/>
                <a:ea typeface="Tahoma" panose="020B0604030504040204" pitchFamily="34" charset="0"/>
                <a:cs typeface="Tahoma" panose="020B0604030504040204" pitchFamily="34" charset="0"/>
              </a:rPr>
              <a:t>: Descending order</a:t>
            </a:r>
          </a:p>
          <a:p>
            <a:r>
              <a:rPr lang="en-US" altLang="en-US" sz="2400" dirty="0">
                <a:latin typeface="Tahoma" panose="020B0604030504040204" pitchFamily="34" charset="0"/>
                <a:ea typeface="Tahoma" panose="020B0604030504040204" pitchFamily="34" charset="0"/>
                <a:cs typeface="Tahoma" panose="020B0604030504040204" pitchFamily="34" charset="0"/>
              </a:rPr>
              <a:t>The </a:t>
            </a:r>
            <a:r>
              <a:rPr lang="en-US" altLang="en-US" sz="2400" b="1" dirty="0">
                <a:latin typeface="Tahoma" panose="020B0604030504040204" pitchFamily="34" charset="0"/>
                <a:ea typeface="Tahoma" panose="020B0604030504040204" pitchFamily="34" charset="0"/>
                <a:cs typeface="Tahoma" panose="020B0604030504040204" pitchFamily="34" charset="0"/>
              </a:rPr>
              <a:t>ORDER</a:t>
            </a:r>
            <a:r>
              <a:rPr lang="en-US" altLang="en-US" sz="2400" dirty="0">
                <a:latin typeface="Tahoma" panose="020B0604030504040204" pitchFamily="34" charset="0"/>
                <a:ea typeface="Tahoma" panose="020B0604030504040204" pitchFamily="34" charset="0"/>
                <a:cs typeface="Tahoma" panose="020B0604030504040204" pitchFamily="34" charset="0"/>
              </a:rPr>
              <a:t> </a:t>
            </a:r>
            <a:r>
              <a:rPr lang="en-US" altLang="en-US" sz="2400" b="1" dirty="0">
                <a:latin typeface="Tahoma" panose="020B0604030504040204" pitchFamily="34" charset="0"/>
                <a:ea typeface="Tahoma" panose="020B0604030504040204" pitchFamily="34" charset="0"/>
                <a:cs typeface="Tahoma" panose="020B0604030504040204" pitchFamily="34" charset="0"/>
              </a:rPr>
              <a:t>BY</a:t>
            </a:r>
            <a:r>
              <a:rPr lang="en-US" altLang="en-US" sz="2400" dirty="0">
                <a:latin typeface="Tahoma" panose="020B0604030504040204" pitchFamily="34" charset="0"/>
                <a:ea typeface="Tahoma" panose="020B0604030504040204" pitchFamily="34" charset="0"/>
                <a:cs typeface="Tahoma" panose="020B0604030504040204" pitchFamily="34" charset="0"/>
              </a:rPr>
              <a:t> clause comes last in the </a:t>
            </a:r>
            <a:r>
              <a:rPr lang="en-US" altLang="en-US" sz="2400" b="1" dirty="0">
                <a:latin typeface="Tahoma" panose="020B0604030504040204" pitchFamily="34" charset="0"/>
                <a:ea typeface="Tahoma" panose="020B0604030504040204" pitchFamily="34" charset="0"/>
                <a:cs typeface="Tahoma" panose="020B0604030504040204" pitchFamily="34" charset="0"/>
              </a:rPr>
              <a:t>SELECT</a:t>
            </a:r>
            <a:r>
              <a:rPr lang="en-US" altLang="en-US" sz="2400" dirty="0">
                <a:latin typeface="Tahoma" panose="020B0604030504040204" pitchFamily="34" charset="0"/>
                <a:ea typeface="Tahoma" panose="020B0604030504040204" pitchFamily="34" charset="0"/>
                <a:cs typeface="Tahoma" panose="020B0604030504040204" pitchFamily="34" charset="0"/>
              </a:rPr>
              <a:t> statement:</a:t>
            </a:r>
          </a:p>
        </p:txBody>
      </p:sp>
      <p:sp>
        <p:nvSpPr>
          <p:cNvPr id="9" name="Rectangle 5">
            <a:extLst>
              <a:ext uri="{FF2B5EF4-FFF2-40B4-BE49-F238E27FC236}">
                <a16:creationId xmlns:a16="http://schemas.microsoft.com/office/drawing/2014/main" id="{0624F0EE-5E1B-4296-A739-5E9A10D7F0AC}"/>
              </a:ext>
            </a:extLst>
          </p:cNvPr>
          <p:cNvSpPr>
            <a:spLocks noChangeArrowheads="1"/>
          </p:cNvSpPr>
          <p:nvPr/>
        </p:nvSpPr>
        <p:spPr bwMode="blackGray">
          <a:xfrm>
            <a:off x="552111" y="2698964"/>
            <a:ext cx="7272338" cy="8794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job_id, department_id, hire_date</a:t>
            </a:r>
          </a:p>
          <a:p>
            <a:r>
              <a:rPr lang="en-US" altLang="en-US"/>
              <a:t>FROM     employees</a:t>
            </a:r>
          </a:p>
          <a:p>
            <a:r>
              <a:rPr lang="en-US" altLang="en-US"/>
              <a:t>ORDER BY hire_date ;</a:t>
            </a:r>
          </a:p>
        </p:txBody>
      </p:sp>
      <p:sp>
        <p:nvSpPr>
          <p:cNvPr id="10" name="Rectangle 6">
            <a:extLst>
              <a:ext uri="{FF2B5EF4-FFF2-40B4-BE49-F238E27FC236}">
                <a16:creationId xmlns:a16="http://schemas.microsoft.com/office/drawing/2014/main" id="{FDF62F01-86BB-48A0-9CED-F53980F322C4}"/>
              </a:ext>
            </a:extLst>
          </p:cNvPr>
          <p:cNvSpPr>
            <a:spLocks noChangeArrowheads="1"/>
          </p:cNvSpPr>
          <p:nvPr/>
        </p:nvSpPr>
        <p:spPr bwMode="gray">
          <a:xfrm>
            <a:off x="617425" y="3274430"/>
            <a:ext cx="2597150" cy="26193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2" name="Rectangle 4">
            <a:extLst>
              <a:ext uri="{FF2B5EF4-FFF2-40B4-BE49-F238E27FC236}">
                <a16:creationId xmlns:a16="http://schemas.microsoft.com/office/drawing/2014/main" id="{F2DD89CB-E9EA-41B6-8472-8DC06F8C9531}"/>
              </a:ext>
            </a:extLst>
          </p:cNvPr>
          <p:cNvSpPr>
            <a:spLocks noChangeArrowheads="1"/>
          </p:cNvSpPr>
          <p:nvPr/>
        </p:nvSpPr>
        <p:spPr bwMode="blackGray">
          <a:xfrm>
            <a:off x="540999" y="3928551"/>
            <a:ext cx="7283450" cy="8794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job_id, department_id, hire_date</a:t>
            </a:r>
          </a:p>
          <a:p>
            <a:r>
              <a:rPr lang="en-US" altLang="en-US"/>
              <a:t>FROM     employees</a:t>
            </a:r>
          </a:p>
          <a:p>
            <a:r>
              <a:rPr lang="en-US" altLang="en-US"/>
              <a:t>ORDER BY hire_date DESC ;</a:t>
            </a:r>
          </a:p>
        </p:txBody>
      </p:sp>
      <p:sp>
        <p:nvSpPr>
          <p:cNvPr id="13" name="Rectangle 5">
            <a:extLst>
              <a:ext uri="{FF2B5EF4-FFF2-40B4-BE49-F238E27FC236}">
                <a16:creationId xmlns:a16="http://schemas.microsoft.com/office/drawing/2014/main" id="{EF1FC0E1-A0B7-4E16-8DB2-D73A85A48DA6}"/>
              </a:ext>
            </a:extLst>
          </p:cNvPr>
          <p:cNvSpPr>
            <a:spLocks noChangeArrowheads="1"/>
          </p:cNvSpPr>
          <p:nvPr/>
        </p:nvSpPr>
        <p:spPr bwMode="gray">
          <a:xfrm>
            <a:off x="3160374" y="4480999"/>
            <a:ext cx="681038" cy="27463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4" name="Oval 6">
            <a:extLst>
              <a:ext uri="{FF2B5EF4-FFF2-40B4-BE49-F238E27FC236}">
                <a16:creationId xmlns:a16="http://schemas.microsoft.com/office/drawing/2014/main" id="{F0C2467F-327A-45A0-B03E-106BF8AC3443}"/>
              </a:ext>
            </a:extLst>
          </p:cNvPr>
          <p:cNvSpPr>
            <a:spLocks noChangeArrowheads="1"/>
          </p:cNvSpPr>
          <p:nvPr/>
        </p:nvSpPr>
        <p:spPr bwMode="blackWhite">
          <a:xfrm>
            <a:off x="7237074" y="4247637"/>
            <a:ext cx="490538" cy="493712"/>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defRPr b="1">
                <a:solidFill>
                  <a:srgbClr val="000000"/>
                </a:solidFill>
                <a:latin typeface="Courier New" panose="02070309020205020404" pitchFamily="49" charset="0"/>
              </a:defRPr>
            </a:lvl1pPr>
            <a:lvl2pPr marL="742950" indent="-285750" defTabSz="822325">
              <a:defRPr b="1">
                <a:solidFill>
                  <a:srgbClr val="000000"/>
                </a:solidFill>
                <a:latin typeface="Courier New" panose="02070309020205020404" pitchFamily="49" charset="0"/>
              </a:defRPr>
            </a:lvl2pPr>
            <a:lvl3pPr marL="1143000" indent="-228600" defTabSz="822325">
              <a:defRPr b="1">
                <a:solidFill>
                  <a:srgbClr val="000000"/>
                </a:solidFill>
                <a:latin typeface="Courier New" panose="02070309020205020404" pitchFamily="49" charset="0"/>
              </a:defRPr>
            </a:lvl3pPr>
            <a:lvl4pPr marL="1600200" indent="-228600" defTabSz="822325">
              <a:defRPr b="1">
                <a:solidFill>
                  <a:srgbClr val="000000"/>
                </a:solidFill>
                <a:latin typeface="Courier New" panose="02070309020205020404" pitchFamily="49" charset="0"/>
              </a:defRPr>
            </a:lvl4pPr>
            <a:lvl5pPr marL="2057400" indent="-228600" defTabSz="822325">
              <a:defRPr b="1">
                <a:solidFill>
                  <a:srgbClr val="000000"/>
                </a:solidFill>
                <a:latin typeface="Courier New" panose="02070309020205020404" pitchFamily="49" charset="0"/>
              </a:defRPr>
            </a:lvl5pPr>
            <a:lvl6pPr marL="2514600" indent="-228600" defTabSz="822325" eaLnBrk="0" fontAlgn="base" hangingPunct="0">
              <a:spcBef>
                <a:spcPct val="0"/>
              </a:spcBef>
              <a:spcAft>
                <a:spcPct val="0"/>
              </a:spcAft>
              <a:defRPr b="1">
                <a:solidFill>
                  <a:srgbClr val="000000"/>
                </a:solidFill>
                <a:latin typeface="Courier New" panose="02070309020205020404" pitchFamily="49" charset="0"/>
              </a:defRPr>
            </a:lvl6pPr>
            <a:lvl7pPr marL="2971800" indent="-228600" defTabSz="822325" eaLnBrk="0" fontAlgn="base" hangingPunct="0">
              <a:spcBef>
                <a:spcPct val="0"/>
              </a:spcBef>
              <a:spcAft>
                <a:spcPct val="0"/>
              </a:spcAft>
              <a:defRPr b="1">
                <a:solidFill>
                  <a:srgbClr val="000000"/>
                </a:solidFill>
                <a:latin typeface="Courier New" panose="02070309020205020404" pitchFamily="49" charset="0"/>
              </a:defRPr>
            </a:lvl7pPr>
            <a:lvl8pPr marL="3429000" indent="-228600" defTabSz="822325" eaLnBrk="0" fontAlgn="base" hangingPunct="0">
              <a:spcBef>
                <a:spcPct val="0"/>
              </a:spcBef>
              <a:spcAft>
                <a:spcPct val="0"/>
              </a:spcAft>
              <a:defRPr b="1">
                <a:solidFill>
                  <a:srgbClr val="000000"/>
                </a:solidFill>
                <a:latin typeface="Courier New" panose="02070309020205020404" pitchFamily="49" charset="0"/>
              </a:defRPr>
            </a:lvl8pPr>
            <a:lvl9pPr marL="3886200" indent="-228600" defTabSz="822325" eaLnBrk="0" fontAlgn="base" hangingPunct="0">
              <a:spcBef>
                <a:spcPct val="0"/>
              </a:spcBef>
              <a:spcAft>
                <a:spcPct val="0"/>
              </a:spcAft>
              <a:defRPr b="1">
                <a:solidFill>
                  <a:srgbClr val="000000"/>
                </a:solidFill>
                <a:latin typeface="Courier New" panose="02070309020205020404" pitchFamily="49" charset="0"/>
              </a:defRPr>
            </a:lvl9pPr>
          </a:lstStyle>
          <a:p>
            <a:pPr algn="ctr">
              <a:lnSpc>
                <a:spcPct val="95000"/>
              </a:lnSpc>
            </a:pPr>
            <a:r>
              <a:rPr lang="en-US" altLang="en-US" sz="2400">
                <a:solidFill>
                  <a:schemeClr val="tx1"/>
                </a:solidFill>
                <a:latin typeface="Arial" panose="020B0604020202020204" pitchFamily="34" charset="0"/>
              </a:rPr>
              <a:t>1</a:t>
            </a:r>
          </a:p>
        </p:txBody>
      </p:sp>
      <p:sp>
        <p:nvSpPr>
          <p:cNvPr id="15" name="Rectangle 7">
            <a:extLst>
              <a:ext uri="{FF2B5EF4-FFF2-40B4-BE49-F238E27FC236}">
                <a16:creationId xmlns:a16="http://schemas.microsoft.com/office/drawing/2014/main" id="{68D6316F-53E5-4AFA-84D4-6ACE14F8988B}"/>
              </a:ext>
            </a:extLst>
          </p:cNvPr>
          <p:cNvSpPr>
            <a:spLocks noChangeArrowheads="1"/>
          </p:cNvSpPr>
          <p:nvPr/>
        </p:nvSpPr>
        <p:spPr bwMode="blackGray">
          <a:xfrm>
            <a:off x="552111" y="5099126"/>
            <a:ext cx="7272338" cy="1046871"/>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employee_id</a:t>
            </a:r>
            <a:r>
              <a:rPr lang="en-US" altLang="en-US" dirty="0"/>
              <a:t>, </a:t>
            </a:r>
            <a:r>
              <a:rPr lang="en-US" altLang="en-US" dirty="0" err="1"/>
              <a:t>last_name</a:t>
            </a:r>
            <a:r>
              <a:rPr lang="en-US" altLang="en-US" dirty="0"/>
              <a:t>, salary*12 </a:t>
            </a:r>
            <a:r>
              <a:rPr lang="en-US" altLang="en-US" dirty="0" err="1"/>
              <a:t>annsal</a:t>
            </a:r>
            <a:endParaRPr lang="en-US" altLang="en-US" dirty="0"/>
          </a:p>
          <a:p>
            <a:r>
              <a:rPr lang="en-US" altLang="en-US" dirty="0"/>
              <a:t>FROM   employees</a:t>
            </a:r>
          </a:p>
          <a:p>
            <a:r>
              <a:rPr lang="en-US" altLang="en-US" dirty="0"/>
              <a:t>ORDER BY </a:t>
            </a:r>
            <a:r>
              <a:rPr lang="en-US" altLang="en-US" dirty="0" err="1"/>
              <a:t>annsal</a:t>
            </a:r>
            <a:r>
              <a:rPr lang="en-US" altLang="en-US" dirty="0"/>
              <a:t> ;</a:t>
            </a:r>
          </a:p>
        </p:txBody>
      </p:sp>
      <p:sp>
        <p:nvSpPr>
          <p:cNvPr id="16" name="Rectangle 8">
            <a:extLst>
              <a:ext uri="{FF2B5EF4-FFF2-40B4-BE49-F238E27FC236}">
                <a16:creationId xmlns:a16="http://schemas.microsoft.com/office/drawing/2014/main" id="{00209D43-1FF3-46FE-AA81-CE0970BEAA7C}"/>
              </a:ext>
            </a:extLst>
          </p:cNvPr>
          <p:cNvSpPr>
            <a:spLocks noChangeArrowheads="1"/>
          </p:cNvSpPr>
          <p:nvPr/>
        </p:nvSpPr>
        <p:spPr bwMode="gray">
          <a:xfrm>
            <a:off x="6182609" y="5239172"/>
            <a:ext cx="1011465" cy="20732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7" name="Oval 10">
            <a:extLst>
              <a:ext uri="{FF2B5EF4-FFF2-40B4-BE49-F238E27FC236}">
                <a16:creationId xmlns:a16="http://schemas.microsoft.com/office/drawing/2014/main" id="{DBAF0E0E-BB5B-46F6-8C63-3E406917F631}"/>
              </a:ext>
            </a:extLst>
          </p:cNvPr>
          <p:cNvSpPr>
            <a:spLocks noChangeArrowheads="1"/>
          </p:cNvSpPr>
          <p:nvPr/>
        </p:nvSpPr>
        <p:spPr bwMode="blackWhite">
          <a:xfrm>
            <a:off x="7235487" y="5427039"/>
            <a:ext cx="493712" cy="493712"/>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defRPr b="1">
                <a:solidFill>
                  <a:srgbClr val="000000"/>
                </a:solidFill>
                <a:latin typeface="Courier New" panose="02070309020205020404" pitchFamily="49" charset="0"/>
              </a:defRPr>
            </a:lvl1pPr>
            <a:lvl2pPr marL="742950" indent="-285750" defTabSz="822325">
              <a:defRPr b="1">
                <a:solidFill>
                  <a:srgbClr val="000000"/>
                </a:solidFill>
                <a:latin typeface="Courier New" panose="02070309020205020404" pitchFamily="49" charset="0"/>
              </a:defRPr>
            </a:lvl2pPr>
            <a:lvl3pPr marL="1143000" indent="-228600" defTabSz="822325">
              <a:defRPr b="1">
                <a:solidFill>
                  <a:srgbClr val="000000"/>
                </a:solidFill>
                <a:latin typeface="Courier New" panose="02070309020205020404" pitchFamily="49" charset="0"/>
              </a:defRPr>
            </a:lvl3pPr>
            <a:lvl4pPr marL="1600200" indent="-228600" defTabSz="822325">
              <a:defRPr b="1">
                <a:solidFill>
                  <a:srgbClr val="000000"/>
                </a:solidFill>
                <a:latin typeface="Courier New" panose="02070309020205020404" pitchFamily="49" charset="0"/>
              </a:defRPr>
            </a:lvl4pPr>
            <a:lvl5pPr marL="2057400" indent="-228600" defTabSz="822325">
              <a:defRPr b="1">
                <a:solidFill>
                  <a:srgbClr val="000000"/>
                </a:solidFill>
                <a:latin typeface="Courier New" panose="02070309020205020404" pitchFamily="49" charset="0"/>
              </a:defRPr>
            </a:lvl5pPr>
            <a:lvl6pPr marL="2514600" indent="-228600" defTabSz="822325" eaLnBrk="0" fontAlgn="base" hangingPunct="0">
              <a:spcBef>
                <a:spcPct val="0"/>
              </a:spcBef>
              <a:spcAft>
                <a:spcPct val="0"/>
              </a:spcAft>
              <a:defRPr b="1">
                <a:solidFill>
                  <a:srgbClr val="000000"/>
                </a:solidFill>
                <a:latin typeface="Courier New" panose="02070309020205020404" pitchFamily="49" charset="0"/>
              </a:defRPr>
            </a:lvl6pPr>
            <a:lvl7pPr marL="2971800" indent="-228600" defTabSz="822325" eaLnBrk="0" fontAlgn="base" hangingPunct="0">
              <a:spcBef>
                <a:spcPct val="0"/>
              </a:spcBef>
              <a:spcAft>
                <a:spcPct val="0"/>
              </a:spcAft>
              <a:defRPr b="1">
                <a:solidFill>
                  <a:srgbClr val="000000"/>
                </a:solidFill>
                <a:latin typeface="Courier New" panose="02070309020205020404" pitchFamily="49" charset="0"/>
              </a:defRPr>
            </a:lvl7pPr>
            <a:lvl8pPr marL="3429000" indent="-228600" defTabSz="822325" eaLnBrk="0" fontAlgn="base" hangingPunct="0">
              <a:spcBef>
                <a:spcPct val="0"/>
              </a:spcBef>
              <a:spcAft>
                <a:spcPct val="0"/>
              </a:spcAft>
              <a:defRPr b="1">
                <a:solidFill>
                  <a:srgbClr val="000000"/>
                </a:solidFill>
                <a:latin typeface="Courier New" panose="02070309020205020404" pitchFamily="49" charset="0"/>
              </a:defRPr>
            </a:lvl8pPr>
            <a:lvl9pPr marL="3886200" indent="-228600" defTabSz="822325" eaLnBrk="0" fontAlgn="base" hangingPunct="0">
              <a:spcBef>
                <a:spcPct val="0"/>
              </a:spcBef>
              <a:spcAft>
                <a:spcPct val="0"/>
              </a:spcAft>
              <a:defRPr b="1">
                <a:solidFill>
                  <a:srgbClr val="000000"/>
                </a:solidFill>
                <a:latin typeface="Courier New" panose="02070309020205020404" pitchFamily="49" charset="0"/>
              </a:defRPr>
            </a:lvl9pPr>
          </a:lstStyle>
          <a:p>
            <a:pPr algn="ctr">
              <a:lnSpc>
                <a:spcPct val="95000"/>
              </a:lnSpc>
            </a:pPr>
            <a:r>
              <a:rPr lang="en-US" altLang="en-US" sz="2400">
                <a:solidFill>
                  <a:schemeClr val="tx1"/>
                </a:solidFill>
                <a:latin typeface="Arial" panose="020B0604020202020204" pitchFamily="34" charset="0"/>
              </a:rPr>
              <a:t>2</a:t>
            </a:r>
          </a:p>
        </p:txBody>
      </p:sp>
      <p:sp>
        <p:nvSpPr>
          <p:cNvPr id="18" name="Rectangle 5">
            <a:extLst>
              <a:ext uri="{FF2B5EF4-FFF2-40B4-BE49-F238E27FC236}">
                <a16:creationId xmlns:a16="http://schemas.microsoft.com/office/drawing/2014/main" id="{D8166D22-CCE9-452C-97AE-0ADE701A4DB0}"/>
              </a:ext>
            </a:extLst>
          </p:cNvPr>
          <p:cNvSpPr>
            <a:spLocks noChangeArrowheads="1"/>
          </p:cNvSpPr>
          <p:nvPr/>
        </p:nvSpPr>
        <p:spPr bwMode="gray">
          <a:xfrm>
            <a:off x="1844110" y="5784905"/>
            <a:ext cx="894897" cy="22774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2133753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4E9492-246B-441F-9A34-F23E095CBAAB}"/>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95BC13A9-BD70-4CB8-9E56-47460FE746CC}"/>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12FF0CAB-FF38-4449-823A-62E54FD0E701}"/>
              </a:ext>
            </a:extLst>
          </p:cNvPr>
          <p:cNvSpPr>
            <a:spLocks noGrp="1"/>
          </p:cNvSpPr>
          <p:nvPr>
            <p:ph type="sldNum" sz="quarter" idx="4"/>
          </p:nvPr>
        </p:nvSpPr>
        <p:spPr/>
        <p:txBody>
          <a:bodyPr/>
          <a:lstStyle/>
          <a:p>
            <a:fld id="{48F63A3B-78C7-47BE-AE5E-E10140E04643}" type="slidenum">
              <a:rPr lang="en-US" smtClean="0"/>
              <a:pPr/>
              <a:t>15</a:t>
            </a:fld>
            <a:endParaRPr lang="en-US" dirty="0"/>
          </a:p>
        </p:txBody>
      </p:sp>
      <p:sp>
        <p:nvSpPr>
          <p:cNvPr id="5" name="Rectangle 2051">
            <a:extLst>
              <a:ext uri="{FF2B5EF4-FFF2-40B4-BE49-F238E27FC236}">
                <a16:creationId xmlns:a16="http://schemas.microsoft.com/office/drawing/2014/main" id="{01C3190C-BD29-4C91-AB67-3E84AD0DB3CA}"/>
              </a:ext>
            </a:extLst>
          </p:cNvPr>
          <p:cNvSpPr txBox="1">
            <a:spLocks noChangeArrowheads="1"/>
          </p:cNvSpPr>
          <p:nvPr/>
        </p:nvSpPr>
        <p:spPr>
          <a:xfrm>
            <a:off x="552111" y="1274290"/>
            <a:ext cx="7918450" cy="205581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dirty="0"/>
              <a:t>Sorting by using the column’s numeric position:</a:t>
            </a:r>
          </a:p>
          <a:p>
            <a:pPr lvl="1"/>
            <a:endParaRPr lang="en-US" altLang="en-US" dirty="0"/>
          </a:p>
          <a:p>
            <a:pPr lvl="1">
              <a:buFont typeface="Arial" panose="020B0604020202020204" pitchFamily="34" charset="0"/>
              <a:buNone/>
            </a:pPr>
            <a:br>
              <a:rPr lang="en-US" altLang="en-US" dirty="0"/>
            </a:br>
            <a:endParaRPr lang="en-US" altLang="en-US" dirty="0"/>
          </a:p>
          <a:p>
            <a:pPr lvl="1"/>
            <a:r>
              <a:rPr lang="en-US" altLang="en-US" dirty="0"/>
              <a:t>Sorting by multiple columns:</a:t>
            </a:r>
          </a:p>
        </p:txBody>
      </p:sp>
      <p:sp>
        <p:nvSpPr>
          <p:cNvPr id="6" name="Rectangle 2052">
            <a:extLst>
              <a:ext uri="{FF2B5EF4-FFF2-40B4-BE49-F238E27FC236}">
                <a16:creationId xmlns:a16="http://schemas.microsoft.com/office/drawing/2014/main" id="{B1FCC53F-3D28-430F-A79E-4EE3CE625143}"/>
              </a:ext>
            </a:extLst>
          </p:cNvPr>
          <p:cNvSpPr>
            <a:spLocks noChangeArrowheads="1"/>
          </p:cNvSpPr>
          <p:nvPr/>
        </p:nvSpPr>
        <p:spPr bwMode="blackGray">
          <a:xfrm>
            <a:off x="825161" y="1815629"/>
            <a:ext cx="7283450" cy="8794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last_name</a:t>
            </a:r>
            <a:r>
              <a:rPr lang="en-US" altLang="en-US" dirty="0"/>
              <a:t>, </a:t>
            </a:r>
            <a:r>
              <a:rPr lang="en-US" altLang="en-US" dirty="0" err="1"/>
              <a:t>job_id</a:t>
            </a:r>
            <a:r>
              <a:rPr lang="en-US" altLang="en-US" dirty="0"/>
              <a:t>, </a:t>
            </a:r>
            <a:r>
              <a:rPr lang="en-US" altLang="en-US" dirty="0" err="1"/>
              <a:t>department_id</a:t>
            </a:r>
            <a:r>
              <a:rPr lang="en-US" altLang="en-US" dirty="0"/>
              <a:t>, </a:t>
            </a:r>
            <a:r>
              <a:rPr lang="en-US" altLang="en-US" dirty="0" err="1"/>
              <a:t>hire_date</a:t>
            </a:r>
            <a:endParaRPr lang="en-US" altLang="en-US" dirty="0"/>
          </a:p>
          <a:p>
            <a:r>
              <a:rPr lang="en-US" altLang="en-US" dirty="0"/>
              <a:t>FROM     employees</a:t>
            </a:r>
          </a:p>
          <a:p>
            <a:r>
              <a:rPr lang="en-US" altLang="en-US" dirty="0"/>
              <a:t>ORDER BY 3;</a:t>
            </a:r>
          </a:p>
        </p:txBody>
      </p:sp>
      <p:sp>
        <p:nvSpPr>
          <p:cNvPr id="7" name="Rectangle 2053">
            <a:extLst>
              <a:ext uri="{FF2B5EF4-FFF2-40B4-BE49-F238E27FC236}">
                <a16:creationId xmlns:a16="http://schemas.microsoft.com/office/drawing/2014/main" id="{ED91B92E-1B36-44EF-9FD1-1B8E856AE489}"/>
              </a:ext>
            </a:extLst>
          </p:cNvPr>
          <p:cNvSpPr>
            <a:spLocks noChangeArrowheads="1"/>
          </p:cNvSpPr>
          <p:nvPr/>
        </p:nvSpPr>
        <p:spPr bwMode="gray">
          <a:xfrm>
            <a:off x="2076111" y="2415702"/>
            <a:ext cx="457200" cy="2286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8" name="Oval 2054">
            <a:extLst>
              <a:ext uri="{FF2B5EF4-FFF2-40B4-BE49-F238E27FC236}">
                <a16:creationId xmlns:a16="http://schemas.microsoft.com/office/drawing/2014/main" id="{D84C0349-623D-4F8F-A4F0-2279FF27D516}"/>
              </a:ext>
            </a:extLst>
          </p:cNvPr>
          <p:cNvSpPr>
            <a:spLocks noChangeArrowheads="1"/>
          </p:cNvSpPr>
          <p:nvPr/>
        </p:nvSpPr>
        <p:spPr bwMode="blackWhite">
          <a:xfrm>
            <a:off x="7521236" y="2134715"/>
            <a:ext cx="490538" cy="493712"/>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defRPr b="1">
                <a:solidFill>
                  <a:srgbClr val="000000"/>
                </a:solidFill>
                <a:latin typeface="Courier New" panose="02070309020205020404" pitchFamily="49" charset="0"/>
              </a:defRPr>
            </a:lvl1pPr>
            <a:lvl2pPr marL="742950" indent="-285750" defTabSz="822325">
              <a:defRPr b="1">
                <a:solidFill>
                  <a:srgbClr val="000000"/>
                </a:solidFill>
                <a:latin typeface="Courier New" panose="02070309020205020404" pitchFamily="49" charset="0"/>
              </a:defRPr>
            </a:lvl2pPr>
            <a:lvl3pPr marL="1143000" indent="-228600" defTabSz="822325">
              <a:defRPr b="1">
                <a:solidFill>
                  <a:srgbClr val="000000"/>
                </a:solidFill>
                <a:latin typeface="Courier New" panose="02070309020205020404" pitchFamily="49" charset="0"/>
              </a:defRPr>
            </a:lvl3pPr>
            <a:lvl4pPr marL="1600200" indent="-228600" defTabSz="822325">
              <a:defRPr b="1">
                <a:solidFill>
                  <a:srgbClr val="000000"/>
                </a:solidFill>
                <a:latin typeface="Courier New" panose="02070309020205020404" pitchFamily="49" charset="0"/>
              </a:defRPr>
            </a:lvl4pPr>
            <a:lvl5pPr marL="2057400" indent="-228600" defTabSz="822325">
              <a:defRPr b="1">
                <a:solidFill>
                  <a:srgbClr val="000000"/>
                </a:solidFill>
                <a:latin typeface="Courier New" panose="02070309020205020404" pitchFamily="49" charset="0"/>
              </a:defRPr>
            </a:lvl5pPr>
            <a:lvl6pPr marL="2514600" indent="-228600" defTabSz="822325" eaLnBrk="0" fontAlgn="base" hangingPunct="0">
              <a:spcBef>
                <a:spcPct val="0"/>
              </a:spcBef>
              <a:spcAft>
                <a:spcPct val="0"/>
              </a:spcAft>
              <a:defRPr b="1">
                <a:solidFill>
                  <a:srgbClr val="000000"/>
                </a:solidFill>
                <a:latin typeface="Courier New" panose="02070309020205020404" pitchFamily="49" charset="0"/>
              </a:defRPr>
            </a:lvl6pPr>
            <a:lvl7pPr marL="2971800" indent="-228600" defTabSz="822325" eaLnBrk="0" fontAlgn="base" hangingPunct="0">
              <a:spcBef>
                <a:spcPct val="0"/>
              </a:spcBef>
              <a:spcAft>
                <a:spcPct val="0"/>
              </a:spcAft>
              <a:defRPr b="1">
                <a:solidFill>
                  <a:srgbClr val="000000"/>
                </a:solidFill>
                <a:latin typeface="Courier New" panose="02070309020205020404" pitchFamily="49" charset="0"/>
              </a:defRPr>
            </a:lvl7pPr>
            <a:lvl8pPr marL="3429000" indent="-228600" defTabSz="822325" eaLnBrk="0" fontAlgn="base" hangingPunct="0">
              <a:spcBef>
                <a:spcPct val="0"/>
              </a:spcBef>
              <a:spcAft>
                <a:spcPct val="0"/>
              </a:spcAft>
              <a:defRPr b="1">
                <a:solidFill>
                  <a:srgbClr val="000000"/>
                </a:solidFill>
                <a:latin typeface="Courier New" panose="02070309020205020404" pitchFamily="49" charset="0"/>
              </a:defRPr>
            </a:lvl8pPr>
            <a:lvl9pPr marL="3886200" indent="-228600" defTabSz="822325" eaLnBrk="0" fontAlgn="base" hangingPunct="0">
              <a:spcBef>
                <a:spcPct val="0"/>
              </a:spcBef>
              <a:spcAft>
                <a:spcPct val="0"/>
              </a:spcAft>
              <a:defRPr b="1">
                <a:solidFill>
                  <a:srgbClr val="000000"/>
                </a:solidFill>
                <a:latin typeface="Courier New" panose="02070309020205020404" pitchFamily="49" charset="0"/>
              </a:defRPr>
            </a:lvl9pPr>
          </a:lstStyle>
          <a:p>
            <a:pPr algn="ctr">
              <a:lnSpc>
                <a:spcPct val="95000"/>
              </a:lnSpc>
            </a:pPr>
            <a:r>
              <a:rPr lang="en-US" altLang="en-US" sz="2400">
                <a:solidFill>
                  <a:schemeClr val="tx1"/>
                </a:solidFill>
                <a:latin typeface="Arial" panose="020B0604020202020204" pitchFamily="34" charset="0"/>
              </a:rPr>
              <a:t>3</a:t>
            </a:r>
          </a:p>
        </p:txBody>
      </p:sp>
      <p:sp>
        <p:nvSpPr>
          <p:cNvPr id="9" name="Rectangle 2059">
            <a:extLst>
              <a:ext uri="{FF2B5EF4-FFF2-40B4-BE49-F238E27FC236}">
                <a16:creationId xmlns:a16="http://schemas.microsoft.com/office/drawing/2014/main" id="{D3E9DE24-74F2-4C56-85C4-B95582CB224F}"/>
              </a:ext>
            </a:extLst>
          </p:cNvPr>
          <p:cNvSpPr>
            <a:spLocks noChangeArrowheads="1"/>
          </p:cNvSpPr>
          <p:nvPr/>
        </p:nvSpPr>
        <p:spPr bwMode="blackGray">
          <a:xfrm>
            <a:off x="856911" y="3330104"/>
            <a:ext cx="7272338" cy="1020832"/>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department_id, salary</a:t>
            </a:r>
          </a:p>
          <a:p>
            <a:r>
              <a:rPr lang="en-US" altLang="en-US"/>
              <a:t>FROM   employees</a:t>
            </a:r>
          </a:p>
          <a:p>
            <a:r>
              <a:rPr lang="en-US" altLang="en-US"/>
              <a:t>ORDER BY department_id, salary DESC;</a:t>
            </a:r>
          </a:p>
        </p:txBody>
      </p:sp>
      <p:sp>
        <p:nvSpPr>
          <p:cNvPr id="10" name="Rectangle 2060">
            <a:extLst>
              <a:ext uri="{FF2B5EF4-FFF2-40B4-BE49-F238E27FC236}">
                <a16:creationId xmlns:a16="http://schemas.microsoft.com/office/drawing/2014/main" id="{BDE608FA-DA0D-4697-AB4D-5436C60173EA}"/>
              </a:ext>
            </a:extLst>
          </p:cNvPr>
          <p:cNvSpPr>
            <a:spLocks noChangeArrowheads="1"/>
          </p:cNvSpPr>
          <p:nvPr/>
        </p:nvSpPr>
        <p:spPr bwMode="gray">
          <a:xfrm>
            <a:off x="933113" y="3939702"/>
            <a:ext cx="4981575" cy="29845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1" name="Oval 2061">
            <a:extLst>
              <a:ext uri="{FF2B5EF4-FFF2-40B4-BE49-F238E27FC236}">
                <a16:creationId xmlns:a16="http://schemas.microsoft.com/office/drawing/2014/main" id="{ACDB7605-EDCC-4B76-BF5F-ACF26EE295B7}"/>
              </a:ext>
            </a:extLst>
          </p:cNvPr>
          <p:cNvSpPr>
            <a:spLocks noChangeArrowheads="1"/>
          </p:cNvSpPr>
          <p:nvPr/>
        </p:nvSpPr>
        <p:spPr bwMode="blackWhite">
          <a:xfrm>
            <a:off x="7486313" y="3634904"/>
            <a:ext cx="493713" cy="493713"/>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defRPr b="1">
                <a:solidFill>
                  <a:srgbClr val="000000"/>
                </a:solidFill>
                <a:latin typeface="Courier New" panose="02070309020205020404" pitchFamily="49" charset="0"/>
              </a:defRPr>
            </a:lvl1pPr>
            <a:lvl2pPr marL="742950" indent="-285750" defTabSz="822325">
              <a:defRPr b="1">
                <a:solidFill>
                  <a:srgbClr val="000000"/>
                </a:solidFill>
                <a:latin typeface="Courier New" panose="02070309020205020404" pitchFamily="49" charset="0"/>
              </a:defRPr>
            </a:lvl2pPr>
            <a:lvl3pPr marL="1143000" indent="-228600" defTabSz="822325">
              <a:defRPr b="1">
                <a:solidFill>
                  <a:srgbClr val="000000"/>
                </a:solidFill>
                <a:latin typeface="Courier New" panose="02070309020205020404" pitchFamily="49" charset="0"/>
              </a:defRPr>
            </a:lvl3pPr>
            <a:lvl4pPr marL="1600200" indent="-228600" defTabSz="822325">
              <a:defRPr b="1">
                <a:solidFill>
                  <a:srgbClr val="000000"/>
                </a:solidFill>
                <a:latin typeface="Courier New" panose="02070309020205020404" pitchFamily="49" charset="0"/>
              </a:defRPr>
            </a:lvl4pPr>
            <a:lvl5pPr marL="2057400" indent="-228600" defTabSz="822325">
              <a:defRPr b="1">
                <a:solidFill>
                  <a:srgbClr val="000000"/>
                </a:solidFill>
                <a:latin typeface="Courier New" panose="02070309020205020404" pitchFamily="49" charset="0"/>
              </a:defRPr>
            </a:lvl5pPr>
            <a:lvl6pPr marL="2514600" indent="-228600" defTabSz="822325" eaLnBrk="0" fontAlgn="base" hangingPunct="0">
              <a:spcBef>
                <a:spcPct val="0"/>
              </a:spcBef>
              <a:spcAft>
                <a:spcPct val="0"/>
              </a:spcAft>
              <a:defRPr b="1">
                <a:solidFill>
                  <a:srgbClr val="000000"/>
                </a:solidFill>
                <a:latin typeface="Courier New" panose="02070309020205020404" pitchFamily="49" charset="0"/>
              </a:defRPr>
            </a:lvl6pPr>
            <a:lvl7pPr marL="2971800" indent="-228600" defTabSz="822325" eaLnBrk="0" fontAlgn="base" hangingPunct="0">
              <a:spcBef>
                <a:spcPct val="0"/>
              </a:spcBef>
              <a:spcAft>
                <a:spcPct val="0"/>
              </a:spcAft>
              <a:defRPr b="1">
                <a:solidFill>
                  <a:srgbClr val="000000"/>
                </a:solidFill>
                <a:latin typeface="Courier New" panose="02070309020205020404" pitchFamily="49" charset="0"/>
              </a:defRPr>
            </a:lvl7pPr>
            <a:lvl8pPr marL="3429000" indent="-228600" defTabSz="822325" eaLnBrk="0" fontAlgn="base" hangingPunct="0">
              <a:spcBef>
                <a:spcPct val="0"/>
              </a:spcBef>
              <a:spcAft>
                <a:spcPct val="0"/>
              </a:spcAft>
              <a:defRPr b="1">
                <a:solidFill>
                  <a:srgbClr val="000000"/>
                </a:solidFill>
                <a:latin typeface="Courier New" panose="02070309020205020404" pitchFamily="49" charset="0"/>
              </a:defRPr>
            </a:lvl8pPr>
            <a:lvl9pPr marL="3886200" indent="-228600" defTabSz="822325" eaLnBrk="0" fontAlgn="base" hangingPunct="0">
              <a:spcBef>
                <a:spcPct val="0"/>
              </a:spcBef>
              <a:spcAft>
                <a:spcPct val="0"/>
              </a:spcAft>
              <a:defRPr b="1">
                <a:solidFill>
                  <a:srgbClr val="000000"/>
                </a:solidFill>
                <a:latin typeface="Courier New" panose="02070309020205020404" pitchFamily="49" charset="0"/>
              </a:defRPr>
            </a:lvl9pPr>
          </a:lstStyle>
          <a:p>
            <a:pPr algn="ctr">
              <a:lnSpc>
                <a:spcPct val="95000"/>
              </a:lnSpc>
            </a:pPr>
            <a:r>
              <a:rPr lang="en-US" altLang="en-US" sz="2400">
                <a:solidFill>
                  <a:schemeClr val="tx1"/>
                </a:solidFill>
                <a:latin typeface="Arial" panose="020B0604020202020204" pitchFamily="34" charset="0"/>
              </a:rPr>
              <a:t>4</a:t>
            </a:r>
          </a:p>
        </p:txBody>
      </p:sp>
      <p:sp>
        <p:nvSpPr>
          <p:cNvPr id="12" name="TextBox 11">
            <a:extLst>
              <a:ext uri="{FF2B5EF4-FFF2-40B4-BE49-F238E27FC236}">
                <a16:creationId xmlns:a16="http://schemas.microsoft.com/office/drawing/2014/main" id="{2CA9ECAB-0A5B-4179-96B1-AA1F8D231E9D}"/>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Using the ORDER BY Clause</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14" name="TextBox 13">
            <a:extLst>
              <a:ext uri="{FF2B5EF4-FFF2-40B4-BE49-F238E27FC236}">
                <a16:creationId xmlns:a16="http://schemas.microsoft.com/office/drawing/2014/main" id="{543C5BBE-BD3D-4E38-9FB2-AC80CEDC76F0}"/>
              </a:ext>
            </a:extLst>
          </p:cNvPr>
          <p:cNvSpPr txBox="1"/>
          <p:nvPr/>
        </p:nvSpPr>
        <p:spPr>
          <a:xfrm>
            <a:off x="731195" y="4709473"/>
            <a:ext cx="9951360" cy="1287532"/>
          </a:xfrm>
          <a:prstGeom prst="rect">
            <a:avLst/>
          </a:prstGeom>
          <a:noFill/>
        </p:spPr>
        <p:txBody>
          <a:bodyPr wrap="square">
            <a:spAutoFit/>
          </a:bodyPr>
          <a:lstStyle/>
          <a:p>
            <a:pPr>
              <a:lnSpc>
                <a:spcPct val="150000"/>
              </a:lnSpc>
            </a:pPr>
            <a:r>
              <a:rPr lang="en-US" dirty="0"/>
              <a:t>SELECT </a:t>
            </a:r>
            <a:r>
              <a:rPr lang="en-US" dirty="0" err="1"/>
              <a:t>Employee_id</a:t>
            </a:r>
            <a:r>
              <a:rPr lang="en-US" dirty="0"/>
              <a:t>, last_name, salary, </a:t>
            </a:r>
            <a:r>
              <a:rPr lang="en-US" dirty="0" err="1"/>
              <a:t>commission_pct</a:t>
            </a:r>
            <a:endParaRPr lang="en-US" dirty="0"/>
          </a:p>
          <a:p>
            <a:pPr>
              <a:lnSpc>
                <a:spcPct val="150000"/>
              </a:lnSpc>
            </a:pPr>
            <a:r>
              <a:rPr lang="en-US" dirty="0"/>
              <a:t>FROM employees</a:t>
            </a:r>
          </a:p>
          <a:p>
            <a:pPr>
              <a:lnSpc>
                <a:spcPct val="150000"/>
              </a:lnSpc>
            </a:pPr>
            <a:r>
              <a:rPr lang="en-US" dirty="0"/>
              <a:t>ORDER BY </a:t>
            </a:r>
            <a:r>
              <a:rPr lang="en-US" dirty="0" err="1"/>
              <a:t>commission_pct</a:t>
            </a:r>
            <a:r>
              <a:rPr lang="en-US" dirty="0"/>
              <a:t> ASC </a:t>
            </a:r>
            <a:r>
              <a:rPr lang="en-US" dirty="0">
                <a:solidFill>
                  <a:srgbClr val="0000FF"/>
                </a:solidFill>
              </a:rPr>
              <a:t>NULLS LAST/FIRST</a:t>
            </a:r>
            <a:r>
              <a:rPr lang="en-US" dirty="0"/>
              <a:t>, last_name DESC;</a:t>
            </a:r>
          </a:p>
        </p:txBody>
      </p:sp>
    </p:spTree>
    <p:extLst>
      <p:ext uri="{BB962C8B-B14F-4D97-AF65-F5344CB8AC3E}">
        <p14:creationId xmlns:p14="http://schemas.microsoft.com/office/powerpoint/2010/main" val="903514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16</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Limiting Rows Returned</a:t>
            </a:r>
          </a:p>
        </p:txBody>
      </p:sp>
      <p:sp>
        <p:nvSpPr>
          <p:cNvPr id="15" name="Rectangle 7">
            <a:extLst>
              <a:ext uri="{FF2B5EF4-FFF2-40B4-BE49-F238E27FC236}">
                <a16:creationId xmlns:a16="http://schemas.microsoft.com/office/drawing/2014/main" id="{997A5C76-B5E0-4E5A-B7AA-F13AF6AAB154}"/>
              </a:ext>
            </a:extLst>
          </p:cNvPr>
          <p:cNvSpPr txBox="1">
            <a:spLocks noChangeArrowheads="1"/>
          </p:cNvSpPr>
          <p:nvPr/>
        </p:nvSpPr>
        <p:spPr>
          <a:xfrm>
            <a:off x="84306" y="1048620"/>
            <a:ext cx="12023387" cy="505062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en-US" altLang="en-US" sz="2000" dirty="0">
                <a:latin typeface="Tahoma" panose="020B0604030504040204" pitchFamily="34" charset="0"/>
                <a:ea typeface="Tahoma" panose="020B0604030504040204" pitchFamily="34" charset="0"/>
                <a:cs typeface="Tahoma" panose="020B0604030504040204" pitchFamily="34" charset="0"/>
              </a:rPr>
              <a:t>The Fetch clause is used in conjunction with the select and order by clauses to limit the rows and retrieve a portion of the returning rows. </a:t>
            </a:r>
            <a:r>
              <a:rPr lang="en-US" sz="2000" dirty="0">
                <a:latin typeface="Tahoma" panose="020B0604030504040204" pitchFamily="34" charset="0"/>
                <a:ea typeface="Tahoma" panose="020B0604030504040204" pitchFamily="34" charset="0"/>
                <a:cs typeface="Tahoma" panose="020B0604030504040204" pitchFamily="34" charset="0"/>
              </a:rPr>
              <a:t>Use the OFFSET and FETCH clauses to limit the number of rows retrieved by specifying a certain number of rows or certain percent of rows to be retrieved. </a:t>
            </a:r>
          </a:p>
          <a:p>
            <a:pPr>
              <a:lnSpc>
                <a:spcPct val="160000"/>
              </a:lnSpc>
            </a:pPr>
            <a:r>
              <a:rPr lang="en-US" sz="2000" dirty="0">
                <a:latin typeface="Tahoma" panose="020B0604030504040204" pitchFamily="34" charset="0"/>
                <a:ea typeface="Tahoma" panose="020B0604030504040204" pitchFamily="34" charset="0"/>
                <a:cs typeface="Tahoma" panose="020B0604030504040204" pitchFamily="34" charset="0"/>
              </a:rPr>
              <a:t>The WHERE clause and FETCH clause are used to restrict the amount of rows returned in the query. </a:t>
            </a:r>
          </a:p>
          <a:p>
            <a:pPr>
              <a:lnSpc>
                <a:spcPct val="160000"/>
              </a:lnSpc>
            </a:pPr>
            <a:r>
              <a:rPr lang="en-US" sz="2000" dirty="0">
                <a:latin typeface="Tahoma" panose="020B0604030504040204" pitchFamily="34" charset="0"/>
                <a:ea typeface="Tahoma" panose="020B0604030504040204" pitchFamily="34" charset="0"/>
                <a:cs typeface="Tahoma" panose="020B0604030504040204" pitchFamily="34" charset="0"/>
              </a:rPr>
              <a:t>WHERE is used for filtering the rows; </a:t>
            </a:r>
          </a:p>
          <a:p>
            <a:pPr>
              <a:lnSpc>
                <a:spcPct val="160000"/>
              </a:lnSpc>
            </a:pPr>
            <a:r>
              <a:rPr lang="en-US" sz="2000" dirty="0">
                <a:latin typeface="Tahoma" panose="020B0604030504040204" pitchFamily="34" charset="0"/>
                <a:ea typeface="Tahoma" panose="020B0604030504040204" pitchFamily="34" charset="0"/>
                <a:cs typeface="Tahoma" panose="020B0604030504040204" pitchFamily="34" charset="0"/>
              </a:rPr>
              <a:t>FETCH is used for limiting the rows. </a:t>
            </a:r>
          </a:p>
          <a:p>
            <a:pPr>
              <a:lnSpc>
                <a:spcPct val="160000"/>
              </a:lnSpc>
            </a:pPr>
            <a:endParaRPr lang="en-US" sz="2000" dirty="0">
              <a:latin typeface="Tahoma" panose="020B0604030504040204" pitchFamily="34" charset="0"/>
              <a:ea typeface="Tahoma" panose="020B0604030504040204" pitchFamily="34" charset="0"/>
              <a:cs typeface="Tahoma" panose="020B0604030504040204" pitchFamily="34" charset="0"/>
            </a:endParaRPr>
          </a:p>
          <a:p>
            <a:pPr>
              <a:lnSpc>
                <a:spcPct val="160000"/>
              </a:lnSpc>
            </a:pPr>
            <a:r>
              <a:rPr lang="en-US" sz="2000" dirty="0">
                <a:latin typeface="Tahoma" panose="020B0604030504040204" pitchFamily="34" charset="0"/>
                <a:ea typeface="Tahoma" panose="020B0604030504040204" pitchFamily="34" charset="0"/>
                <a:cs typeface="Tahoma" panose="020B0604030504040204" pitchFamily="34" charset="0"/>
              </a:rPr>
              <a:t>The OFFSET is used to skip a specified number of rows before the retrieval begins. </a:t>
            </a:r>
            <a:br>
              <a:rPr lang="en-US" sz="1400" dirty="0"/>
            </a:b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1" name="Rectangle 4">
            <a:extLst>
              <a:ext uri="{FF2B5EF4-FFF2-40B4-BE49-F238E27FC236}">
                <a16:creationId xmlns:a16="http://schemas.microsoft.com/office/drawing/2014/main" id="{3C73FE83-FC9B-4904-BD31-8EF564E51A92}"/>
              </a:ext>
            </a:extLst>
          </p:cNvPr>
          <p:cNvSpPr>
            <a:spLocks noChangeArrowheads="1"/>
          </p:cNvSpPr>
          <p:nvPr/>
        </p:nvSpPr>
        <p:spPr bwMode="blackGray">
          <a:xfrm>
            <a:off x="307538" y="4513634"/>
            <a:ext cx="10767667" cy="667997"/>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[OFFSET </a:t>
            </a:r>
            <a:r>
              <a:rPr lang="en-US" altLang="en-US" dirty="0" err="1"/>
              <a:t>rows_skip</a:t>
            </a:r>
            <a:r>
              <a:rPr lang="en-US" altLang="en-US" dirty="0"/>
              <a:t> ROW[S]]</a:t>
            </a:r>
          </a:p>
          <a:p>
            <a:r>
              <a:rPr lang="en-US" altLang="en-US" dirty="0"/>
              <a:t>FETCH [FIRST/NEXT] [</a:t>
            </a:r>
            <a:r>
              <a:rPr lang="en-US" altLang="en-US" dirty="0" err="1"/>
              <a:t>row_count</a:t>
            </a:r>
            <a:r>
              <a:rPr lang="en-US" altLang="en-US" dirty="0"/>
              <a:t> | Percent PERCENT] ROW[S] [ONLY} | WITH TIES];</a:t>
            </a:r>
          </a:p>
        </p:txBody>
      </p:sp>
    </p:spTree>
    <p:extLst>
      <p:ext uri="{BB962C8B-B14F-4D97-AF65-F5344CB8AC3E}">
        <p14:creationId xmlns:p14="http://schemas.microsoft.com/office/powerpoint/2010/main" val="4210521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17</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FETCH Rows Returned</a:t>
            </a:r>
          </a:p>
        </p:txBody>
      </p:sp>
      <p:sp>
        <p:nvSpPr>
          <p:cNvPr id="15" name="Rectangle 7">
            <a:extLst>
              <a:ext uri="{FF2B5EF4-FFF2-40B4-BE49-F238E27FC236}">
                <a16:creationId xmlns:a16="http://schemas.microsoft.com/office/drawing/2014/main" id="{997A5C76-B5E0-4E5A-B7AA-F13AF6AAB154}"/>
              </a:ext>
            </a:extLst>
          </p:cNvPr>
          <p:cNvSpPr txBox="1">
            <a:spLocks noChangeArrowheads="1"/>
          </p:cNvSpPr>
          <p:nvPr/>
        </p:nvSpPr>
        <p:spPr>
          <a:xfrm>
            <a:off x="84306" y="1010542"/>
            <a:ext cx="12023387" cy="145094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en-US" sz="2400" b="0" i="0" dirty="0">
                <a:solidFill>
                  <a:srgbClr val="242021"/>
                </a:solidFill>
                <a:effectLst/>
                <a:latin typeface="Tahoma" panose="020B0604030504040204" pitchFamily="34" charset="0"/>
                <a:ea typeface="Tahoma" panose="020B0604030504040204" pitchFamily="34" charset="0"/>
                <a:cs typeface="Tahoma" panose="020B0604030504040204" pitchFamily="34" charset="0"/>
              </a:rPr>
              <a:t>The following examples clarify the use of the row-limiting clauses in SELECT. </a:t>
            </a:r>
          </a:p>
          <a:p>
            <a:pPr>
              <a:lnSpc>
                <a:spcPct val="160000"/>
              </a:lnSpc>
            </a:pPr>
            <a:r>
              <a:rPr lang="en-US" sz="2400" b="0" i="0" dirty="0">
                <a:solidFill>
                  <a:srgbClr val="242021"/>
                </a:solidFill>
                <a:effectLst/>
                <a:latin typeface="Tahoma" panose="020B0604030504040204" pitchFamily="34" charset="0"/>
                <a:ea typeface="Tahoma" panose="020B0604030504040204" pitchFamily="34" charset="0"/>
                <a:cs typeface="Tahoma" panose="020B0604030504040204" pitchFamily="34" charset="0"/>
              </a:rPr>
              <a:t>First, show the top five salary-earned employees:</a:t>
            </a:r>
            <a:endParaRPr lang="en-US" altLang="en-US" dirty="0">
              <a:latin typeface="Tahoma" panose="020B0604030504040204" pitchFamily="34" charset="0"/>
              <a:ea typeface="Tahoma" panose="020B0604030504040204" pitchFamily="34" charset="0"/>
              <a:cs typeface="Tahoma" panose="020B0604030504040204" pitchFamily="34" charset="0"/>
            </a:endParaRPr>
          </a:p>
        </p:txBody>
      </p:sp>
      <p:sp>
        <p:nvSpPr>
          <p:cNvPr id="11" name="Rectangle 4">
            <a:extLst>
              <a:ext uri="{FF2B5EF4-FFF2-40B4-BE49-F238E27FC236}">
                <a16:creationId xmlns:a16="http://schemas.microsoft.com/office/drawing/2014/main" id="{3C73FE83-FC9B-4904-BD31-8EF564E51A92}"/>
              </a:ext>
            </a:extLst>
          </p:cNvPr>
          <p:cNvSpPr>
            <a:spLocks noChangeArrowheads="1"/>
          </p:cNvSpPr>
          <p:nvPr/>
        </p:nvSpPr>
        <p:spPr bwMode="blackGray">
          <a:xfrm>
            <a:off x="249171" y="2418791"/>
            <a:ext cx="10767667" cy="119650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dirty="0"/>
              <a:t>SELECT </a:t>
            </a:r>
            <a:r>
              <a:rPr lang="en-US" dirty="0" err="1"/>
              <a:t>first_name</a:t>
            </a:r>
            <a:r>
              <a:rPr lang="en-US" dirty="0"/>
              <a:t>, </a:t>
            </a:r>
            <a:r>
              <a:rPr lang="en-US" dirty="0" err="1"/>
              <a:t>department_id</a:t>
            </a:r>
            <a:r>
              <a:rPr lang="en-US" dirty="0"/>
              <a:t>, salary</a:t>
            </a:r>
            <a:br>
              <a:rPr lang="en-US" dirty="0"/>
            </a:br>
            <a:r>
              <a:rPr lang="en-US" dirty="0"/>
              <a:t>FROM employees</a:t>
            </a:r>
            <a:br>
              <a:rPr lang="en-US" dirty="0"/>
            </a:br>
            <a:r>
              <a:rPr lang="en-US" dirty="0"/>
              <a:t>ORDER BY salary DESC</a:t>
            </a:r>
            <a:br>
              <a:rPr lang="en-US" dirty="0"/>
            </a:br>
            <a:r>
              <a:rPr lang="en-US" dirty="0"/>
              <a:t>FETCH FIRST 5 ROWS ONLY;</a:t>
            </a:r>
            <a:endParaRPr lang="en-US" altLang="en-US" dirty="0"/>
          </a:p>
        </p:txBody>
      </p:sp>
      <p:sp>
        <p:nvSpPr>
          <p:cNvPr id="9" name="TextBox 8">
            <a:extLst>
              <a:ext uri="{FF2B5EF4-FFF2-40B4-BE49-F238E27FC236}">
                <a16:creationId xmlns:a16="http://schemas.microsoft.com/office/drawing/2014/main" id="{E804FAFC-E079-4816-8D86-51175EE9631E}"/>
              </a:ext>
            </a:extLst>
          </p:cNvPr>
          <p:cNvSpPr txBox="1"/>
          <p:nvPr/>
        </p:nvSpPr>
        <p:spPr>
          <a:xfrm>
            <a:off x="84306" y="3718303"/>
            <a:ext cx="11876093" cy="1477328"/>
          </a:xfrm>
          <a:prstGeom prst="rect">
            <a:avLst/>
          </a:prstGeom>
          <a:noFill/>
        </p:spPr>
        <p:txBody>
          <a:bodyPr wrap="square">
            <a:spAutoFit/>
          </a:bodyPr>
          <a:lstStyle/>
          <a:p>
            <a: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t>If there is a tie in the last row, using the WITH TIES clause instead of the ONLY clause will retrieve all rows with ties. The ONLY or WITH TIES keyword must always be used with the FETCH clause. </a:t>
            </a:r>
            <a:br>
              <a:rPr lang="en-US" dirty="0"/>
            </a:br>
            <a:endParaRPr lang="en-US" dirty="0"/>
          </a:p>
        </p:txBody>
      </p:sp>
      <p:sp>
        <p:nvSpPr>
          <p:cNvPr id="10" name="Rectangle 4">
            <a:extLst>
              <a:ext uri="{FF2B5EF4-FFF2-40B4-BE49-F238E27FC236}">
                <a16:creationId xmlns:a16="http://schemas.microsoft.com/office/drawing/2014/main" id="{C1EABF9D-CD6A-41A7-B155-FA3CA8346737}"/>
              </a:ext>
            </a:extLst>
          </p:cNvPr>
          <p:cNvSpPr>
            <a:spLocks noChangeArrowheads="1"/>
          </p:cNvSpPr>
          <p:nvPr/>
        </p:nvSpPr>
        <p:spPr bwMode="blackGray">
          <a:xfrm>
            <a:off x="249171" y="5023543"/>
            <a:ext cx="10767667" cy="119650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dirty="0"/>
              <a:t>SELECT </a:t>
            </a:r>
            <a:r>
              <a:rPr lang="en-US" dirty="0" err="1"/>
              <a:t>first_name</a:t>
            </a:r>
            <a:r>
              <a:rPr lang="en-US" dirty="0"/>
              <a:t>, </a:t>
            </a:r>
            <a:r>
              <a:rPr lang="en-US" dirty="0" err="1"/>
              <a:t>department_id</a:t>
            </a:r>
            <a:r>
              <a:rPr lang="en-US" dirty="0"/>
              <a:t>, salary</a:t>
            </a:r>
            <a:br>
              <a:rPr lang="en-US" dirty="0"/>
            </a:br>
            <a:r>
              <a:rPr lang="en-US" dirty="0"/>
              <a:t>FROM employees</a:t>
            </a:r>
            <a:br>
              <a:rPr lang="en-US" dirty="0"/>
            </a:br>
            <a:r>
              <a:rPr lang="en-US" dirty="0"/>
              <a:t>ORDER BY salary DESC</a:t>
            </a:r>
            <a:br>
              <a:rPr lang="en-US" dirty="0"/>
            </a:br>
            <a:r>
              <a:rPr lang="en-US" dirty="0"/>
              <a:t>FETCH FIRST 5 ROWS WITH TIES;</a:t>
            </a:r>
            <a:endParaRPr lang="en-US" altLang="en-US" dirty="0"/>
          </a:p>
        </p:txBody>
      </p:sp>
    </p:spTree>
    <p:extLst>
      <p:ext uri="{BB962C8B-B14F-4D97-AF65-F5344CB8AC3E}">
        <p14:creationId xmlns:p14="http://schemas.microsoft.com/office/powerpoint/2010/main" val="385699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18</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OFFSET Rows Returned</a:t>
            </a:r>
          </a:p>
        </p:txBody>
      </p:sp>
      <p:sp>
        <p:nvSpPr>
          <p:cNvPr id="15" name="Rectangle 7">
            <a:extLst>
              <a:ext uri="{FF2B5EF4-FFF2-40B4-BE49-F238E27FC236}">
                <a16:creationId xmlns:a16="http://schemas.microsoft.com/office/drawing/2014/main" id="{997A5C76-B5E0-4E5A-B7AA-F13AF6AAB154}"/>
              </a:ext>
            </a:extLst>
          </p:cNvPr>
          <p:cNvSpPr txBox="1">
            <a:spLocks noChangeArrowheads="1"/>
          </p:cNvSpPr>
          <p:nvPr/>
        </p:nvSpPr>
        <p:spPr>
          <a:xfrm>
            <a:off x="84306" y="1010542"/>
            <a:ext cx="12023387" cy="580703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t>The OFFSET clause is used to skip rows before the limiting begins. </a:t>
            </a:r>
          </a:p>
          <a:p>
            <a:pPr>
              <a:lnSpc>
                <a:spcPct val="160000"/>
              </a:lnSpc>
            </a:pPr>
            <a: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t>The following example shows the third through fifth position in salary:</a:t>
            </a:r>
            <a:b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br>
            <a:b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br>
            <a:endParaRPr lang="en-US" altLang="en-US" sz="2400" dirty="0">
              <a:solidFill>
                <a:srgbClr val="242021"/>
              </a:solidFill>
              <a:latin typeface="Tahoma" panose="020B0604030504040204" pitchFamily="34" charset="0"/>
              <a:ea typeface="Tahoma" panose="020B0604030504040204" pitchFamily="34" charset="0"/>
              <a:cs typeface="Tahoma" panose="020B0604030504040204" pitchFamily="34" charset="0"/>
            </a:endParaRPr>
          </a:p>
        </p:txBody>
      </p:sp>
      <p:sp>
        <p:nvSpPr>
          <p:cNvPr id="10" name="Rectangle 4">
            <a:extLst>
              <a:ext uri="{FF2B5EF4-FFF2-40B4-BE49-F238E27FC236}">
                <a16:creationId xmlns:a16="http://schemas.microsoft.com/office/drawing/2014/main" id="{C1EABF9D-CD6A-41A7-B155-FA3CA8346737}"/>
              </a:ext>
            </a:extLst>
          </p:cNvPr>
          <p:cNvSpPr>
            <a:spLocks noChangeArrowheads="1"/>
          </p:cNvSpPr>
          <p:nvPr/>
        </p:nvSpPr>
        <p:spPr bwMode="blackGray">
          <a:xfrm>
            <a:off x="552111" y="2834820"/>
            <a:ext cx="10767667" cy="161072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dirty="0"/>
              <a:t>SELECT </a:t>
            </a:r>
            <a:r>
              <a:rPr lang="en-US" dirty="0" err="1"/>
              <a:t>first_name</a:t>
            </a:r>
            <a:r>
              <a:rPr lang="en-US" dirty="0"/>
              <a:t>, </a:t>
            </a:r>
            <a:r>
              <a:rPr lang="en-US" dirty="0" err="1"/>
              <a:t>department_id</a:t>
            </a:r>
            <a:r>
              <a:rPr lang="en-US" dirty="0"/>
              <a:t>, salary</a:t>
            </a:r>
            <a:br>
              <a:rPr lang="en-US" dirty="0"/>
            </a:br>
            <a:r>
              <a:rPr lang="en-US" dirty="0"/>
              <a:t>FROM employees</a:t>
            </a:r>
            <a:br>
              <a:rPr lang="en-US" dirty="0"/>
            </a:br>
            <a:r>
              <a:rPr lang="en-US" dirty="0"/>
              <a:t>ORDER BY salary DESC</a:t>
            </a:r>
          </a:p>
          <a:p>
            <a:r>
              <a:rPr lang="en-US" dirty="0"/>
              <a:t>OFFSET 2 ROWS</a:t>
            </a:r>
            <a:br>
              <a:rPr lang="en-US" dirty="0"/>
            </a:br>
            <a:r>
              <a:rPr lang="en-US" dirty="0"/>
              <a:t>FETCH NEXT 5 ROWS WITH TIES;</a:t>
            </a:r>
            <a:endParaRPr lang="en-US" altLang="en-US" dirty="0"/>
          </a:p>
        </p:txBody>
      </p:sp>
    </p:spTree>
    <p:extLst>
      <p:ext uri="{BB962C8B-B14F-4D97-AF65-F5344CB8AC3E}">
        <p14:creationId xmlns:p14="http://schemas.microsoft.com/office/powerpoint/2010/main" val="1873920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D0C19-52F6-4232-B624-D900E9BB402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F166508F-EFDC-463C-8288-295CDF54C85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EFEEFE-21F0-4E7D-B74A-F0DE6F1765A2}"/>
              </a:ext>
            </a:extLst>
          </p:cNvPr>
          <p:cNvSpPr>
            <a:spLocks noGrp="1"/>
          </p:cNvSpPr>
          <p:nvPr>
            <p:ph type="sldNum" sz="quarter" idx="4"/>
          </p:nvPr>
        </p:nvSpPr>
        <p:spPr/>
        <p:txBody>
          <a:bodyPr/>
          <a:lstStyle/>
          <a:p>
            <a:fld id="{48F63A3B-78C7-47BE-AE5E-E10140E04643}" type="slidenum">
              <a:rPr lang="en-US" smtClean="0"/>
              <a:pPr/>
              <a:t>19</a:t>
            </a:fld>
            <a:endParaRPr lang="en-US" dirty="0"/>
          </a:p>
        </p:txBody>
      </p:sp>
      <p:sp>
        <p:nvSpPr>
          <p:cNvPr id="5" name="TextBox 4">
            <a:extLst>
              <a:ext uri="{FF2B5EF4-FFF2-40B4-BE49-F238E27FC236}">
                <a16:creationId xmlns:a16="http://schemas.microsoft.com/office/drawing/2014/main" id="{1C3F6D70-76C3-4F01-AF60-B862B02F077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Using PERCENT</a:t>
            </a:r>
          </a:p>
        </p:txBody>
      </p:sp>
      <p:sp>
        <p:nvSpPr>
          <p:cNvPr id="15" name="Rectangle 7">
            <a:extLst>
              <a:ext uri="{FF2B5EF4-FFF2-40B4-BE49-F238E27FC236}">
                <a16:creationId xmlns:a16="http://schemas.microsoft.com/office/drawing/2014/main" id="{997A5C76-B5E0-4E5A-B7AA-F13AF6AAB154}"/>
              </a:ext>
            </a:extLst>
          </p:cNvPr>
          <p:cNvSpPr txBox="1">
            <a:spLocks noChangeArrowheads="1"/>
          </p:cNvSpPr>
          <p:nvPr/>
        </p:nvSpPr>
        <p:spPr>
          <a:xfrm>
            <a:off x="84306" y="1010542"/>
            <a:ext cx="12023387" cy="580703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t>Instead of number of rows, you may limit using a PERCENT. The ONLY or WITH TIES keyword is a must whether using ROWS or PERCENT in the FETCH clause. </a:t>
            </a:r>
          </a:p>
          <a:p>
            <a:pPr>
              <a:lnSpc>
                <a:spcPct val="160000"/>
              </a:lnSpc>
            </a:pPr>
            <a: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t>The following example shows using PERCENT to retrieve 5 percent rows</a:t>
            </a:r>
            <a:b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br>
            <a: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t>from the EMPLOYEES table: </a:t>
            </a:r>
            <a:b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br>
            <a:b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br>
            <a:br>
              <a:rPr lang="en-US" sz="2400" dirty="0">
                <a:solidFill>
                  <a:srgbClr val="242021"/>
                </a:solidFill>
                <a:latin typeface="Tahoma" panose="020B0604030504040204" pitchFamily="34" charset="0"/>
                <a:ea typeface="Tahoma" panose="020B0604030504040204" pitchFamily="34" charset="0"/>
                <a:cs typeface="Tahoma" panose="020B0604030504040204" pitchFamily="34" charset="0"/>
              </a:rPr>
            </a:br>
            <a:endParaRPr lang="en-US" altLang="en-US" sz="2400" dirty="0">
              <a:solidFill>
                <a:srgbClr val="242021"/>
              </a:solidFill>
              <a:latin typeface="Tahoma" panose="020B0604030504040204" pitchFamily="34" charset="0"/>
              <a:ea typeface="Tahoma" panose="020B0604030504040204" pitchFamily="34" charset="0"/>
              <a:cs typeface="Tahoma" panose="020B0604030504040204" pitchFamily="34" charset="0"/>
            </a:endParaRPr>
          </a:p>
        </p:txBody>
      </p:sp>
      <p:sp>
        <p:nvSpPr>
          <p:cNvPr id="10" name="Rectangle 4">
            <a:extLst>
              <a:ext uri="{FF2B5EF4-FFF2-40B4-BE49-F238E27FC236}">
                <a16:creationId xmlns:a16="http://schemas.microsoft.com/office/drawing/2014/main" id="{C1EABF9D-CD6A-41A7-B155-FA3CA8346737}"/>
              </a:ext>
            </a:extLst>
          </p:cNvPr>
          <p:cNvSpPr>
            <a:spLocks noChangeArrowheads="1"/>
          </p:cNvSpPr>
          <p:nvPr/>
        </p:nvSpPr>
        <p:spPr bwMode="blackGray">
          <a:xfrm>
            <a:off x="404814" y="3960786"/>
            <a:ext cx="10767667" cy="161072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dirty="0"/>
              <a:t>SELECT </a:t>
            </a:r>
            <a:r>
              <a:rPr lang="en-US" dirty="0" err="1"/>
              <a:t>first_name</a:t>
            </a:r>
            <a:r>
              <a:rPr lang="en-US" dirty="0"/>
              <a:t>, </a:t>
            </a:r>
            <a:r>
              <a:rPr lang="en-US" dirty="0" err="1"/>
              <a:t>department_id</a:t>
            </a:r>
            <a:r>
              <a:rPr lang="en-US" dirty="0"/>
              <a:t>, salary</a:t>
            </a:r>
            <a:br>
              <a:rPr lang="en-US" dirty="0"/>
            </a:br>
            <a:r>
              <a:rPr lang="en-US" dirty="0"/>
              <a:t>FROM employees</a:t>
            </a:r>
            <a:br>
              <a:rPr lang="en-US" dirty="0"/>
            </a:br>
            <a:r>
              <a:rPr lang="en-US" dirty="0"/>
              <a:t>ORDER BY salary DESC</a:t>
            </a:r>
            <a:br>
              <a:rPr lang="en-US" dirty="0"/>
            </a:br>
            <a:r>
              <a:rPr lang="en-US" dirty="0"/>
              <a:t>FETCH FIRST 5 percent ROWS ONLY;</a:t>
            </a:r>
            <a:endParaRPr lang="en-US" altLang="en-US" dirty="0"/>
          </a:p>
        </p:txBody>
      </p:sp>
    </p:spTree>
    <p:extLst>
      <p:ext uri="{BB962C8B-B14F-4D97-AF65-F5344CB8AC3E}">
        <p14:creationId xmlns:p14="http://schemas.microsoft.com/office/powerpoint/2010/main" val="1997104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20</a:t>
            </a:fld>
            <a:endParaRPr lang="en-US" dirty="0"/>
          </a:p>
        </p:txBody>
      </p:sp>
      <p:sp>
        <p:nvSpPr>
          <p:cNvPr id="7" name="TextBox 6">
            <a:extLst>
              <a:ext uri="{FF2B5EF4-FFF2-40B4-BE49-F238E27FC236}">
                <a16:creationId xmlns:a16="http://schemas.microsoft.com/office/drawing/2014/main" id="{ADC27969-033A-4543-9285-D08577F47D74}"/>
              </a:ext>
            </a:extLst>
          </p:cNvPr>
          <p:cNvSpPr txBox="1"/>
          <p:nvPr/>
        </p:nvSpPr>
        <p:spPr>
          <a:xfrm>
            <a:off x="731195" y="213044"/>
            <a:ext cx="10729609"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Pseudo columns. </a:t>
            </a:r>
          </a:p>
        </p:txBody>
      </p:sp>
      <p:sp>
        <p:nvSpPr>
          <p:cNvPr id="8" name="Content Placeholder 2">
            <a:extLst>
              <a:ext uri="{FF2B5EF4-FFF2-40B4-BE49-F238E27FC236}">
                <a16:creationId xmlns:a16="http://schemas.microsoft.com/office/drawing/2014/main" id="{A509D396-32D4-4476-AF21-4A4D1E161A84}"/>
              </a:ext>
            </a:extLst>
          </p:cNvPr>
          <p:cNvSpPr txBox="1">
            <a:spLocks/>
          </p:cNvSpPr>
          <p:nvPr/>
        </p:nvSpPr>
        <p:spPr>
          <a:xfrm>
            <a:off x="84541" y="930401"/>
            <a:ext cx="11899935" cy="5283486"/>
          </a:xfrm>
          <a:prstGeom prst="rect">
            <a:avLst/>
          </a:prstGeom>
        </p:spPr>
        <p:txBody>
          <a:bodyPr>
            <a:normAutofit fontScale="77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Each row in an Oracle database has a unique row identifier, or </a:t>
            </a:r>
            <a:r>
              <a:rPr lang="en-US" sz="2400" b="1" dirty="0" err="1">
                <a:latin typeface="Tahoma" panose="020B0604030504040204" pitchFamily="34" charset="0"/>
                <a:ea typeface="Tahoma" panose="020B0604030504040204" pitchFamily="34" charset="0"/>
                <a:cs typeface="Tahoma" panose="020B0604030504040204" pitchFamily="34" charset="0"/>
              </a:rPr>
              <a:t>rowid</a:t>
            </a:r>
            <a:r>
              <a:rPr lang="en-US" sz="2400" dirty="0">
                <a:latin typeface="Tahoma" panose="020B0604030504040204" pitchFamily="34" charset="0"/>
                <a:ea typeface="Tahoma" panose="020B0604030504040204" pitchFamily="34" charset="0"/>
                <a:cs typeface="Tahoma" panose="020B0604030504040204" pitchFamily="34" charset="0"/>
              </a:rPr>
              <a:t>, which is used internally by the Oracle database to store the physical location of the row. </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A </a:t>
            </a:r>
            <a:r>
              <a:rPr lang="en-US" sz="2400" b="1" dirty="0" err="1">
                <a:latin typeface="Tahoma" panose="020B0604030504040204" pitchFamily="34" charset="0"/>
                <a:ea typeface="Tahoma" panose="020B0604030504040204" pitchFamily="34" charset="0"/>
                <a:cs typeface="Tahoma" panose="020B0604030504040204" pitchFamily="34" charset="0"/>
              </a:rPr>
              <a:t>rowid</a:t>
            </a:r>
            <a:r>
              <a:rPr lang="en-US" sz="2400" dirty="0">
                <a:latin typeface="Tahoma" panose="020B0604030504040204" pitchFamily="34" charset="0"/>
                <a:ea typeface="Tahoma" panose="020B0604030504040204" pitchFamily="34" charset="0"/>
                <a:cs typeface="Tahoma" panose="020B0604030504040204" pitchFamily="34" charset="0"/>
              </a:rPr>
              <a:t> is a unique identifier that contains the physical address of the row and its 18-digit number that is represented as a base-64 number that oracle generates automatically when row is inserted and its fastest way to access row is using ROWID and its permanent to every row and does not change the </a:t>
            </a:r>
            <a:r>
              <a:rPr lang="en-US" sz="2400" dirty="0" err="1">
                <a:latin typeface="Tahoma" panose="020B0604030504040204" pitchFamily="34" charset="0"/>
                <a:ea typeface="Tahoma" panose="020B0604030504040204" pitchFamily="34" charset="0"/>
                <a:cs typeface="Tahoma" panose="020B0604030504040204" pitchFamily="34" charset="0"/>
              </a:rPr>
              <a:t>rowid</a:t>
            </a:r>
            <a:r>
              <a:rPr lang="en-US" sz="2400" dirty="0">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You can view the </a:t>
            </a:r>
            <a:r>
              <a:rPr lang="en-US" sz="2400" dirty="0" err="1">
                <a:latin typeface="Tahoma" panose="020B0604030504040204" pitchFamily="34" charset="0"/>
                <a:ea typeface="Tahoma" panose="020B0604030504040204" pitchFamily="34" charset="0"/>
                <a:cs typeface="Tahoma" panose="020B0604030504040204" pitchFamily="34" charset="0"/>
              </a:rPr>
              <a:t>rowid</a:t>
            </a:r>
            <a:r>
              <a:rPr lang="en-US" sz="2400" dirty="0">
                <a:latin typeface="Tahoma" panose="020B0604030504040204" pitchFamily="34" charset="0"/>
                <a:ea typeface="Tahoma" panose="020B0604030504040204" pitchFamily="34" charset="0"/>
                <a:cs typeface="Tahoma" panose="020B0604030504040204" pitchFamily="34" charset="0"/>
              </a:rPr>
              <a:t> for rows in a table by retrieving the ROWID column in a query. </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When you describe a table using the SQL*Plus DESCRIBE command, ROWID doesn’t appear in the output from the command because it is only used internally by the database. </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ROWID is known as a </a:t>
            </a:r>
            <a:r>
              <a:rPr lang="en-US" sz="2400" i="1" dirty="0">
                <a:latin typeface="Tahoma" panose="020B0604030504040204" pitchFamily="34" charset="0"/>
                <a:ea typeface="Tahoma" panose="020B0604030504040204" pitchFamily="34" charset="0"/>
                <a:cs typeface="Tahoma" panose="020B0604030504040204" pitchFamily="34" charset="0"/>
              </a:rPr>
              <a:t>pseudo </a:t>
            </a:r>
            <a:r>
              <a:rPr lang="en-US" sz="2400" dirty="0">
                <a:latin typeface="Tahoma" panose="020B0604030504040204" pitchFamily="34" charset="0"/>
                <a:ea typeface="Tahoma" panose="020B0604030504040204" pitchFamily="34" charset="0"/>
                <a:cs typeface="Tahoma" panose="020B0604030504040204" pitchFamily="34" charset="0"/>
              </a:rPr>
              <a:t>column. </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The following example describes the Employee table; </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notice ROWID doesn’t appear in the output:</a:t>
            </a:r>
          </a:p>
          <a:p>
            <a:pPr>
              <a:lnSpc>
                <a:spcPct val="150000"/>
              </a:lnSpc>
            </a:pPr>
            <a:r>
              <a:rPr lang="en-US" sz="2400" b="1" dirty="0">
                <a:latin typeface="Tahoma" panose="020B0604030504040204" pitchFamily="34" charset="0"/>
                <a:ea typeface="Tahoma" panose="020B0604030504040204" pitchFamily="34" charset="0"/>
                <a:cs typeface="Tahoma" panose="020B0604030504040204" pitchFamily="34" charset="0"/>
              </a:rPr>
              <a:t>SELECT ROWID, </a:t>
            </a:r>
            <a:r>
              <a:rPr lang="en-US" sz="2400" b="1" dirty="0" err="1">
                <a:latin typeface="Tahoma" panose="020B0604030504040204" pitchFamily="34" charset="0"/>
                <a:ea typeface="Tahoma" panose="020B0604030504040204" pitchFamily="34" charset="0"/>
                <a:cs typeface="Tahoma" panose="020B0604030504040204" pitchFamily="34" charset="0"/>
              </a:rPr>
              <a:t>Emp_id</a:t>
            </a:r>
            <a:r>
              <a:rPr lang="en-US" sz="2400" b="1" dirty="0">
                <a:latin typeface="Tahoma" panose="020B0604030504040204" pitchFamily="34" charset="0"/>
                <a:ea typeface="Tahoma" panose="020B0604030504040204" pitchFamily="34" charset="0"/>
                <a:cs typeface="Tahoma" panose="020B0604030504040204" pitchFamily="34" charset="0"/>
              </a:rPr>
              <a:t> FROM emp;</a:t>
            </a:r>
            <a:r>
              <a:rPr lang="en-US" sz="2400" dirty="0">
                <a:latin typeface="Tahoma" panose="020B0604030504040204" pitchFamily="34" charset="0"/>
                <a:ea typeface="Tahoma" panose="020B0604030504040204" pitchFamily="34" charset="0"/>
                <a:cs typeface="Tahoma" panose="020B0604030504040204" pitchFamily="34" charset="0"/>
              </a:rPr>
              <a:t> </a:t>
            </a:r>
          </a:p>
        </p:txBody>
      </p:sp>
    </p:spTree>
    <p:extLst>
      <p:ext uri="{BB962C8B-B14F-4D97-AF65-F5344CB8AC3E}">
        <p14:creationId xmlns:p14="http://schemas.microsoft.com/office/powerpoint/2010/main" val="877764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21</a:t>
            </a:fld>
            <a:endParaRPr lang="en-US" dirty="0"/>
          </a:p>
        </p:txBody>
      </p:sp>
      <p:sp>
        <p:nvSpPr>
          <p:cNvPr id="8" name="Content Placeholder 2">
            <a:extLst>
              <a:ext uri="{FF2B5EF4-FFF2-40B4-BE49-F238E27FC236}">
                <a16:creationId xmlns:a16="http://schemas.microsoft.com/office/drawing/2014/main" id="{A509D396-32D4-4476-AF21-4A4D1E161A84}"/>
              </a:ext>
            </a:extLst>
          </p:cNvPr>
          <p:cNvSpPr txBox="1">
            <a:spLocks/>
          </p:cNvSpPr>
          <p:nvPr/>
        </p:nvSpPr>
        <p:spPr>
          <a:xfrm>
            <a:off x="84541" y="930401"/>
            <a:ext cx="11899935" cy="5283486"/>
          </a:xfrm>
          <a:prstGeom prst="rect">
            <a:avLst/>
          </a:prstGeom>
        </p:spPr>
        <p:txBody>
          <a:bodyPr>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Another pseudo column is ROWNUM which is nothing but its consecutive logical sequence number which is given to the rows fetched from the table and is used to limit rows returned from the table.</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However </a:t>
            </a:r>
            <a:r>
              <a:rPr lang="en-US" sz="2400" dirty="0" err="1">
                <a:latin typeface="Tahoma" panose="020B0604030504040204" pitchFamily="34" charset="0"/>
                <a:ea typeface="Tahoma" panose="020B0604030504040204" pitchFamily="34" charset="0"/>
                <a:cs typeface="Tahoma" panose="020B0604030504040204" pitchFamily="34" charset="0"/>
              </a:rPr>
              <a:t>rownum</a:t>
            </a:r>
            <a:r>
              <a:rPr lang="en-US" sz="2400" dirty="0">
                <a:latin typeface="Tahoma" panose="020B0604030504040204" pitchFamily="34" charset="0"/>
                <a:ea typeface="Tahoma" panose="020B0604030504040204" pitchFamily="34" charset="0"/>
                <a:cs typeface="Tahoma" panose="020B0604030504040204" pitchFamily="34" charset="0"/>
              </a:rPr>
              <a:t> is temporary and if you change the </a:t>
            </a:r>
            <a:r>
              <a:rPr lang="en-US" sz="2400" dirty="0" err="1">
                <a:latin typeface="Tahoma" panose="020B0604030504040204" pitchFamily="34" charset="0"/>
                <a:ea typeface="Tahoma" panose="020B0604030504040204" pitchFamily="34" charset="0"/>
                <a:cs typeface="Tahoma" panose="020B0604030504040204" pitchFamily="34" charset="0"/>
              </a:rPr>
              <a:t>rownum</a:t>
            </a:r>
            <a:r>
              <a:rPr lang="en-US" sz="2400" dirty="0">
                <a:latin typeface="Tahoma" panose="020B0604030504040204" pitchFamily="34" charset="0"/>
                <a:ea typeface="Tahoma" panose="020B0604030504040204" pitchFamily="34" charset="0"/>
                <a:cs typeface="Tahoma" panose="020B0604030504040204" pitchFamily="34" charset="0"/>
              </a:rPr>
              <a:t> will refer another row.</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You can think </a:t>
            </a:r>
            <a:r>
              <a:rPr lang="en-US" sz="2400" dirty="0" err="1">
                <a:latin typeface="Tahoma" panose="020B0604030504040204" pitchFamily="34" charset="0"/>
                <a:ea typeface="Tahoma" panose="020B0604030504040204" pitchFamily="34" charset="0"/>
                <a:cs typeface="Tahoma" panose="020B0604030504040204" pitchFamily="34" charset="0"/>
              </a:rPr>
              <a:t>rownum</a:t>
            </a:r>
            <a:r>
              <a:rPr lang="en-US" sz="2400" dirty="0">
                <a:latin typeface="Tahoma" panose="020B0604030504040204" pitchFamily="34" charset="0"/>
                <a:ea typeface="Tahoma" panose="020B0604030504040204" pitchFamily="34" charset="0"/>
                <a:cs typeface="Tahoma" panose="020B0604030504040204" pitchFamily="34" charset="0"/>
              </a:rPr>
              <a:t> values like the row number in a excel spreadsheet.</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The first row returned by a query has a row number of 1, the second has a row number of 2, and so on. </a:t>
            </a:r>
          </a:p>
          <a:p>
            <a:pPr marL="0" indent="0">
              <a:lnSpc>
                <a:spcPct val="150000"/>
              </a:lnSpc>
              <a:buNone/>
            </a:pPr>
            <a:r>
              <a:rPr lang="en-US" sz="2400" dirty="0">
                <a:latin typeface="Tahoma" panose="020B0604030504040204" pitchFamily="34" charset="0"/>
                <a:ea typeface="Tahoma" panose="020B0604030504040204" pitchFamily="34" charset="0"/>
                <a:cs typeface="Tahoma" panose="020B0604030504040204" pitchFamily="34" charset="0"/>
              </a:rPr>
              <a:t>SELECT ROWNUM, </a:t>
            </a:r>
            <a:r>
              <a:rPr lang="en-US" sz="2400" dirty="0" err="1">
                <a:latin typeface="Tahoma" panose="020B0604030504040204" pitchFamily="34" charset="0"/>
                <a:ea typeface="Tahoma" panose="020B0604030504040204" pitchFamily="34" charset="0"/>
                <a:cs typeface="Tahoma" panose="020B0604030504040204" pitchFamily="34" charset="0"/>
              </a:rPr>
              <a:t>emp_id</a:t>
            </a:r>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dirty="0" err="1">
                <a:latin typeface="Tahoma" panose="020B0604030504040204" pitchFamily="34" charset="0"/>
                <a:ea typeface="Tahoma" panose="020B0604030504040204" pitchFamily="34" charset="0"/>
                <a:cs typeface="Tahoma" panose="020B0604030504040204" pitchFamily="34" charset="0"/>
              </a:rPr>
              <a:t>first_name</a:t>
            </a:r>
            <a:r>
              <a:rPr lang="en-US" sz="2400" dirty="0">
                <a:latin typeface="Tahoma" panose="020B0604030504040204" pitchFamily="34" charset="0"/>
                <a:ea typeface="Tahoma" panose="020B0604030504040204" pitchFamily="34" charset="0"/>
                <a:cs typeface="Tahoma" panose="020B0604030504040204" pitchFamily="34" charset="0"/>
              </a:rPr>
              <a:t>, last_name</a:t>
            </a:r>
            <a:br>
              <a:rPr lang="en-US" sz="2400" dirty="0">
                <a:latin typeface="Tahoma" panose="020B0604030504040204" pitchFamily="34" charset="0"/>
                <a:ea typeface="Tahoma" panose="020B0604030504040204" pitchFamily="34" charset="0"/>
                <a:cs typeface="Tahoma" panose="020B0604030504040204" pitchFamily="34" charset="0"/>
              </a:rPr>
            </a:br>
            <a:r>
              <a:rPr lang="en-US" sz="2400" dirty="0">
                <a:latin typeface="Tahoma" panose="020B0604030504040204" pitchFamily="34" charset="0"/>
                <a:ea typeface="Tahoma" panose="020B0604030504040204" pitchFamily="34" charset="0"/>
                <a:cs typeface="Tahoma" panose="020B0604030504040204" pitchFamily="34" charset="0"/>
              </a:rPr>
              <a:t>FROM EMP; </a:t>
            </a:r>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Pseudo columns. </a:t>
            </a:r>
          </a:p>
        </p:txBody>
      </p:sp>
    </p:spTree>
    <p:extLst>
      <p:ext uri="{BB962C8B-B14F-4D97-AF65-F5344CB8AC3E}">
        <p14:creationId xmlns:p14="http://schemas.microsoft.com/office/powerpoint/2010/main" val="3079514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22</a:t>
            </a:fld>
            <a:endParaRPr lang="en-US" dirty="0"/>
          </a:p>
        </p:txBody>
      </p:sp>
      <p:sp>
        <p:nvSpPr>
          <p:cNvPr id="8" name="Content Placeholder 2">
            <a:extLst>
              <a:ext uri="{FF2B5EF4-FFF2-40B4-BE49-F238E27FC236}">
                <a16:creationId xmlns:a16="http://schemas.microsoft.com/office/drawing/2014/main" id="{A509D396-32D4-4476-AF21-4A4D1E161A84}"/>
              </a:ext>
            </a:extLst>
          </p:cNvPr>
          <p:cNvSpPr txBox="1">
            <a:spLocks/>
          </p:cNvSpPr>
          <p:nvPr/>
        </p:nvSpPr>
        <p:spPr>
          <a:xfrm>
            <a:off x="84541" y="930401"/>
            <a:ext cx="11899935" cy="528348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If a row lacks a data value for a particular column, that value is said to be null or to contain a null.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Null is a value that is unavailable, unassigned, unknown, or inapplicable. </a:t>
            </a:r>
          </a:p>
          <a:p>
            <a:pPr>
              <a:lnSpc>
                <a:spcPct val="150000"/>
              </a:lnSpc>
            </a:pPr>
            <a:r>
              <a:rPr lang="en-US" sz="2400" dirty="0">
                <a:latin typeface="Tahoma" panose="020B0604030504040204" pitchFamily="34" charset="0"/>
                <a:ea typeface="Tahoma" panose="020B0604030504040204" pitchFamily="34" charset="0"/>
                <a:cs typeface="Tahoma" panose="020B0604030504040204" pitchFamily="34" charset="0"/>
              </a:rPr>
              <a:t>A null value is not a blank string—it is a distinct value.</a:t>
            </a: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Null is not the same as zero or a blank space.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Zero is a number and blank space is a character. </a:t>
            </a:r>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Defining a Null Value</a:t>
            </a:r>
            <a:r>
              <a:rPr lang="en-US" sz="3600" b="1" dirty="0">
                <a:solidFill>
                  <a:schemeClr val="accent6">
                    <a:lumMod val="75000"/>
                    <a:lumOff val="25000"/>
                  </a:schemeClr>
                </a:solidFill>
                <a:latin typeface="Arial Black" panose="020B0A04020102020204" pitchFamily="34" charset="0"/>
                <a:cs typeface="Arial" pitchFamily="34" charset="0"/>
              </a:rPr>
              <a:t> </a:t>
            </a:r>
          </a:p>
        </p:txBody>
      </p:sp>
    </p:spTree>
    <p:extLst>
      <p:ext uri="{BB962C8B-B14F-4D97-AF65-F5344CB8AC3E}">
        <p14:creationId xmlns:p14="http://schemas.microsoft.com/office/powerpoint/2010/main" val="1241165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23</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Defining a Null Value</a:t>
            </a:r>
            <a:r>
              <a:rPr lang="en-US" sz="3600" b="1" dirty="0">
                <a:solidFill>
                  <a:schemeClr val="accent6">
                    <a:lumMod val="75000"/>
                    <a:lumOff val="25000"/>
                  </a:schemeClr>
                </a:solidFill>
                <a:latin typeface="Arial Black" panose="020B0A04020102020204" pitchFamily="34" charset="0"/>
                <a:cs typeface="Arial" pitchFamily="34" charset="0"/>
              </a:rPr>
              <a:t> </a:t>
            </a:r>
          </a:p>
        </p:txBody>
      </p:sp>
      <p:sp>
        <p:nvSpPr>
          <p:cNvPr id="7" name="Rectangle 2">
            <a:extLst>
              <a:ext uri="{FF2B5EF4-FFF2-40B4-BE49-F238E27FC236}">
                <a16:creationId xmlns:a16="http://schemas.microsoft.com/office/drawing/2014/main" id="{34D756DB-DE24-4A6C-8221-17B3F5DFDBEB}"/>
              </a:ext>
            </a:extLst>
          </p:cNvPr>
          <p:cNvSpPr>
            <a:spLocks noChangeArrowheads="1"/>
          </p:cNvSpPr>
          <p:nvPr/>
        </p:nvSpPr>
        <p:spPr bwMode="blackGray">
          <a:xfrm>
            <a:off x="618951" y="2529594"/>
            <a:ext cx="7277100" cy="867227"/>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601788" algn="l"/>
              </a:tabLst>
              <a:defRPr sz="2400">
                <a:solidFill>
                  <a:schemeClr val="tx1"/>
                </a:solidFill>
                <a:latin typeface="Times New Roman" panose="02020603050405020304" pitchFamily="18" charset="0"/>
              </a:defRPr>
            </a:lvl1pPr>
            <a:lvl2pPr algn="l">
              <a:spcBef>
                <a:spcPct val="0"/>
              </a:spcBef>
              <a:tabLst>
                <a:tab pos="1601788" algn="l"/>
              </a:tabLst>
              <a:defRPr sz="2400">
                <a:solidFill>
                  <a:schemeClr val="tx1"/>
                </a:solidFill>
                <a:latin typeface="Times New Roman" panose="02020603050405020304" pitchFamily="18" charset="0"/>
              </a:defRPr>
            </a:lvl2pPr>
            <a:lvl3pPr algn="l">
              <a:spcBef>
                <a:spcPct val="0"/>
              </a:spcBef>
              <a:tabLst>
                <a:tab pos="1601788" algn="l"/>
              </a:tabLst>
              <a:defRPr sz="2400">
                <a:solidFill>
                  <a:schemeClr val="tx1"/>
                </a:solidFill>
                <a:latin typeface="Times New Roman" panose="02020603050405020304" pitchFamily="18" charset="0"/>
              </a:defRPr>
            </a:lvl3pPr>
            <a:lvl4pPr algn="l">
              <a:spcBef>
                <a:spcPct val="0"/>
              </a:spcBef>
              <a:tabLst>
                <a:tab pos="1601788" algn="l"/>
              </a:tabLst>
              <a:defRPr sz="2400">
                <a:solidFill>
                  <a:schemeClr val="tx1"/>
                </a:solidFill>
                <a:latin typeface="Times New Roman" panose="02020603050405020304" pitchFamily="18" charset="0"/>
              </a:defRPr>
            </a:lvl4pPr>
            <a:lvl5pPr algn="l">
              <a:spcBef>
                <a:spcPct val="0"/>
              </a:spcBef>
              <a:tabLst>
                <a:tab pos="1601788" algn="l"/>
              </a:tabLst>
              <a:defRPr sz="2400">
                <a:solidFill>
                  <a:schemeClr val="tx1"/>
                </a:solidFill>
                <a:latin typeface="Times New Roman" panose="02020603050405020304" pitchFamily="18" charset="0"/>
              </a:defRPr>
            </a:lvl5pPr>
            <a:lvl6pPr fontAlgn="base">
              <a:spcBef>
                <a:spcPct val="0"/>
              </a:spcBef>
              <a:spcAft>
                <a:spcPct val="0"/>
              </a:spcAft>
              <a:tabLst>
                <a:tab pos="1601788" algn="l"/>
              </a:tabLst>
              <a:defRPr sz="2400">
                <a:solidFill>
                  <a:schemeClr val="tx1"/>
                </a:solidFill>
                <a:latin typeface="Times New Roman" panose="02020603050405020304" pitchFamily="18" charset="0"/>
              </a:defRPr>
            </a:lvl6pPr>
            <a:lvl7pPr fontAlgn="base">
              <a:spcBef>
                <a:spcPct val="0"/>
              </a:spcBef>
              <a:spcAft>
                <a:spcPct val="0"/>
              </a:spcAft>
              <a:tabLst>
                <a:tab pos="1601788" algn="l"/>
              </a:tabLst>
              <a:defRPr sz="2400">
                <a:solidFill>
                  <a:schemeClr val="tx1"/>
                </a:solidFill>
                <a:latin typeface="Times New Roman" panose="02020603050405020304" pitchFamily="18" charset="0"/>
              </a:defRPr>
            </a:lvl7pPr>
            <a:lvl8pPr fontAlgn="base">
              <a:spcBef>
                <a:spcPct val="0"/>
              </a:spcBef>
              <a:spcAft>
                <a:spcPct val="0"/>
              </a:spcAft>
              <a:tabLst>
                <a:tab pos="1601788" algn="l"/>
              </a:tabLst>
              <a:defRPr sz="2400">
                <a:solidFill>
                  <a:schemeClr val="tx1"/>
                </a:solidFill>
                <a:latin typeface="Times New Roman" panose="02020603050405020304" pitchFamily="18" charset="0"/>
              </a:defRPr>
            </a:lvl8pPr>
            <a:lvl9pPr fontAlgn="base">
              <a:spcBef>
                <a:spcPct val="0"/>
              </a:spcBef>
              <a:spcAft>
                <a:spcPct val="0"/>
              </a:spcAft>
              <a:tabLst>
                <a:tab pos="1601788" algn="l"/>
              </a:tabLst>
              <a:defRPr sz="2400">
                <a:solidFill>
                  <a:schemeClr val="tx1"/>
                </a:solidFill>
                <a:latin typeface="Times New Roman" panose="02020603050405020304" pitchFamily="18" charset="0"/>
              </a:defRPr>
            </a:lvl9pPr>
          </a:lstStyle>
          <a:p>
            <a:pPr eaLnBrk="0" hangingPunct="0">
              <a:buClrTx/>
              <a:buFontTx/>
              <a:buNone/>
            </a:pPr>
            <a:r>
              <a:rPr lang="en-US" altLang="en-US" sz="1800">
                <a:solidFill>
                  <a:srgbClr val="000000"/>
                </a:solidFill>
                <a:latin typeface="Courier New" panose="02070309020205020404" pitchFamily="49" charset="0"/>
              </a:rPr>
              <a:t> </a:t>
            </a:r>
          </a:p>
        </p:txBody>
      </p:sp>
      <p:sp>
        <p:nvSpPr>
          <p:cNvPr id="9" name="Rectangle 14">
            <a:extLst>
              <a:ext uri="{FF2B5EF4-FFF2-40B4-BE49-F238E27FC236}">
                <a16:creationId xmlns:a16="http://schemas.microsoft.com/office/drawing/2014/main" id="{1D859AD1-6441-4221-9094-F8CA664F9193}"/>
              </a:ext>
            </a:extLst>
          </p:cNvPr>
          <p:cNvSpPr txBox="1">
            <a:spLocks noChangeArrowheads="1"/>
          </p:cNvSpPr>
          <p:nvPr/>
        </p:nvSpPr>
        <p:spPr>
          <a:xfrm>
            <a:off x="83126" y="990873"/>
            <a:ext cx="11377678" cy="1402422"/>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Columns of any data type can contain nulls. However, some constraints (NOT NULL and PRIMARY KEY) prevent nulls from being used in the column. </a:t>
            </a:r>
          </a:p>
        </p:txBody>
      </p:sp>
      <p:sp>
        <p:nvSpPr>
          <p:cNvPr id="11" name="Rectangle 5">
            <a:extLst>
              <a:ext uri="{FF2B5EF4-FFF2-40B4-BE49-F238E27FC236}">
                <a16:creationId xmlns:a16="http://schemas.microsoft.com/office/drawing/2014/main" id="{794AA5BD-533D-4F38-93EC-37F1906C81CB}"/>
              </a:ext>
            </a:extLst>
          </p:cNvPr>
          <p:cNvSpPr>
            <a:spLocks noChangeArrowheads="1"/>
          </p:cNvSpPr>
          <p:nvPr/>
        </p:nvSpPr>
        <p:spPr bwMode="blackWhite">
          <a:xfrm>
            <a:off x="772939" y="2502607"/>
            <a:ext cx="4124325"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Lst>
              <a:defRPr sz="2400">
                <a:solidFill>
                  <a:schemeClr val="tx1"/>
                </a:solidFill>
                <a:latin typeface="Times New Roman" panose="02020603050405020304" pitchFamily="18" charset="0"/>
              </a:defRPr>
            </a:lvl1pPr>
            <a:lvl2pPr algn="l">
              <a:spcBef>
                <a:spcPct val="0"/>
              </a:spcBef>
              <a:tabLst>
                <a:tab pos="1601788" algn="l"/>
              </a:tabLst>
              <a:defRPr sz="2400">
                <a:solidFill>
                  <a:schemeClr val="tx1"/>
                </a:solidFill>
                <a:latin typeface="Times New Roman" panose="02020603050405020304" pitchFamily="18" charset="0"/>
              </a:defRPr>
            </a:lvl2pPr>
            <a:lvl3pPr algn="l">
              <a:spcBef>
                <a:spcPct val="0"/>
              </a:spcBef>
              <a:tabLst>
                <a:tab pos="1601788" algn="l"/>
              </a:tabLst>
              <a:defRPr sz="2400">
                <a:solidFill>
                  <a:schemeClr val="tx1"/>
                </a:solidFill>
                <a:latin typeface="Times New Roman" panose="02020603050405020304" pitchFamily="18" charset="0"/>
              </a:defRPr>
            </a:lvl3pPr>
            <a:lvl4pPr algn="l">
              <a:spcBef>
                <a:spcPct val="0"/>
              </a:spcBef>
              <a:tabLst>
                <a:tab pos="1601788" algn="l"/>
              </a:tabLst>
              <a:defRPr sz="2400">
                <a:solidFill>
                  <a:schemeClr val="tx1"/>
                </a:solidFill>
                <a:latin typeface="Times New Roman" panose="02020603050405020304" pitchFamily="18" charset="0"/>
              </a:defRPr>
            </a:lvl4pPr>
            <a:lvl5pPr algn="l">
              <a:spcBef>
                <a:spcPct val="0"/>
              </a:spcBef>
              <a:tabLst>
                <a:tab pos="1601788" algn="l"/>
              </a:tabLst>
              <a:defRPr sz="2400">
                <a:solidFill>
                  <a:schemeClr val="tx1"/>
                </a:solidFill>
                <a:latin typeface="Times New Roman" panose="02020603050405020304" pitchFamily="18" charset="0"/>
              </a:defRPr>
            </a:lvl5pPr>
            <a:lvl6pPr fontAlgn="base">
              <a:spcBef>
                <a:spcPct val="0"/>
              </a:spcBef>
              <a:spcAft>
                <a:spcPct val="0"/>
              </a:spcAft>
              <a:tabLst>
                <a:tab pos="1601788" algn="l"/>
              </a:tabLst>
              <a:defRPr sz="2400">
                <a:solidFill>
                  <a:schemeClr val="tx1"/>
                </a:solidFill>
                <a:latin typeface="Times New Roman" panose="02020603050405020304" pitchFamily="18" charset="0"/>
              </a:defRPr>
            </a:lvl6pPr>
            <a:lvl7pPr fontAlgn="base">
              <a:spcBef>
                <a:spcPct val="0"/>
              </a:spcBef>
              <a:spcAft>
                <a:spcPct val="0"/>
              </a:spcAft>
              <a:tabLst>
                <a:tab pos="1601788" algn="l"/>
              </a:tabLst>
              <a:defRPr sz="2400">
                <a:solidFill>
                  <a:schemeClr val="tx1"/>
                </a:solidFill>
                <a:latin typeface="Times New Roman" panose="02020603050405020304" pitchFamily="18" charset="0"/>
              </a:defRPr>
            </a:lvl7pPr>
            <a:lvl8pPr fontAlgn="base">
              <a:spcBef>
                <a:spcPct val="0"/>
              </a:spcBef>
              <a:spcAft>
                <a:spcPct val="0"/>
              </a:spcAft>
              <a:tabLst>
                <a:tab pos="1601788" algn="l"/>
              </a:tabLst>
              <a:defRPr sz="2400">
                <a:solidFill>
                  <a:schemeClr val="tx1"/>
                </a:solidFill>
                <a:latin typeface="Times New Roman" panose="02020603050405020304" pitchFamily="18" charset="0"/>
              </a:defRPr>
            </a:lvl8pPr>
            <a:lvl9pPr fontAlgn="base">
              <a:spcBef>
                <a:spcPct val="0"/>
              </a:spcBef>
              <a:spcAft>
                <a:spcPct val="0"/>
              </a:spcAft>
              <a:tabLst>
                <a:tab pos="1601788" algn="l"/>
              </a:tabLst>
              <a:defRPr sz="2400">
                <a:solidFill>
                  <a:schemeClr val="tx1"/>
                </a:solidFill>
                <a:latin typeface="Times New Roman" panose="02020603050405020304" pitchFamily="18" charset="0"/>
              </a:defRPr>
            </a:lvl9pPr>
          </a:lstStyle>
          <a:p>
            <a:pPr eaLnBrk="0" hangingPunct="0">
              <a:lnSpc>
                <a:spcPct val="150000"/>
              </a:lnSpc>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last_name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job_id</a:t>
            </a:r>
            <a:r>
              <a:rPr lang="en-US" altLang="en-US" sz="1800" b="1" dirty="0">
                <a:solidFill>
                  <a:srgbClr val="000000"/>
                </a:solidFill>
                <a:latin typeface="Courier New" panose="02070309020205020404" pitchFamily="49" charset="0"/>
              </a:rPr>
              <a:t>, salary, </a:t>
            </a:r>
            <a:r>
              <a:rPr lang="en-US" altLang="en-US" sz="1800" b="1" dirty="0" err="1">
                <a:solidFill>
                  <a:srgbClr val="000000"/>
                </a:solidFill>
                <a:latin typeface="Courier New" panose="02070309020205020404" pitchFamily="49" charset="0"/>
              </a:rPr>
              <a:t>commission_pct</a:t>
            </a:r>
            <a:endParaRPr lang="en-US" altLang="en-US" sz="1800" b="1" dirty="0">
              <a:solidFill>
                <a:srgbClr val="000000"/>
              </a:solidFill>
              <a:latin typeface="Courier New" panose="02070309020205020404" pitchFamily="49" charset="0"/>
            </a:endParaRPr>
          </a:p>
          <a:p>
            <a:pPr eaLnBrk="0" hangingPunct="0">
              <a:lnSpc>
                <a:spcPct val="150000"/>
              </a:lnSpc>
              <a:buClrTx/>
              <a:buFontTx/>
              <a:buNone/>
            </a:pPr>
            <a:r>
              <a:rPr lang="en-US" altLang="en-US" sz="1800" b="1" dirty="0">
                <a:solidFill>
                  <a:srgbClr val="000000"/>
                </a:solidFill>
                <a:latin typeface="Courier New" panose="02070309020205020404" pitchFamily="49" charset="0"/>
              </a:rPr>
              <a:t>FROM   employees;</a:t>
            </a:r>
          </a:p>
        </p:txBody>
      </p:sp>
      <p:sp>
        <p:nvSpPr>
          <p:cNvPr id="12" name="Rectangle 6">
            <a:extLst>
              <a:ext uri="{FF2B5EF4-FFF2-40B4-BE49-F238E27FC236}">
                <a16:creationId xmlns:a16="http://schemas.microsoft.com/office/drawing/2014/main" id="{7204D27A-5B9B-47FF-B403-23DBB79DB065}"/>
              </a:ext>
            </a:extLst>
          </p:cNvPr>
          <p:cNvSpPr>
            <a:spLocks noChangeArrowheads="1"/>
          </p:cNvSpPr>
          <p:nvPr/>
        </p:nvSpPr>
        <p:spPr bwMode="gray">
          <a:xfrm>
            <a:off x="5470316" y="2604695"/>
            <a:ext cx="2008188" cy="3460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Text Box 7">
            <a:extLst>
              <a:ext uri="{FF2B5EF4-FFF2-40B4-BE49-F238E27FC236}">
                <a16:creationId xmlns:a16="http://schemas.microsoft.com/office/drawing/2014/main" id="{FC525783-9738-420C-9172-1230BBD835DD}"/>
              </a:ext>
            </a:extLst>
          </p:cNvPr>
          <p:cNvSpPr txBox="1">
            <a:spLocks noChangeArrowheads="1"/>
          </p:cNvSpPr>
          <p:nvPr/>
        </p:nvSpPr>
        <p:spPr bwMode="auto">
          <a:xfrm>
            <a:off x="2067501" y="4291992"/>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sp>
        <p:nvSpPr>
          <p:cNvPr id="14" name="Text Box 8">
            <a:extLst>
              <a:ext uri="{FF2B5EF4-FFF2-40B4-BE49-F238E27FC236}">
                <a16:creationId xmlns:a16="http://schemas.microsoft.com/office/drawing/2014/main" id="{6F5AF2C1-AA5D-4E33-8115-5DAC9491A77C}"/>
              </a:ext>
            </a:extLst>
          </p:cNvPr>
          <p:cNvSpPr txBox="1">
            <a:spLocks noChangeArrowheads="1"/>
          </p:cNvSpPr>
          <p:nvPr/>
        </p:nvSpPr>
        <p:spPr bwMode="auto">
          <a:xfrm>
            <a:off x="2080201" y="5193692"/>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pic>
        <p:nvPicPr>
          <p:cNvPr id="15" name="Picture 15">
            <a:extLst>
              <a:ext uri="{FF2B5EF4-FFF2-40B4-BE49-F238E27FC236}">
                <a16:creationId xmlns:a16="http://schemas.microsoft.com/office/drawing/2014/main" id="{D128D489-7F26-41FE-AB63-83AD4D6B9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064326" y="3709379"/>
            <a:ext cx="4594225" cy="72072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6">
            <a:extLst>
              <a:ext uri="{FF2B5EF4-FFF2-40B4-BE49-F238E27FC236}">
                <a16:creationId xmlns:a16="http://schemas.microsoft.com/office/drawing/2014/main" id="{13B14533-9D36-4A48-909E-A68B83B407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064326" y="4623779"/>
            <a:ext cx="4594225" cy="72072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7">
            <a:extLst>
              <a:ext uri="{FF2B5EF4-FFF2-40B4-BE49-F238E27FC236}">
                <a16:creationId xmlns:a16="http://schemas.microsoft.com/office/drawing/2014/main" id="{B759CCF2-1C31-4BC2-873A-AAFB80B2D9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2064326" y="5614379"/>
            <a:ext cx="4583113" cy="503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722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24</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Null In Arithmetic's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18" name="Content Placeholder 2">
            <a:extLst>
              <a:ext uri="{FF2B5EF4-FFF2-40B4-BE49-F238E27FC236}">
                <a16:creationId xmlns:a16="http://schemas.microsoft.com/office/drawing/2014/main" id="{8F68981A-DB3F-4776-96DB-A747BD438518}"/>
              </a:ext>
            </a:extLst>
          </p:cNvPr>
          <p:cNvSpPr txBox="1">
            <a:spLocks/>
          </p:cNvSpPr>
          <p:nvPr/>
        </p:nvSpPr>
        <p:spPr>
          <a:xfrm>
            <a:off x="74814" y="940129"/>
            <a:ext cx="12117185" cy="2954033"/>
          </a:xfrm>
          <a:prstGeom prst="rect">
            <a:avLst/>
          </a:prstGeom>
        </p:spPr>
        <p:txBody>
          <a:bodyPr>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If any column value in an arithmetic expression is null, the result is null.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For example, if you attempt to perform division by zero, you get an error. However, if you divide a number by null, the result is a null or unknown. </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In the example in the slide, employee King does not get any commission. Because the COMMISSION_PCT column in the arithmetic expression is null, the result is null. </a:t>
            </a:r>
          </a:p>
          <a:p>
            <a:endParaRPr lang="en-US" dirty="0"/>
          </a:p>
        </p:txBody>
      </p:sp>
      <p:sp>
        <p:nvSpPr>
          <p:cNvPr id="19" name="Rectangle 2">
            <a:extLst>
              <a:ext uri="{FF2B5EF4-FFF2-40B4-BE49-F238E27FC236}">
                <a16:creationId xmlns:a16="http://schemas.microsoft.com/office/drawing/2014/main" id="{ABBE38C9-4244-45FA-9CC8-B4F54D59ED7A}"/>
              </a:ext>
            </a:extLst>
          </p:cNvPr>
          <p:cNvSpPr>
            <a:spLocks noChangeArrowheads="1"/>
          </p:cNvSpPr>
          <p:nvPr/>
        </p:nvSpPr>
        <p:spPr bwMode="blackGray">
          <a:xfrm>
            <a:off x="1460368" y="4003699"/>
            <a:ext cx="7277100" cy="72866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a:solidFill>
                  <a:srgbClr val="000000"/>
                </a:solidFill>
                <a:latin typeface="Courier New" panose="02070309020205020404" pitchFamily="49" charset="0"/>
              </a:rPr>
              <a:t> </a:t>
            </a:r>
          </a:p>
        </p:txBody>
      </p:sp>
      <p:sp>
        <p:nvSpPr>
          <p:cNvPr id="20" name="Rectangle 3">
            <a:extLst>
              <a:ext uri="{FF2B5EF4-FFF2-40B4-BE49-F238E27FC236}">
                <a16:creationId xmlns:a16="http://schemas.microsoft.com/office/drawing/2014/main" id="{CC1BD4F7-307C-4BAC-9158-2EADC48E7CAB}"/>
              </a:ext>
            </a:extLst>
          </p:cNvPr>
          <p:cNvSpPr>
            <a:spLocks noChangeArrowheads="1"/>
          </p:cNvSpPr>
          <p:nvPr/>
        </p:nvSpPr>
        <p:spPr bwMode="blackWhite">
          <a:xfrm>
            <a:off x="1601656" y="4143399"/>
            <a:ext cx="6848475"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last_name</a:t>
            </a:r>
            <a:r>
              <a:rPr lang="en-US" altLang="en-US" sz="1800" b="1" dirty="0">
                <a:solidFill>
                  <a:srgbClr val="000000"/>
                </a:solidFill>
                <a:latin typeface="Courier New" panose="02070309020205020404" pitchFamily="49" charset="0"/>
              </a:rPr>
              <a:t>, 12*salary*</a:t>
            </a:r>
            <a:r>
              <a:rPr lang="en-US" altLang="en-US" sz="1800" b="1" dirty="0" err="1">
                <a:solidFill>
                  <a:srgbClr val="000000"/>
                </a:solidFill>
                <a:latin typeface="Courier New" panose="02070309020205020404" pitchFamily="49" charset="0"/>
              </a:rPr>
              <a:t>commission_pct</a:t>
            </a:r>
            <a:endParaRPr lang="en-US" altLang="en-US" sz="1800" b="1" dirty="0">
              <a:solidFill>
                <a:srgbClr val="000000"/>
              </a:solidFill>
              <a:latin typeface="Courier New" panose="02070309020205020404" pitchFamily="49" charset="0"/>
            </a:endParaRP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21" name="Rectangle 6">
            <a:extLst>
              <a:ext uri="{FF2B5EF4-FFF2-40B4-BE49-F238E27FC236}">
                <a16:creationId xmlns:a16="http://schemas.microsoft.com/office/drawing/2014/main" id="{D6A45D23-4105-4594-9236-F2D239ABB811}"/>
              </a:ext>
            </a:extLst>
          </p:cNvPr>
          <p:cNvSpPr>
            <a:spLocks noChangeArrowheads="1"/>
          </p:cNvSpPr>
          <p:nvPr/>
        </p:nvSpPr>
        <p:spPr bwMode="gray">
          <a:xfrm>
            <a:off x="4017425" y="4103712"/>
            <a:ext cx="3805237" cy="338137"/>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Text Box 8">
            <a:extLst>
              <a:ext uri="{FF2B5EF4-FFF2-40B4-BE49-F238E27FC236}">
                <a16:creationId xmlns:a16="http://schemas.microsoft.com/office/drawing/2014/main" id="{D8891CB7-EFFD-47A5-8B4A-0326FB263B8A}"/>
              </a:ext>
            </a:extLst>
          </p:cNvPr>
          <p:cNvSpPr txBox="1">
            <a:spLocks noChangeArrowheads="1"/>
          </p:cNvSpPr>
          <p:nvPr/>
        </p:nvSpPr>
        <p:spPr bwMode="auto">
          <a:xfrm>
            <a:off x="3022468" y="5375299"/>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pic>
        <p:nvPicPr>
          <p:cNvPr id="24" name="Picture 18">
            <a:extLst>
              <a:ext uri="{FF2B5EF4-FFF2-40B4-BE49-F238E27FC236}">
                <a16:creationId xmlns:a16="http://schemas.microsoft.com/office/drawing/2014/main" id="{DD469E4E-A8B2-4975-876F-AF19931DB7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098668" y="4841899"/>
            <a:ext cx="3657600" cy="72072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9">
            <a:extLst>
              <a:ext uri="{FF2B5EF4-FFF2-40B4-BE49-F238E27FC236}">
                <a16:creationId xmlns:a16="http://schemas.microsoft.com/office/drawing/2014/main" id="{8E9923F2-FF28-488F-A1C5-3AA3A447D0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098668" y="5712032"/>
            <a:ext cx="3635375" cy="591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310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25</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Defining Column Alias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18" name="Content Placeholder 2">
            <a:extLst>
              <a:ext uri="{FF2B5EF4-FFF2-40B4-BE49-F238E27FC236}">
                <a16:creationId xmlns:a16="http://schemas.microsoft.com/office/drawing/2014/main" id="{50D4715B-9722-4D1B-9A61-822444EE9A4C}"/>
              </a:ext>
            </a:extLst>
          </p:cNvPr>
          <p:cNvSpPr txBox="1">
            <a:spLocks/>
          </p:cNvSpPr>
          <p:nvPr/>
        </p:nvSpPr>
        <p:spPr>
          <a:xfrm>
            <a:off x="74814" y="940128"/>
            <a:ext cx="11968029" cy="5402305"/>
          </a:xfrm>
          <a:prstGeom prst="rect">
            <a:avLst/>
          </a:prstGeom>
        </p:spPr>
        <p:txBody>
          <a:bodyPr>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dirty="0">
                <a:latin typeface="Tahoma" panose="020B0604030504040204" pitchFamily="34" charset="0"/>
                <a:ea typeface="Tahoma" panose="020B0604030504040204" pitchFamily="34" charset="0"/>
                <a:cs typeface="Tahoma" panose="020B0604030504040204" pitchFamily="34" charset="0"/>
              </a:rPr>
              <a:t>The column alias name is defined next to the column name with a space or by using the keyword AS. </a:t>
            </a:r>
          </a:p>
          <a:p>
            <a:pPr>
              <a:lnSpc>
                <a:spcPct val="150000"/>
              </a:lnSpc>
            </a:pPr>
            <a:r>
              <a:rPr lang="en-US" dirty="0">
                <a:latin typeface="Tahoma" panose="020B0604030504040204" pitchFamily="34" charset="0"/>
                <a:ea typeface="Tahoma" panose="020B0604030504040204" pitchFamily="34" charset="0"/>
                <a:cs typeface="Tahoma" panose="020B0604030504040204" pitchFamily="34" charset="0"/>
              </a:rPr>
              <a:t>If you want a space in the column alias name, you must enclose it in double quotation marks. </a:t>
            </a:r>
          </a:p>
          <a:p>
            <a:pPr>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Note that the optional AS keyword has been used before the column alias name. </a:t>
            </a:r>
          </a:p>
          <a:p>
            <a:pPr>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The result of the query is the same whether the AS keyword is used or not.</a:t>
            </a:r>
          </a:p>
          <a:p>
            <a:pPr>
              <a:lnSpc>
                <a:spcPct val="150000"/>
              </a:lnSpc>
            </a:pPr>
            <a:r>
              <a:rPr lang="en-US" altLang="en-US" dirty="0"/>
              <a:t>A column alias is used :</a:t>
            </a:r>
          </a:p>
          <a:p>
            <a:pPr marL="914400" lvl="1" indent="-457200">
              <a:lnSpc>
                <a:spcPct val="150000"/>
              </a:lnSpc>
              <a:buFont typeface="Wingdings" panose="05000000000000000000" pitchFamily="2" charset="2"/>
              <a:buChar char="ü"/>
            </a:pPr>
            <a:r>
              <a:rPr lang="en-US" altLang="en-US" dirty="0"/>
              <a:t>Renames a column heading</a:t>
            </a:r>
          </a:p>
          <a:p>
            <a:pPr marL="914400" lvl="1" indent="-457200">
              <a:lnSpc>
                <a:spcPct val="150000"/>
              </a:lnSpc>
              <a:buFont typeface="Wingdings" panose="05000000000000000000" pitchFamily="2" charset="2"/>
              <a:buChar char="ü"/>
            </a:pPr>
            <a:r>
              <a:rPr lang="en-US" altLang="en-US" dirty="0"/>
              <a:t>Is useful with calculations</a:t>
            </a:r>
          </a:p>
          <a:p>
            <a:pPr marL="914400" lvl="1" indent="-457200">
              <a:lnSpc>
                <a:spcPct val="150000"/>
              </a:lnSpc>
              <a:buFont typeface="Wingdings" panose="05000000000000000000" pitchFamily="2" charset="2"/>
              <a:buChar char="ü"/>
            </a:pPr>
            <a:r>
              <a:rPr lang="en-US" altLang="en-US" dirty="0"/>
              <a:t>Immediately follows the column name (There can also be the optional </a:t>
            </a:r>
            <a:r>
              <a:rPr lang="en-US" altLang="en-US" dirty="0">
                <a:latin typeface="Courier New" panose="02070309020205020404" pitchFamily="49" charset="0"/>
              </a:rPr>
              <a:t>AS</a:t>
            </a:r>
            <a:r>
              <a:rPr lang="en-US" altLang="en-US" dirty="0"/>
              <a:t> keyword between the column name and alias.) Requires double quotation marks if it contains spaces or special characters, or if it is case-sensitive</a:t>
            </a:r>
          </a:p>
        </p:txBody>
      </p:sp>
    </p:spTree>
    <p:extLst>
      <p:ext uri="{BB962C8B-B14F-4D97-AF65-F5344CB8AC3E}">
        <p14:creationId xmlns:p14="http://schemas.microsoft.com/office/powerpoint/2010/main" val="1532618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26</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Defining Column Alias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pic>
        <p:nvPicPr>
          <p:cNvPr id="7" name="Picture 24">
            <a:extLst>
              <a:ext uri="{FF2B5EF4-FFF2-40B4-BE49-F238E27FC236}">
                <a16:creationId xmlns:a16="http://schemas.microsoft.com/office/drawing/2014/main" id="{1E63B557-2C7C-4DF3-B731-5A182D7193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590202" y="4267200"/>
            <a:ext cx="2239963" cy="9493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3">
            <a:extLst>
              <a:ext uri="{FF2B5EF4-FFF2-40B4-BE49-F238E27FC236}">
                <a16:creationId xmlns:a16="http://schemas.microsoft.com/office/drawing/2014/main" id="{DBDCBCAC-ED48-46FC-98E2-ABE6EE9AC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590202" y="2057400"/>
            <a:ext cx="2400300" cy="96043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
            <a:extLst>
              <a:ext uri="{FF2B5EF4-FFF2-40B4-BE49-F238E27FC236}">
                <a16:creationId xmlns:a16="http://schemas.microsoft.com/office/drawing/2014/main" id="{9638C48D-1D7E-419E-A8B8-D0DBD4570183}"/>
              </a:ext>
            </a:extLst>
          </p:cNvPr>
          <p:cNvSpPr>
            <a:spLocks noChangeArrowheads="1"/>
          </p:cNvSpPr>
          <p:nvPr/>
        </p:nvSpPr>
        <p:spPr bwMode="blackGray">
          <a:xfrm>
            <a:off x="267815" y="1206500"/>
            <a:ext cx="7277100" cy="7016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a:solidFill>
                  <a:srgbClr val="000000"/>
                </a:solidFill>
                <a:latin typeface="Courier New" panose="02070309020205020404" pitchFamily="49" charset="0"/>
              </a:rPr>
              <a:t> </a:t>
            </a:r>
          </a:p>
        </p:txBody>
      </p:sp>
      <p:sp>
        <p:nvSpPr>
          <p:cNvPr id="11" name="Rectangle 5">
            <a:extLst>
              <a:ext uri="{FF2B5EF4-FFF2-40B4-BE49-F238E27FC236}">
                <a16:creationId xmlns:a16="http://schemas.microsoft.com/office/drawing/2014/main" id="{9BC1EA53-9157-4899-9176-EB9445353FE0}"/>
              </a:ext>
            </a:extLst>
          </p:cNvPr>
          <p:cNvSpPr>
            <a:spLocks noChangeArrowheads="1"/>
          </p:cNvSpPr>
          <p:nvPr/>
        </p:nvSpPr>
        <p:spPr bwMode="blackGray">
          <a:xfrm>
            <a:off x="256702" y="3429000"/>
            <a:ext cx="7277100" cy="6889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a:solidFill>
                  <a:srgbClr val="000000"/>
                </a:solidFill>
                <a:latin typeface="Courier New" panose="02070309020205020404" pitchFamily="49" charset="0"/>
              </a:rPr>
              <a:t> </a:t>
            </a:r>
          </a:p>
        </p:txBody>
      </p:sp>
      <p:sp>
        <p:nvSpPr>
          <p:cNvPr id="12" name="Rectangle 7">
            <a:extLst>
              <a:ext uri="{FF2B5EF4-FFF2-40B4-BE49-F238E27FC236}">
                <a16:creationId xmlns:a16="http://schemas.microsoft.com/office/drawing/2014/main" id="{2E8AF46B-DC52-42E6-9ED9-1BA8734BE542}"/>
              </a:ext>
            </a:extLst>
          </p:cNvPr>
          <p:cNvSpPr>
            <a:spLocks noChangeArrowheads="1"/>
          </p:cNvSpPr>
          <p:nvPr/>
        </p:nvSpPr>
        <p:spPr bwMode="gray">
          <a:xfrm>
            <a:off x="1971202" y="2057400"/>
            <a:ext cx="838200" cy="2286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 name="Rectangle 8">
            <a:extLst>
              <a:ext uri="{FF2B5EF4-FFF2-40B4-BE49-F238E27FC236}">
                <a16:creationId xmlns:a16="http://schemas.microsoft.com/office/drawing/2014/main" id="{1C3A180B-42E2-4E4F-830E-83161707CFF5}"/>
              </a:ext>
            </a:extLst>
          </p:cNvPr>
          <p:cNvSpPr>
            <a:spLocks noChangeArrowheads="1"/>
          </p:cNvSpPr>
          <p:nvPr/>
        </p:nvSpPr>
        <p:spPr bwMode="gray">
          <a:xfrm>
            <a:off x="2123602" y="4267200"/>
            <a:ext cx="609600" cy="2286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Rectangle 9">
            <a:extLst>
              <a:ext uri="{FF2B5EF4-FFF2-40B4-BE49-F238E27FC236}">
                <a16:creationId xmlns:a16="http://schemas.microsoft.com/office/drawing/2014/main" id="{013FDD1D-3A10-4424-9450-03434D502B6A}"/>
              </a:ext>
            </a:extLst>
          </p:cNvPr>
          <p:cNvSpPr>
            <a:spLocks noChangeArrowheads="1"/>
          </p:cNvSpPr>
          <p:nvPr/>
        </p:nvSpPr>
        <p:spPr bwMode="blackWhite">
          <a:xfrm>
            <a:off x="345602" y="3508375"/>
            <a:ext cx="64389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latin typeface="Courier New" panose="02070309020205020404" pitchFamily="49" charset="0"/>
              </a:rPr>
              <a:t>SELECT </a:t>
            </a:r>
            <a:r>
              <a:rPr lang="en-US" altLang="en-US" sz="1800" b="1" dirty="0" err="1">
                <a:latin typeface="Courier New" panose="02070309020205020404" pitchFamily="49" charset="0"/>
              </a:rPr>
              <a:t>last_name</a:t>
            </a:r>
            <a:r>
              <a:rPr lang="en-US" altLang="en-US" sz="1800" b="1" dirty="0">
                <a:latin typeface="Courier New" panose="02070309020205020404" pitchFamily="49" charset="0"/>
              </a:rPr>
              <a:t> "Name" , salary*12 "Annual Salary"</a:t>
            </a:r>
          </a:p>
          <a:p>
            <a:pPr eaLnBrk="0" hangingPunct="0">
              <a:buClrTx/>
              <a:buFontTx/>
              <a:buNone/>
            </a:pPr>
            <a:r>
              <a:rPr lang="en-US" altLang="en-US" sz="1800" b="1" dirty="0">
                <a:latin typeface="Courier New" panose="02070309020205020404" pitchFamily="49" charset="0"/>
              </a:rPr>
              <a:t>FROM   employees;</a:t>
            </a:r>
          </a:p>
        </p:txBody>
      </p:sp>
      <p:sp>
        <p:nvSpPr>
          <p:cNvPr id="15" name="Rectangle 10">
            <a:extLst>
              <a:ext uri="{FF2B5EF4-FFF2-40B4-BE49-F238E27FC236}">
                <a16:creationId xmlns:a16="http://schemas.microsoft.com/office/drawing/2014/main" id="{FE794C2F-38F1-491A-88EC-E7121A718EA8}"/>
              </a:ext>
            </a:extLst>
          </p:cNvPr>
          <p:cNvSpPr>
            <a:spLocks noChangeArrowheads="1"/>
          </p:cNvSpPr>
          <p:nvPr/>
        </p:nvSpPr>
        <p:spPr bwMode="blackWhite">
          <a:xfrm>
            <a:off x="355127" y="1193800"/>
            <a:ext cx="5108575"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last_name</a:t>
            </a:r>
            <a:r>
              <a:rPr lang="en-US" altLang="en-US" sz="1800" b="1" dirty="0">
                <a:solidFill>
                  <a:srgbClr val="000000"/>
                </a:solidFill>
                <a:latin typeface="Courier New" panose="02070309020205020404" pitchFamily="49" charset="0"/>
              </a:rPr>
              <a:t> AS name, </a:t>
            </a:r>
            <a:r>
              <a:rPr lang="en-US" altLang="en-US" sz="1800" b="1" dirty="0" err="1">
                <a:solidFill>
                  <a:srgbClr val="000000"/>
                </a:solidFill>
                <a:latin typeface="Courier New" panose="02070309020205020404" pitchFamily="49" charset="0"/>
              </a:rPr>
              <a:t>commission_pct</a:t>
            </a:r>
            <a:r>
              <a:rPr lang="en-US" altLang="en-US" sz="1800" b="1" dirty="0">
                <a:solidFill>
                  <a:srgbClr val="000000"/>
                </a:solidFill>
                <a:latin typeface="Courier New" panose="02070309020205020404" pitchFamily="49" charset="0"/>
              </a:rPr>
              <a:t> comm</a:t>
            </a: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16" name="Rectangle 11">
            <a:extLst>
              <a:ext uri="{FF2B5EF4-FFF2-40B4-BE49-F238E27FC236}">
                <a16:creationId xmlns:a16="http://schemas.microsoft.com/office/drawing/2014/main" id="{8781A01B-706B-4533-96D7-09841C4C0B51}"/>
              </a:ext>
            </a:extLst>
          </p:cNvPr>
          <p:cNvSpPr>
            <a:spLocks noChangeArrowheads="1"/>
          </p:cNvSpPr>
          <p:nvPr/>
        </p:nvSpPr>
        <p:spPr bwMode="gray">
          <a:xfrm>
            <a:off x="3120552" y="1301750"/>
            <a:ext cx="619125" cy="219075"/>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2">
            <a:extLst>
              <a:ext uri="{FF2B5EF4-FFF2-40B4-BE49-F238E27FC236}">
                <a16:creationId xmlns:a16="http://schemas.microsoft.com/office/drawing/2014/main" id="{0A99F6EE-98EE-4184-9572-E122192EC3F4}"/>
              </a:ext>
            </a:extLst>
          </p:cNvPr>
          <p:cNvSpPr>
            <a:spLocks noChangeArrowheads="1"/>
          </p:cNvSpPr>
          <p:nvPr/>
        </p:nvSpPr>
        <p:spPr bwMode="gray">
          <a:xfrm>
            <a:off x="2695102" y="3522663"/>
            <a:ext cx="885825" cy="231775"/>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Text Box 13">
            <a:extLst>
              <a:ext uri="{FF2B5EF4-FFF2-40B4-BE49-F238E27FC236}">
                <a16:creationId xmlns:a16="http://schemas.microsoft.com/office/drawing/2014/main" id="{B99D85CC-8EF7-4F71-8A02-93B04D85F7FB}"/>
              </a:ext>
            </a:extLst>
          </p:cNvPr>
          <p:cNvSpPr txBox="1">
            <a:spLocks noChangeArrowheads="1"/>
          </p:cNvSpPr>
          <p:nvPr/>
        </p:nvSpPr>
        <p:spPr bwMode="auto">
          <a:xfrm>
            <a:off x="1590202" y="2895600"/>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sp>
        <p:nvSpPr>
          <p:cNvPr id="20" name="Text Box 14">
            <a:extLst>
              <a:ext uri="{FF2B5EF4-FFF2-40B4-BE49-F238E27FC236}">
                <a16:creationId xmlns:a16="http://schemas.microsoft.com/office/drawing/2014/main" id="{29BECD30-07DB-4685-88A1-BD097C047E0F}"/>
              </a:ext>
            </a:extLst>
          </p:cNvPr>
          <p:cNvSpPr txBox="1">
            <a:spLocks noChangeArrowheads="1"/>
          </p:cNvSpPr>
          <p:nvPr/>
        </p:nvSpPr>
        <p:spPr bwMode="auto">
          <a:xfrm>
            <a:off x="1590202" y="5029200"/>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sp>
        <p:nvSpPr>
          <p:cNvPr id="21" name="Rectangle 16">
            <a:extLst>
              <a:ext uri="{FF2B5EF4-FFF2-40B4-BE49-F238E27FC236}">
                <a16:creationId xmlns:a16="http://schemas.microsoft.com/office/drawing/2014/main" id="{7892B624-0C00-45DC-97DB-B076760B0B99}"/>
              </a:ext>
            </a:extLst>
          </p:cNvPr>
          <p:cNvSpPr>
            <a:spLocks noChangeArrowheads="1"/>
          </p:cNvSpPr>
          <p:nvPr/>
        </p:nvSpPr>
        <p:spPr bwMode="gray">
          <a:xfrm>
            <a:off x="6022502" y="1301750"/>
            <a:ext cx="619125" cy="219075"/>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Rectangle 17">
            <a:extLst>
              <a:ext uri="{FF2B5EF4-FFF2-40B4-BE49-F238E27FC236}">
                <a16:creationId xmlns:a16="http://schemas.microsoft.com/office/drawing/2014/main" id="{0A19743E-412C-4B44-9E86-74FA271AFD4B}"/>
              </a:ext>
            </a:extLst>
          </p:cNvPr>
          <p:cNvSpPr>
            <a:spLocks noChangeArrowheads="1"/>
          </p:cNvSpPr>
          <p:nvPr/>
        </p:nvSpPr>
        <p:spPr bwMode="gray">
          <a:xfrm>
            <a:off x="2961802" y="2057400"/>
            <a:ext cx="823913" cy="2286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19">
            <a:extLst>
              <a:ext uri="{FF2B5EF4-FFF2-40B4-BE49-F238E27FC236}">
                <a16:creationId xmlns:a16="http://schemas.microsoft.com/office/drawing/2014/main" id="{C3BA3DD3-8F6A-46B9-BE83-8D6999C0F277}"/>
              </a:ext>
            </a:extLst>
          </p:cNvPr>
          <p:cNvSpPr>
            <a:spLocks noChangeArrowheads="1"/>
          </p:cNvSpPr>
          <p:nvPr/>
        </p:nvSpPr>
        <p:spPr bwMode="gray">
          <a:xfrm>
            <a:off x="2809402" y="4267200"/>
            <a:ext cx="990600" cy="2286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Rectangle 20">
            <a:extLst>
              <a:ext uri="{FF2B5EF4-FFF2-40B4-BE49-F238E27FC236}">
                <a16:creationId xmlns:a16="http://schemas.microsoft.com/office/drawing/2014/main" id="{7E2130AF-C5A7-4533-B7F5-2654B44306D3}"/>
              </a:ext>
            </a:extLst>
          </p:cNvPr>
          <p:cNvSpPr>
            <a:spLocks noChangeArrowheads="1"/>
          </p:cNvSpPr>
          <p:nvPr/>
        </p:nvSpPr>
        <p:spPr bwMode="gray">
          <a:xfrm>
            <a:off x="5333527" y="3524250"/>
            <a:ext cx="2079625" cy="231775"/>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4103229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27</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505838" y="214974"/>
            <a:ext cx="11108987" cy="584775"/>
          </a:xfrm>
          <a:prstGeom prst="rect">
            <a:avLst/>
          </a:prstGeom>
          <a:noFill/>
        </p:spPr>
        <p:txBody>
          <a:bodyPr wrap="square" rtlCol="0" anchor="ctr">
            <a:spAutoFit/>
          </a:bodyPr>
          <a:lstStyle/>
          <a:p>
            <a:r>
              <a:rPr lang="en-US" sz="3200" b="1" dirty="0">
                <a:solidFill>
                  <a:schemeClr val="accent6">
                    <a:lumMod val="75000"/>
                    <a:lumOff val="25000"/>
                  </a:schemeClr>
                </a:solidFill>
                <a:latin typeface="Arial Black" panose="020B0A04020102020204" pitchFamily="34" charset="0"/>
                <a:cs typeface="Arial" pitchFamily="34" charset="0"/>
              </a:rPr>
              <a:t>Combining Column Output Using </a:t>
            </a:r>
            <a:r>
              <a:rPr lang="en-US" altLang="en-US" sz="3200" b="1" dirty="0">
                <a:solidFill>
                  <a:schemeClr val="accent6">
                    <a:lumMod val="75000"/>
                    <a:lumOff val="25000"/>
                  </a:schemeClr>
                </a:solidFill>
                <a:latin typeface="Arial Black" panose="020B0A04020102020204" pitchFamily="34" charset="0"/>
                <a:cs typeface="Arial" pitchFamily="34" charset="0"/>
              </a:rPr>
              <a:t>Concatenation</a:t>
            </a:r>
            <a:endParaRPr lang="en-US" sz="3200" b="1" dirty="0">
              <a:solidFill>
                <a:schemeClr val="accent6">
                  <a:lumMod val="75000"/>
                  <a:lumOff val="25000"/>
                </a:schemeClr>
              </a:solidFill>
              <a:latin typeface="Arial Black" panose="020B0A04020102020204" pitchFamily="34" charset="0"/>
              <a:cs typeface="Arial" pitchFamily="34" charset="0"/>
            </a:endParaRPr>
          </a:p>
        </p:txBody>
      </p:sp>
      <p:sp>
        <p:nvSpPr>
          <p:cNvPr id="25" name="TextBox 24">
            <a:extLst>
              <a:ext uri="{FF2B5EF4-FFF2-40B4-BE49-F238E27FC236}">
                <a16:creationId xmlns:a16="http://schemas.microsoft.com/office/drawing/2014/main" id="{A6A87C6C-0A19-45A9-A799-9D30A831016E}"/>
              </a:ext>
            </a:extLst>
          </p:cNvPr>
          <p:cNvSpPr txBox="1"/>
          <p:nvPr/>
        </p:nvSpPr>
        <p:spPr>
          <a:xfrm>
            <a:off x="0" y="859375"/>
            <a:ext cx="12120664" cy="3553345"/>
          </a:xfrm>
          <a:prstGeom prst="rect">
            <a:avLst/>
          </a:prstGeom>
          <a:noFill/>
        </p:spPr>
        <p:txBody>
          <a:bodyPr wrap="square">
            <a:spAutoFit/>
          </a:bodyPr>
          <a:lstStyle/>
          <a:p>
            <a:pPr>
              <a:lnSpc>
                <a:spcPct val="160000"/>
              </a:lnSpc>
            </a:pPr>
            <a:r>
              <a:rPr lang="en-US" sz="2400" dirty="0">
                <a:latin typeface="Tahoma" panose="020B0604030504040204" pitchFamily="34" charset="0"/>
                <a:ea typeface="Tahoma" panose="020B0604030504040204" pitchFamily="34" charset="0"/>
                <a:cs typeface="Tahoma" panose="020B0604030504040204" pitchFamily="34" charset="0"/>
              </a:rPr>
              <a:t>You can combine the column values retrieved by a query using concatenation, which allows you to create more friendly and meaningful output. </a:t>
            </a:r>
          </a:p>
          <a:p>
            <a:pPr>
              <a:lnSpc>
                <a:spcPct val="160000"/>
              </a:lnSpc>
            </a:pPr>
            <a:r>
              <a:rPr lang="en-US" altLang="en-US" sz="2400" dirty="0">
                <a:latin typeface="Tahoma" panose="020B0604030504040204" pitchFamily="34" charset="0"/>
                <a:ea typeface="Tahoma" panose="020B0604030504040204" pitchFamily="34" charset="0"/>
                <a:cs typeface="Tahoma" panose="020B0604030504040204" pitchFamily="34" charset="0"/>
              </a:rPr>
              <a:t>A concatenation operator:</a:t>
            </a:r>
          </a:p>
          <a:p>
            <a:pPr marL="800100" lvl="1" indent="-3429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Links columns or character strings to other columns</a:t>
            </a:r>
          </a:p>
          <a:p>
            <a:pPr marL="800100" lvl="1" indent="-3429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Is represented by two vertical bars (||)</a:t>
            </a:r>
          </a:p>
          <a:p>
            <a:pPr marL="800100" lvl="1" indent="-342900">
              <a:lnSpc>
                <a:spcPct val="160000"/>
              </a:lnSpc>
              <a:buFont typeface="Wingdings" panose="05000000000000000000" pitchFamily="2" charset="2"/>
              <a:buChar char="ü"/>
            </a:pPr>
            <a:r>
              <a:rPr lang="en-US" altLang="en-US" sz="2400" dirty="0">
                <a:latin typeface="Tahoma" panose="020B0604030504040204" pitchFamily="34" charset="0"/>
                <a:ea typeface="Tahoma" panose="020B0604030504040204" pitchFamily="34" charset="0"/>
                <a:cs typeface="Tahoma" panose="020B0604030504040204" pitchFamily="34" charset="0"/>
              </a:rPr>
              <a:t>Creates a resultant column that is a character expression</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26" name="Rectangle 4">
            <a:extLst>
              <a:ext uri="{FF2B5EF4-FFF2-40B4-BE49-F238E27FC236}">
                <a16:creationId xmlns:a16="http://schemas.microsoft.com/office/drawing/2014/main" id="{2E5BDD50-B3BB-4529-A1FA-6DF3F1B71798}"/>
              </a:ext>
            </a:extLst>
          </p:cNvPr>
          <p:cNvSpPr>
            <a:spLocks noChangeArrowheads="1"/>
          </p:cNvSpPr>
          <p:nvPr/>
        </p:nvSpPr>
        <p:spPr bwMode="blackGray">
          <a:xfrm>
            <a:off x="552111" y="4866300"/>
            <a:ext cx="7277100" cy="74136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latin typeface="Courier New" panose="02070309020205020404" pitchFamily="49" charset="0"/>
              </a:rPr>
              <a:t>SELECT	</a:t>
            </a:r>
            <a:r>
              <a:rPr lang="en-US" altLang="en-US" sz="1800" b="1" dirty="0" err="1">
                <a:latin typeface="Courier New" panose="02070309020205020404" pitchFamily="49" charset="0"/>
              </a:rPr>
              <a:t>last_name</a:t>
            </a:r>
            <a:r>
              <a:rPr lang="en-US" altLang="en-US" sz="1800" b="1" dirty="0">
                <a:latin typeface="Courier New" panose="02070309020205020404" pitchFamily="49" charset="0"/>
              </a:rPr>
              <a:t>||</a:t>
            </a:r>
            <a:r>
              <a:rPr lang="en-US" altLang="en-US" sz="1800" b="1" dirty="0" err="1">
                <a:latin typeface="Courier New" panose="02070309020205020404" pitchFamily="49" charset="0"/>
              </a:rPr>
              <a:t>job_id</a:t>
            </a:r>
            <a:r>
              <a:rPr lang="en-US" altLang="en-US" sz="1800" b="1" dirty="0">
                <a:latin typeface="Courier New" panose="02070309020205020404" pitchFamily="49" charset="0"/>
              </a:rPr>
              <a:t> AS "Employees"</a:t>
            </a:r>
          </a:p>
          <a:p>
            <a:pPr eaLnBrk="0" hangingPunct="0">
              <a:buClrTx/>
              <a:buFontTx/>
              <a:buNone/>
            </a:pPr>
            <a:r>
              <a:rPr lang="en-US" altLang="en-US" sz="1800" b="1" dirty="0">
                <a:latin typeface="Courier New" panose="02070309020205020404" pitchFamily="49" charset="0"/>
              </a:rPr>
              <a:t>FROM 	employees;</a:t>
            </a:r>
            <a:endParaRPr lang="en-US" altLang="en-US" sz="1800" b="1" dirty="0">
              <a:solidFill>
                <a:srgbClr val="000000"/>
              </a:solidFill>
              <a:latin typeface="Courier New" panose="02070309020205020404" pitchFamily="49" charset="0"/>
            </a:endParaRPr>
          </a:p>
        </p:txBody>
      </p:sp>
      <p:pic>
        <p:nvPicPr>
          <p:cNvPr id="28" name="Picture 13">
            <a:extLst>
              <a:ext uri="{FF2B5EF4-FFF2-40B4-BE49-F238E27FC236}">
                <a16:creationId xmlns:a16="http://schemas.microsoft.com/office/drawing/2014/main" id="{CFBFE8C4-0E7A-4DB8-8885-4FA4EF2D01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8284556" y="4693912"/>
            <a:ext cx="2193925" cy="140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152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B9E26-1350-4495-B057-5C886CA5B8D2}"/>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111B5F34-9F09-464B-9DA2-D32895BB4430}"/>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80192989-A087-4CA4-AE44-F83ADC121768}"/>
              </a:ext>
            </a:extLst>
          </p:cNvPr>
          <p:cNvSpPr>
            <a:spLocks noGrp="1"/>
          </p:cNvSpPr>
          <p:nvPr>
            <p:ph type="sldNum" sz="quarter" idx="4"/>
          </p:nvPr>
        </p:nvSpPr>
        <p:spPr/>
        <p:txBody>
          <a:bodyPr/>
          <a:lstStyle/>
          <a:p>
            <a:fld id="{48F63A3B-78C7-47BE-AE5E-E10140E04643}" type="slidenum">
              <a:rPr lang="en-US" smtClean="0"/>
              <a:pPr/>
              <a:t>28</a:t>
            </a:fld>
            <a:endParaRPr lang="en-US" dirty="0"/>
          </a:p>
        </p:txBody>
      </p:sp>
      <p:sp>
        <p:nvSpPr>
          <p:cNvPr id="5" name="Rectangle 5">
            <a:extLst>
              <a:ext uri="{FF2B5EF4-FFF2-40B4-BE49-F238E27FC236}">
                <a16:creationId xmlns:a16="http://schemas.microsoft.com/office/drawing/2014/main" id="{5CBD6376-18A2-416A-B53C-CA7DE474B36C}"/>
              </a:ext>
            </a:extLst>
          </p:cNvPr>
          <p:cNvSpPr txBox="1">
            <a:spLocks noChangeArrowheads="1"/>
          </p:cNvSpPr>
          <p:nvPr/>
        </p:nvSpPr>
        <p:spPr>
          <a:xfrm>
            <a:off x="166255" y="961901"/>
            <a:ext cx="11876588" cy="533202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A literal is a character, a number, or a date that is included in the SELECT statement.</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Date and character literal values must be enclosed within single quotation marks.</a:t>
            </a: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Each character string is output once for each row returned.</a:t>
            </a:r>
          </a:p>
        </p:txBody>
      </p:sp>
      <p:sp>
        <p:nvSpPr>
          <p:cNvPr id="8" name="TextBox 7">
            <a:extLst>
              <a:ext uri="{FF2B5EF4-FFF2-40B4-BE49-F238E27FC236}">
                <a16:creationId xmlns:a16="http://schemas.microsoft.com/office/drawing/2014/main" id="{7F8DFAED-D317-44FC-BE2C-DD8C22DB4CE5}"/>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Literal Character Strings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9" name="Rectangle 6">
            <a:extLst>
              <a:ext uri="{FF2B5EF4-FFF2-40B4-BE49-F238E27FC236}">
                <a16:creationId xmlns:a16="http://schemas.microsoft.com/office/drawing/2014/main" id="{89FB8848-FD10-4365-9940-FD2A389CAA09}"/>
              </a:ext>
            </a:extLst>
          </p:cNvPr>
          <p:cNvSpPr>
            <a:spLocks noChangeArrowheads="1"/>
          </p:cNvSpPr>
          <p:nvPr/>
        </p:nvSpPr>
        <p:spPr bwMode="blackGray">
          <a:xfrm>
            <a:off x="370868" y="3062725"/>
            <a:ext cx="7277100" cy="1071562"/>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last_name</a:t>
            </a:r>
            <a:r>
              <a:rPr lang="en-US" altLang="en-US" sz="1800" b="1" dirty="0">
                <a:solidFill>
                  <a:srgbClr val="000000"/>
                </a:solidFill>
                <a:latin typeface="Courier New" panose="02070309020205020404" pitchFamily="49" charset="0"/>
              </a:rPr>
              <a:t> ||' is a '||</a:t>
            </a:r>
            <a:r>
              <a:rPr lang="en-US" altLang="en-US" sz="1800" b="1" dirty="0" err="1">
                <a:solidFill>
                  <a:srgbClr val="000000"/>
                </a:solidFill>
                <a:latin typeface="Courier New" panose="02070309020205020404" pitchFamily="49" charset="0"/>
              </a:rPr>
              <a:t>job_id</a:t>
            </a:r>
            <a:r>
              <a:rPr lang="en-US" altLang="en-US" sz="1800" b="1" dirty="0">
                <a:solidFill>
                  <a:srgbClr val="000000"/>
                </a:solidFill>
                <a:latin typeface="Courier New" panose="02070309020205020404" pitchFamily="49" charset="0"/>
              </a:rPr>
              <a:t> </a:t>
            </a:r>
          </a:p>
          <a:p>
            <a:pPr eaLnBrk="0" hangingPunct="0">
              <a:buClrTx/>
              <a:buFontTx/>
              <a:buNone/>
            </a:pPr>
            <a:r>
              <a:rPr lang="en-US" altLang="en-US" sz="1800" b="1" dirty="0">
                <a:solidFill>
                  <a:srgbClr val="000000"/>
                </a:solidFill>
                <a:latin typeface="Courier New" panose="02070309020205020404" pitchFamily="49" charset="0"/>
              </a:rPr>
              <a:t>       AS "Employee Details"</a:t>
            </a: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10" name="Rectangle 7">
            <a:extLst>
              <a:ext uri="{FF2B5EF4-FFF2-40B4-BE49-F238E27FC236}">
                <a16:creationId xmlns:a16="http://schemas.microsoft.com/office/drawing/2014/main" id="{C7812581-87C0-4BB9-ADF6-CEE3BAD55AED}"/>
              </a:ext>
            </a:extLst>
          </p:cNvPr>
          <p:cNvSpPr>
            <a:spLocks noChangeArrowheads="1"/>
          </p:cNvSpPr>
          <p:nvPr/>
        </p:nvSpPr>
        <p:spPr bwMode="gray">
          <a:xfrm>
            <a:off x="3075968" y="3162737"/>
            <a:ext cx="1087438" cy="3429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1" name="Picture 10">
            <a:extLst>
              <a:ext uri="{FF2B5EF4-FFF2-40B4-BE49-F238E27FC236}">
                <a16:creationId xmlns:a16="http://schemas.microsoft.com/office/drawing/2014/main" id="{65789F43-50DD-4159-9438-D44888B884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8240949" y="3062725"/>
            <a:ext cx="2697163" cy="1071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458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B9E26-1350-4495-B057-5C886CA5B8D2}"/>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111B5F34-9F09-464B-9DA2-D32895BB4430}"/>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80192989-A087-4CA4-AE44-F83ADC121768}"/>
              </a:ext>
            </a:extLst>
          </p:cNvPr>
          <p:cNvSpPr>
            <a:spLocks noGrp="1"/>
          </p:cNvSpPr>
          <p:nvPr>
            <p:ph type="sldNum" sz="quarter" idx="4"/>
          </p:nvPr>
        </p:nvSpPr>
        <p:spPr/>
        <p:txBody>
          <a:bodyPr/>
          <a:lstStyle/>
          <a:p>
            <a:fld id="{48F63A3B-78C7-47BE-AE5E-E10140E04643}" type="slidenum">
              <a:rPr lang="en-US" smtClean="0"/>
              <a:pPr/>
              <a:t>29</a:t>
            </a:fld>
            <a:endParaRPr lang="en-US" dirty="0"/>
          </a:p>
        </p:txBody>
      </p:sp>
      <p:sp>
        <p:nvSpPr>
          <p:cNvPr id="8" name="TextBox 7">
            <a:extLst>
              <a:ext uri="{FF2B5EF4-FFF2-40B4-BE49-F238E27FC236}">
                <a16:creationId xmlns:a16="http://schemas.microsoft.com/office/drawing/2014/main" id="{7F8DFAED-D317-44FC-BE2C-DD8C22DB4CE5}"/>
              </a:ext>
            </a:extLst>
          </p:cNvPr>
          <p:cNvSpPr txBox="1"/>
          <p:nvPr/>
        </p:nvSpPr>
        <p:spPr>
          <a:xfrm>
            <a:off x="731195" y="193589"/>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Displaying Unique Rows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12" name="Rectangle 17">
            <a:extLst>
              <a:ext uri="{FF2B5EF4-FFF2-40B4-BE49-F238E27FC236}">
                <a16:creationId xmlns:a16="http://schemas.microsoft.com/office/drawing/2014/main" id="{10E93400-A9A1-4E43-B8DB-1BC848CD4321}"/>
              </a:ext>
            </a:extLst>
          </p:cNvPr>
          <p:cNvSpPr txBox="1">
            <a:spLocks noChangeArrowheads="1"/>
          </p:cNvSpPr>
          <p:nvPr/>
        </p:nvSpPr>
        <p:spPr>
          <a:xfrm>
            <a:off x="827786" y="1043478"/>
            <a:ext cx="7918450" cy="706437"/>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en-US" altLang="en-US" dirty="0"/>
              <a:t>The default display of queries is all rows, including duplicate rows.</a:t>
            </a:r>
          </a:p>
        </p:txBody>
      </p:sp>
      <p:sp>
        <p:nvSpPr>
          <p:cNvPr id="13" name="Rectangle 4">
            <a:extLst>
              <a:ext uri="{FF2B5EF4-FFF2-40B4-BE49-F238E27FC236}">
                <a16:creationId xmlns:a16="http://schemas.microsoft.com/office/drawing/2014/main" id="{0B8B02D5-C21D-4D66-B0AE-E016F46A3469}"/>
              </a:ext>
            </a:extLst>
          </p:cNvPr>
          <p:cNvSpPr>
            <a:spLocks noChangeArrowheads="1"/>
          </p:cNvSpPr>
          <p:nvPr/>
        </p:nvSpPr>
        <p:spPr bwMode="blackGray">
          <a:xfrm>
            <a:off x="1143699" y="1972165"/>
            <a:ext cx="7286625" cy="7016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department_id</a:t>
            </a:r>
            <a:endParaRPr lang="en-US" altLang="en-US" sz="1800" b="1" dirty="0">
              <a:solidFill>
                <a:srgbClr val="000000"/>
              </a:solidFill>
              <a:latin typeface="Courier New" panose="02070309020205020404" pitchFamily="49" charset="0"/>
            </a:endParaRP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14" name="Rectangle 13">
            <a:extLst>
              <a:ext uri="{FF2B5EF4-FFF2-40B4-BE49-F238E27FC236}">
                <a16:creationId xmlns:a16="http://schemas.microsoft.com/office/drawing/2014/main" id="{6E0B2A1D-CCEF-4EC1-AC5A-F8110AEB9CF0}"/>
              </a:ext>
            </a:extLst>
          </p:cNvPr>
          <p:cNvSpPr>
            <a:spLocks noChangeArrowheads="1"/>
          </p:cNvSpPr>
          <p:nvPr/>
        </p:nvSpPr>
        <p:spPr bwMode="blackGray">
          <a:xfrm>
            <a:off x="1219899" y="4258165"/>
            <a:ext cx="7286625" cy="7016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DISTINCT </a:t>
            </a:r>
            <a:r>
              <a:rPr lang="en-US" altLang="en-US" sz="1800" b="1" dirty="0" err="1">
                <a:solidFill>
                  <a:srgbClr val="000000"/>
                </a:solidFill>
                <a:latin typeface="Courier New" panose="02070309020205020404" pitchFamily="49" charset="0"/>
              </a:rPr>
              <a:t>department_id</a:t>
            </a:r>
            <a:endParaRPr lang="en-US" altLang="en-US" sz="1800" b="1" dirty="0">
              <a:solidFill>
                <a:srgbClr val="000000"/>
              </a:solidFill>
              <a:latin typeface="Courier New" panose="02070309020205020404" pitchFamily="49" charset="0"/>
            </a:endParaRP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15" name="Rectangle 14">
            <a:extLst>
              <a:ext uri="{FF2B5EF4-FFF2-40B4-BE49-F238E27FC236}">
                <a16:creationId xmlns:a16="http://schemas.microsoft.com/office/drawing/2014/main" id="{88CECE77-7B47-4DED-9F2F-4B3D2A99DAE2}"/>
              </a:ext>
            </a:extLst>
          </p:cNvPr>
          <p:cNvSpPr>
            <a:spLocks noChangeArrowheads="1"/>
          </p:cNvSpPr>
          <p:nvPr/>
        </p:nvSpPr>
        <p:spPr bwMode="gray">
          <a:xfrm>
            <a:off x="2210499" y="4334365"/>
            <a:ext cx="1225475" cy="25082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14">
            <a:extLst>
              <a:ext uri="{FF2B5EF4-FFF2-40B4-BE49-F238E27FC236}">
                <a16:creationId xmlns:a16="http://schemas.microsoft.com/office/drawing/2014/main" id="{9A2066D0-1703-4EBC-B509-10AFD20A3ABD}"/>
              </a:ext>
            </a:extLst>
          </p:cNvPr>
          <p:cNvSpPr>
            <a:spLocks noChangeArrowheads="1"/>
          </p:cNvSpPr>
          <p:nvPr/>
        </p:nvSpPr>
        <p:spPr bwMode="blackWhite">
          <a:xfrm>
            <a:off x="7773099" y="2124565"/>
            <a:ext cx="490538" cy="493713"/>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a:latin typeface="Arial" panose="020B0604020202020204" pitchFamily="34" charset="0"/>
              </a:rPr>
              <a:t>1</a:t>
            </a:r>
          </a:p>
        </p:txBody>
      </p:sp>
      <p:sp>
        <p:nvSpPr>
          <p:cNvPr id="17" name="Oval 15">
            <a:extLst>
              <a:ext uri="{FF2B5EF4-FFF2-40B4-BE49-F238E27FC236}">
                <a16:creationId xmlns:a16="http://schemas.microsoft.com/office/drawing/2014/main" id="{6B2F95DA-144F-497F-BD36-3ABDF2B4B55C}"/>
              </a:ext>
            </a:extLst>
          </p:cNvPr>
          <p:cNvSpPr>
            <a:spLocks noChangeArrowheads="1"/>
          </p:cNvSpPr>
          <p:nvPr/>
        </p:nvSpPr>
        <p:spPr bwMode="blackWhite">
          <a:xfrm>
            <a:off x="7773099" y="4334365"/>
            <a:ext cx="493713" cy="493713"/>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a:latin typeface="Arial" panose="020B0604020202020204" pitchFamily="34" charset="0"/>
              </a:rPr>
              <a:t>2</a:t>
            </a:r>
          </a:p>
        </p:txBody>
      </p:sp>
      <p:pic>
        <p:nvPicPr>
          <p:cNvPr id="18" name="Picture 18">
            <a:extLst>
              <a:ext uri="{FF2B5EF4-FFF2-40B4-BE49-F238E27FC236}">
                <a16:creationId xmlns:a16="http://schemas.microsoft.com/office/drawing/2014/main" id="{1FD89CCA-8CBC-4072-8CBC-FEBBA7FE7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3353499" y="2734165"/>
            <a:ext cx="2057400" cy="12954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 Box 6">
            <a:extLst>
              <a:ext uri="{FF2B5EF4-FFF2-40B4-BE49-F238E27FC236}">
                <a16:creationId xmlns:a16="http://schemas.microsoft.com/office/drawing/2014/main" id="{0E931162-22A2-4300-921B-FED02499DDA9}"/>
              </a:ext>
            </a:extLst>
          </p:cNvPr>
          <p:cNvSpPr txBox="1">
            <a:spLocks noChangeArrowheads="1"/>
          </p:cNvSpPr>
          <p:nvPr/>
        </p:nvSpPr>
        <p:spPr bwMode="gray">
          <a:xfrm>
            <a:off x="3353499" y="3877165"/>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pic>
        <p:nvPicPr>
          <p:cNvPr id="20" name="Picture 20">
            <a:extLst>
              <a:ext uri="{FF2B5EF4-FFF2-40B4-BE49-F238E27FC236}">
                <a16:creationId xmlns:a16="http://schemas.microsoft.com/office/drawing/2014/main" id="{2076B6F0-A25A-46CC-8604-B33F6C013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353499" y="5020165"/>
            <a:ext cx="1920875" cy="10668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 Box 13">
            <a:extLst>
              <a:ext uri="{FF2B5EF4-FFF2-40B4-BE49-F238E27FC236}">
                <a16:creationId xmlns:a16="http://schemas.microsoft.com/office/drawing/2014/main" id="{9B323FFD-DF78-45BD-BA95-6C7BD47C2BB7}"/>
              </a:ext>
            </a:extLst>
          </p:cNvPr>
          <p:cNvSpPr txBox="1">
            <a:spLocks noChangeArrowheads="1"/>
          </p:cNvSpPr>
          <p:nvPr/>
        </p:nvSpPr>
        <p:spPr bwMode="auto">
          <a:xfrm>
            <a:off x="3353499" y="5858365"/>
            <a:ext cx="3810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spTree>
    <p:extLst>
      <p:ext uri="{BB962C8B-B14F-4D97-AF65-F5344CB8AC3E}">
        <p14:creationId xmlns:p14="http://schemas.microsoft.com/office/powerpoint/2010/main" val="3739676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30</a:t>
            </a:fld>
            <a:endParaRPr lang="en-US" dirty="0"/>
          </a:p>
        </p:txBody>
      </p:sp>
      <p:sp>
        <p:nvSpPr>
          <p:cNvPr id="8" name="Content Placeholder 2">
            <a:extLst>
              <a:ext uri="{FF2B5EF4-FFF2-40B4-BE49-F238E27FC236}">
                <a16:creationId xmlns:a16="http://schemas.microsoft.com/office/drawing/2014/main" id="{A509D396-32D4-4476-AF21-4A4D1E161A84}"/>
              </a:ext>
            </a:extLst>
          </p:cNvPr>
          <p:cNvSpPr txBox="1">
            <a:spLocks/>
          </p:cNvSpPr>
          <p:nvPr/>
        </p:nvSpPr>
        <p:spPr>
          <a:xfrm>
            <a:off x="107004" y="930401"/>
            <a:ext cx="11604246" cy="4964561"/>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Oracle allows you to perform different Operators in SQL statements such as:</a:t>
            </a:r>
          </a:p>
          <a:p>
            <a:pPr marL="0" indent="0">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Arithmetic Operators </a:t>
            </a:r>
          </a:p>
          <a:p>
            <a:pPr marL="0" indent="0">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Comparison Operators</a:t>
            </a:r>
          </a:p>
          <a:p>
            <a:pPr marL="0" indent="0">
              <a:lnSpc>
                <a:spcPct val="150000"/>
              </a:lnSpc>
              <a:buNone/>
            </a:pPr>
            <a:r>
              <a:rPr lang="en-US" sz="2800" dirty="0">
                <a:latin typeface="Tahoma" panose="020B0604030504040204" pitchFamily="34" charset="0"/>
                <a:ea typeface="Tahoma" panose="020B0604030504040204" pitchFamily="34" charset="0"/>
                <a:cs typeface="Tahoma" panose="020B0604030504040204" pitchFamily="34" charset="0"/>
              </a:rPr>
              <a:t>Logical Operators</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Operators</a:t>
            </a:r>
          </a:p>
        </p:txBody>
      </p:sp>
    </p:spTree>
    <p:extLst>
      <p:ext uri="{BB962C8B-B14F-4D97-AF65-F5344CB8AC3E}">
        <p14:creationId xmlns:p14="http://schemas.microsoft.com/office/powerpoint/2010/main" val="3564817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31</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Arithmetic Operators</a:t>
            </a:r>
          </a:p>
        </p:txBody>
      </p:sp>
      <p:sp>
        <p:nvSpPr>
          <p:cNvPr id="7" name="Rectangle 27">
            <a:extLst>
              <a:ext uri="{FF2B5EF4-FFF2-40B4-BE49-F238E27FC236}">
                <a16:creationId xmlns:a16="http://schemas.microsoft.com/office/drawing/2014/main" id="{6EEC85CB-2E59-4E5A-A759-48E940468E7A}"/>
              </a:ext>
            </a:extLst>
          </p:cNvPr>
          <p:cNvSpPr txBox="1">
            <a:spLocks noChangeArrowheads="1"/>
          </p:cNvSpPr>
          <p:nvPr/>
        </p:nvSpPr>
        <p:spPr>
          <a:xfrm>
            <a:off x="0" y="1039863"/>
            <a:ext cx="12192000" cy="147796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dirty="0">
                <a:latin typeface="Tahoma" panose="020B0604030504040204" pitchFamily="34" charset="0"/>
                <a:ea typeface="Tahoma" panose="020B0604030504040204" pitchFamily="34" charset="0"/>
                <a:cs typeface="Tahoma" panose="020B0604030504040204" pitchFamily="34" charset="0"/>
              </a:rPr>
              <a:t>Create expressions with number and date data by using arithmetic operators.</a:t>
            </a:r>
          </a:p>
        </p:txBody>
      </p:sp>
      <p:sp>
        <p:nvSpPr>
          <p:cNvPr id="9" name="Rectangle 5">
            <a:extLst>
              <a:ext uri="{FF2B5EF4-FFF2-40B4-BE49-F238E27FC236}">
                <a16:creationId xmlns:a16="http://schemas.microsoft.com/office/drawing/2014/main" id="{82E7B893-DB81-481B-8AE6-03FEC1D7EF6B}"/>
              </a:ext>
            </a:extLst>
          </p:cNvPr>
          <p:cNvSpPr>
            <a:spLocks noChangeArrowheads="1"/>
          </p:cNvSpPr>
          <p:nvPr/>
        </p:nvSpPr>
        <p:spPr bwMode="blackWhite">
          <a:xfrm>
            <a:off x="4254271" y="3352551"/>
            <a:ext cx="29718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sz="1800" b="0"/>
              <a:t>Multiply</a:t>
            </a:r>
          </a:p>
        </p:txBody>
      </p:sp>
      <p:sp>
        <p:nvSpPr>
          <p:cNvPr id="11" name="Rectangle 6">
            <a:extLst>
              <a:ext uri="{FF2B5EF4-FFF2-40B4-BE49-F238E27FC236}">
                <a16:creationId xmlns:a16="http://schemas.microsoft.com/office/drawing/2014/main" id="{1A46E0D8-6BBE-4EB5-96A3-0C30D58C8CA5}"/>
              </a:ext>
            </a:extLst>
          </p:cNvPr>
          <p:cNvSpPr>
            <a:spLocks noChangeArrowheads="1"/>
          </p:cNvSpPr>
          <p:nvPr/>
        </p:nvSpPr>
        <p:spPr bwMode="blackWhite">
          <a:xfrm>
            <a:off x="2882671" y="3352551"/>
            <a:ext cx="13716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gn="ctr"/>
            <a:r>
              <a:rPr lang="en-US" altLang="en-US" sz="1800" b="0"/>
              <a:t>*</a:t>
            </a:r>
          </a:p>
        </p:txBody>
      </p:sp>
      <p:sp>
        <p:nvSpPr>
          <p:cNvPr id="12" name="Rectangle 7">
            <a:extLst>
              <a:ext uri="{FF2B5EF4-FFF2-40B4-BE49-F238E27FC236}">
                <a16:creationId xmlns:a16="http://schemas.microsoft.com/office/drawing/2014/main" id="{DB4D4D88-13A3-4457-A02C-B0A34130C852}"/>
              </a:ext>
            </a:extLst>
          </p:cNvPr>
          <p:cNvSpPr>
            <a:spLocks noChangeArrowheads="1"/>
          </p:cNvSpPr>
          <p:nvPr/>
        </p:nvSpPr>
        <p:spPr bwMode="blackWhite">
          <a:xfrm>
            <a:off x="4254271" y="3717676"/>
            <a:ext cx="29718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sz="1800" b="0"/>
              <a:t>Divide</a:t>
            </a:r>
          </a:p>
        </p:txBody>
      </p:sp>
      <p:sp>
        <p:nvSpPr>
          <p:cNvPr id="13" name="Rectangle 8">
            <a:extLst>
              <a:ext uri="{FF2B5EF4-FFF2-40B4-BE49-F238E27FC236}">
                <a16:creationId xmlns:a16="http://schemas.microsoft.com/office/drawing/2014/main" id="{6DA8EA08-66CF-4E31-B0BF-F45C1D79CEA7}"/>
              </a:ext>
            </a:extLst>
          </p:cNvPr>
          <p:cNvSpPr>
            <a:spLocks noChangeArrowheads="1"/>
          </p:cNvSpPr>
          <p:nvPr/>
        </p:nvSpPr>
        <p:spPr bwMode="blackWhite">
          <a:xfrm>
            <a:off x="2882671" y="3717676"/>
            <a:ext cx="13716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a:buFont typeface="Arial" panose="020B0604020202020204" pitchFamily="34" charset="0"/>
              <a:buNone/>
            </a:pPr>
            <a:r>
              <a:rPr lang="en-US" altLang="en-US" sz="1800" b="0"/>
              <a:t>/</a:t>
            </a:r>
          </a:p>
        </p:txBody>
      </p:sp>
      <p:sp>
        <p:nvSpPr>
          <p:cNvPr id="14" name="Rectangle 9">
            <a:extLst>
              <a:ext uri="{FF2B5EF4-FFF2-40B4-BE49-F238E27FC236}">
                <a16:creationId xmlns:a16="http://schemas.microsoft.com/office/drawing/2014/main" id="{545128C5-D451-48D0-8DBF-00CBA95000EA}"/>
              </a:ext>
            </a:extLst>
          </p:cNvPr>
          <p:cNvSpPr>
            <a:spLocks noChangeArrowheads="1"/>
          </p:cNvSpPr>
          <p:nvPr/>
        </p:nvSpPr>
        <p:spPr bwMode="blackWhite">
          <a:xfrm>
            <a:off x="4254271" y="2969963"/>
            <a:ext cx="2971800"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sz="1800" b="0"/>
              <a:t>Subtract</a:t>
            </a:r>
          </a:p>
        </p:txBody>
      </p:sp>
      <p:sp>
        <p:nvSpPr>
          <p:cNvPr id="15" name="Rectangle 10">
            <a:extLst>
              <a:ext uri="{FF2B5EF4-FFF2-40B4-BE49-F238E27FC236}">
                <a16:creationId xmlns:a16="http://schemas.microsoft.com/office/drawing/2014/main" id="{9E21AE06-9150-4DE2-B39E-F3FF821A50F9}"/>
              </a:ext>
            </a:extLst>
          </p:cNvPr>
          <p:cNvSpPr>
            <a:spLocks noChangeArrowheads="1"/>
          </p:cNvSpPr>
          <p:nvPr/>
        </p:nvSpPr>
        <p:spPr bwMode="blackWhite">
          <a:xfrm>
            <a:off x="2882671" y="2969963"/>
            <a:ext cx="1371600"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a:buFont typeface="Arial" panose="020B0604020202020204" pitchFamily="34" charset="0"/>
              <a:buNone/>
            </a:pPr>
            <a:r>
              <a:rPr lang="en-US" altLang="en-US" sz="1800" b="0"/>
              <a:t>-</a:t>
            </a:r>
          </a:p>
        </p:txBody>
      </p:sp>
      <p:sp>
        <p:nvSpPr>
          <p:cNvPr id="16" name="Rectangle 11">
            <a:extLst>
              <a:ext uri="{FF2B5EF4-FFF2-40B4-BE49-F238E27FC236}">
                <a16:creationId xmlns:a16="http://schemas.microsoft.com/office/drawing/2014/main" id="{6973A22F-209F-4CA8-9B44-2A2CBF15DAFF}"/>
              </a:ext>
            </a:extLst>
          </p:cNvPr>
          <p:cNvSpPr>
            <a:spLocks noChangeArrowheads="1"/>
          </p:cNvSpPr>
          <p:nvPr/>
        </p:nvSpPr>
        <p:spPr bwMode="blackWhite">
          <a:xfrm>
            <a:off x="4254271" y="2604838"/>
            <a:ext cx="29718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sz="1800" b="0"/>
              <a:t>Add</a:t>
            </a:r>
          </a:p>
        </p:txBody>
      </p:sp>
      <p:sp>
        <p:nvSpPr>
          <p:cNvPr id="17" name="Rectangle 12">
            <a:extLst>
              <a:ext uri="{FF2B5EF4-FFF2-40B4-BE49-F238E27FC236}">
                <a16:creationId xmlns:a16="http://schemas.microsoft.com/office/drawing/2014/main" id="{B7252165-39AF-4EDB-9485-ED067F16CDA4}"/>
              </a:ext>
            </a:extLst>
          </p:cNvPr>
          <p:cNvSpPr>
            <a:spLocks noChangeArrowheads="1"/>
          </p:cNvSpPr>
          <p:nvPr/>
        </p:nvSpPr>
        <p:spPr bwMode="blackWhite">
          <a:xfrm>
            <a:off x="2882671" y="2604838"/>
            <a:ext cx="13716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a:buFont typeface="Arial" panose="020B0604020202020204" pitchFamily="34" charset="0"/>
              <a:buNone/>
            </a:pPr>
            <a:r>
              <a:rPr lang="en-US" altLang="en-US" sz="1800" b="0"/>
              <a:t>+</a:t>
            </a:r>
          </a:p>
        </p:txBody>
      </p:sp>
      <p:sp>
        <p:nvSpPr>
          <p:cNvPr id="18" name="Rectangle 13">
            <a:extLst>
              <a:ext uri="{FF2B5EF4-FFF2-40B4-BE49-F238E27FC236}">
                <a16:creationId xmlns:a16="http://schemas.microsoft.com/office/drawing/2014/main" id="{B201DB71-2D6E-4818-B4D9-B1C9C9AEF55A}"/>
              </a:ext>
            </a:extLst>
          </p:cNvPr>
          <p:cNvSpPr>
            <a:spLocks noChangeArrowheads="1"/>
          </p:cNvSpPr>
          <p:nvPr/>
        </p:nvSpPr>
        <p:spPr bwMode="gray">
          <a:xfrm>
            <a:off x="4254271" y="2239713"/>
            <a:ext cx="297180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sz="1800" b="0" dirty="0">
                <a:solidFill>
                  <a:schemeClr val="bg1"/>
                </a:solidFill>
              </a:rPr>
              <a:t>Description</a:t>
            </a:r>
          </a:p>
        </p:txBody>
      </p:sp>
      <p:sp>
        <p:nvSpPr>
          <p:cNvPr id="19" name="Rectangle 14">
            <a:extLst>
              <a:ext uri="{FF2B5EF4-FFF2-40B4-BE49-F238E27FC236}">
                <a16:creationId xmlns:a16="http://schemas.microsoft.com/office/drawing/2014/main" id="{0E46B25D-3CFA-46CB-84D6-4125B3D838A6}"/>
              </a:ext>
            </a:extLst>
          </p:cNvPr>
          <p:cNvSpPr>
            <a:spLocks noChangeArrowheads="1"/>
          </p:cNvSpPr>
          <p:nvPr/>
        </p:nvSpPr>
        <p:spPr bwMode="gray">
          <a:xfrm>
            <a:off x="2882671" y="2239713"/>
            <a:ext cx="137160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sz="1800" b="0" dirty="0">
                <a:solidFill>
                  <a:schemeClr val="bg1"/>
                </a:solidFill>
              </a:rPr>
              <a:t>Operator</a:t>
            </a:r>
          </a:p>
        </p:txBody>
      </p:sp>
      <p:sp>
        <p:nvSpPr>
          <p:cNvPr id="20" name="Line 15">
            <a:extLst>
              <a:ext uri="{FF2B5EF4-FFF2-40B4-BE49-F238E27FC236}">
                <a16:creationId xmlns:a16="http://schemas.microsoft.com/office/drawing/2014/main" id="{659B0EE2-F2CC-48CB-AE1F-8A1E52B65A1D}"/>
              </a:ext>
            </a:extLst>
          </p:cNvPr>
          <p:cNvSpPr>
            <a:spLocks noChangeShapeType="1"/>
          </p:cNvSpPr>
          <p:nvPr/>
        </p:nvSpPr>
        <p:spPr bwMode="blackWhite">
          <a:xfrm>
            <a:off x="2882671" y="2604838"/>
            <a:ext cx="4343400"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6">
            <a:extLst>
              <a:ext uri="{FF2B5EF4-FFF2-40B4-BE49-F238E27FC236}">
                <a16:creationId xmlns:a16="http://schemas.microsoft.com/office/drawing/2014/main" id="{FFDB1873-14EA-4559-BB79-36C10CF3A5E4}"/>
              </a:ext>
            </a:extLst>
          </p:cNvPr>
          <p:cNvSpPr>
            <a:spLocks noChangeShapeType="1"/>
          </p:cNvSpPr>
          <p:nvPr/>
        </p:nvSpPr>
        <p:spPr bwMode="blackWhite">
          <a:xfrm>
            <a:off x="2882671" y="2969963"/>
            <a:ext cx="4343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7">
            <a:extLst>
              <a:ext uri="{FF2B5EF4-FFF2-40B4-BE49-F238E27FC236}">
                <a16:creationId xmlns:a16="http://schemas.microsoft.com/office/drawing/2014/main" id="{DEFE41FE-FD19-4D69-9EAA-4297FEDF5EC5}"/>
              </a:ext>
            </a:extLst>
          </p:cNvPr>
          <p:cNvSpPr>
            <a:spLocks noChangeShapeType="1"/>
          </p:cNvSpPr>
          <p:nvPr/>
        </p:nvSpPr>
        <p:spPr bwMode="blackWhite">
          <a:xfrm>
            <a:off x="2882671" y="3352551"/>
            <a:ext cx="4343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18">
            <a:extLst>
              <a:ext uri="{FF2B5EF4-FFF2-40B4-BE49-F238E27FC236}">
                <a16:creationId xmlns:a16="http://schemas.microsoft.com/office/drawing/2014/main" id="{D5182AD4-63DF-4EFB-AC04-88B2443A7E28}"/>
              </a:ext>
            </a:extLst>
          </p:cNvPr>
          <p:cNvSpPr>
            <a:spLocks noChangeShapeType="1"/>
          </p:cNvSpPr>
          <p:nvPr/>
        </p:nvSpPr>
        <p:spPr bwMode="blackWhite">
          <a:xfrm>
            <a:off x="2882671" y="4082801"/>
            <a:ext cx="43434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9">
            <a:extLst>
              <a:ext uri="{FF2B5EF4-FFF2-40B4-BE49-F238E27FC236}">
                <a16:creationId xmlns:a16="http://schemas.microsoft.com/office/drawing/2014/main" id="{BCD1E4F0-0875-4343-AD0A-AE682FB5207E}"/>
              </a:ext>
            </a:extLst>
          </p:cNvPr>
          <p:cNvSpPr>
            <a:spLocks noChangeShapeType="1"/>
          </p:cNvSpPr>
          <p:nvPr/>
        </p:nvSpPr>
        <p:spPr bwMode="blackWhite">
          <a:xfrm>
            <a:off x="2882671" y="2239713"/>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0">
            <a:extLst>
              <a:ext uri="{FF2B5EF4-FFF2-40B4-BE49-F238E27FC236}">
                <a16:creationId xmlns:a16="http://schemas.microsoft.com/office/drawing/2014/main" id="{79681446-C0E7-423B-BF34-89A9EE551BD4}"/>
              </a:ext>
            </a:extLst>
          </p:cNvPr>
          <p:cNvSpPr>
            <a:spLocks noChangeShapeType="1"/>
          </p:cNvSpPr>
          <p:nvPr/>
        </p:nvSpPr>
        <p:spPr bwMode="blackWhite">
          <a:xfrm>
            <a:off x="4254271" y="2239713"/>
            <a:ext cx="0" cy="18430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1">
            <a:extLst>
              <a:ext uri="{FF2B5EF4-FFF2-40B4-BE49-F238E27FC236}">
                <a16:creationId xmlns:a16="http://schemas.microsoft.com/office/drawing/2014/main" id="{7CDD182D-3590-4747-9DF7-46286969F6D2}"/>
              </a:ext>
            </a:extLst>
          </p:cNvPr>
          <p:cNvSpPr>
            <a:spLocks noChangeShapeType="1"/>
          </p:cNvSpPr>
          <p:nvPr/>
        </p:nvSpPr>
        <p:spPr bwMode="blackWhite">
          <a:xfrm>
            <a:off x="7226071" y="2239713"/>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2">
            <a:extLst>
              <a:ext uri="{FF2B5EF4-FFF2-40B4-BE49-F238E27FC236}">
                <a16:creationId xmlns:a16="http://schemas.microsoft.com/office/drawing/2014/main" id="{D3A4309A-7BD8-4C69-85E6-3890EA9F1732}"/>
              </a:ext>
            </a:extLst>
          </p:cNvPr>
          <p:cNvSpPr>
            <a:spLocks noChangeShapeType="1"/>
          </p:cNvSpPr>
          <p:nvPr/>
        </p:nvSpPr>
        <p:spPr bwMode="blackWhite">
          <a:xfrm>
            <a:off x="2882671" y="3717676"/>
            <a:ext cx="4343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3">
            <a:extLst>
              <a:ext uri="{FF2B5EF4-FFF2-40B4-BE49-F238E27FC236}">
                <a16:creationId xmlns:a16="http://schemas.microsoft.com/office/drawing/2014/main" id="{B254772F-5691-4CB8-9D21-7D1F4F62B18F}"/>
              </a:ext>
            </a:extLst>
          </p:cNvPr>
          <p:cNvSpPr>
            <a:spLocks noChangeShapeType="1"/>
          </p:cNvSpPr>
          <p:nvPr/>
        </p:nvSpPr>
        <p:spPr bwMode="blackWhite">
          <a:xfrm>
            <a:off x="2882671" y="2239713"/>
            <a:ext cx="4343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4">
            <a:extLst>
              <a:ext uri="{FF2B5EF4-FFF2-40B4-BE49-F238E27FC236}">
                <a16:creationId xmlns:a16="http://schemas.microsoft.com/office/drawing/2014/main" id="{3670A284-C4DF-4F11-A75A-5363121C4811}"/>
              </a:ext>
            </a:extLst>
          </p:cNvPr>
          <p:cNvSpPr>
            <a:spLocks noChangeShapeType="1"/>
          </p:cNvSpPr>
          <p:nvPr/>
        </p:nvSpPr>
        <p:spPr bwMode="blackWhite">
          <a:xfrm>
            <a:off x="2882671" y="2604838"/>
            <a:ext cx="0" cy="147796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25">
            <a:extLst>
              <a:ext uri="{FF2B5EF4-FFF2-40B4-BE49-F238E27FC236}">
                <a16:creationId xmlns:a16="http://schemas.microsoft.com/office/drawing/2014/main" id="{30E5DFB0-99A0-433B-B127-78CCE6B66AE1}"/>
              </a:ext>
            </a:extLst>
          </p:cNvPr>
          <p:cNvSpPr>
            <a:spLocks noChangeShapeType="1"/>
          </p:cNvSpPr>
          <p:nvPr/>
        </p:nvSpPr>
        <p:spPr bwMode="blackWhite">
          <a:xfrm>
            <a:off x="7226071" y="2604838"/>
            <a:ext cx="0" cy="147796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Rectangle 30">
            <a:extLst>
              <a:ext uri="{FF2B5EF4-FFF2-40B4-BE49-F238E27FC236}">
                <a16:creationId xmlns:a16="http://schemas.microsoft.com/office/drawing/2014/main" id="{EA35DFC3-2DFF-4846-BA2B-95BB69115F2D}"/>
              </a:ext>
            </a:extLst>
          </p:cNvPr>
          <p:cNvSpPr/>
          <p:nvPr/>
        </p:nvSpPr>
        <p:spPr>
          <a:xfrm>
            <a:off x="482371" y="4017629"/>
            <a:ext cx="9144000" cy="1704569"/>
          </a:xfrm>
          <a:prstGeom prst="rect">
            <a:avLst/>
          </a:prstGeom>
        </p:spPr>
        <p:txBody>
          <a:bodyPr wrap="square">
            <a:spAutoFit/>
          </a:bodyPr>
          <a:lstStyle/>
          <a:p>
            <a:pPr>
              <a:lnSpc>
                <a:spcPct val="150000"/>
              </a:lnSpc>
            </a:pPr>
            <a:r>
              <a:rPr lang="en-US" altLang="en-US" b="1" dirty="0"/>
              <a:t>NOTE</a:t>
            </a:r>
            <a:r>
              <a:rPr lang="en-US" altLang="en-US" dirty="0"/>
              <a:t>: </a:t>
            </a:r>
          </a:p>
          <a:p>
            <a:pPr marL="285750" indent="-285750">
              <a:lnSpc>
                <a:spcPct val="150000"/>
              </a:lnSpc>
              <a:buFont typeface="Wingdings" panose="05000000000000000000" pitchFamily="2" charset="2"/>
              <a:buChar char="ü"/>
            </a:pPr>
            <a:r>
              <a:rPr lang="en-US" altLang="en-US" dirty="0"/>
              <a:t>You can use arithmetic operators in any clause of a SQL statement (except the </a:t>
            </a:r>
            <a:r>
              <a:rPr lang="en-US" altLang="en-US" b="1" dirty="0"/>
              <a:t>FROM</a:t>
            </a:r>
            <a:r>
              <a:rPr lang="en-US" altLang="en-US" dirty="0"/>
              <a:t> clause).</a:t>
            </a:r>
          </a:p>
          <a:p>
            <a:pPr marL="285750" indent="-285750">
              <a:lnSpc>
                <a:spcPct val="150000"/>
              </a:lnSpc>
              <a:buFont typeface="Wingdings" panose="05000000000000000000" pitchFamily="2" charset="2"/>
              <a:buChar char="ü"/>
            </a:pPr>
            <a:r>
              <a:rPr lang="en-US" b="1" dirty="0"/>
              <a:t>DATE</a:t>
            </a:r>
            <a:r>
              <a:rPr lang="en-US" dirty="0"/>
              <a:t> and </a:t>
            </a:r>
            <a:r>
              <a:rPr lang="en-US" b="1" dirty="0"/>
              <a:t>TIMESTAMP</a:t>
            </a:r>
            <a:r>
              <a:rPr lang="en-US" dirty="0"/>
              <a:t> data types can only be used addition and subtraction.</a:t>
            </a:r>
          </a:p>
          <a:p>
            <a:pPr marL="285750" indent="-285750">
              <a:lnSpc>
                <a:spcPct val="150000"/>
              </a:lnSpc>
              <a:buFont typeface="Wingdings" panose="05000000000000000000" pitchFamily="2" charset="2"/>
              <a:buChar char="ü"/>
            </a:pPr>
            <a:r>
              <a:rPr lang="en-US" dirty="0"/>
              <a:t>Oracle server </a:t>
            </a:r>
            <a:r>
              <a:rPr lang="en-US" b="1" dirty="0"/>
              <a:t>IGNORES</a:t>
            </a:r>
            <a:r>
              <a:rPr lang="en-US" dirty="0"/>
              <a:t> blank spaces before and after the Arithmetic operators.</a:t>
            </a:r>
          </a:p>
        </p:txBody>
      </p:sp>
    </p:spTree>
    <p:extLst>
      <p:ext uri="{BB962C8B-B14F-4D97-AF65-F5344CB8AC3E}">
        <p14:creationId xmlns:p14="http://schemas.microsoft.com/office/powerpoint/2010/main" val="29194372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575910-B66F-4B97-8590-0850FD69B50A}"/>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D2E094C3-DADF-4510-8E6A-1EDB8BBD608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60BD0302-1C48-4D4C-B840-B569FDB57755}"/>
              </a:ext>
            </a:extLst>
          </p:cNvPr>
          <p:cNvSpPr>
            <a:spLocks noGrp="1"/>
          </p:cNvSpPr>
          <p:nvPr>
            <p:ph type="sldNum" sz="quarter" idx="4"/>
          </p:nvPr>
        </p:nvSpPr>
        <p:spPr/>
        <p:txBody>
          <a:bodyPr/>
          <a:lstStyle/>
          <a:p>
            <a:fld id="{48F63A3B-78C7-47BE-AE5E-E10140E04643}" type="slidenum">
              <a:rPr lang="en-US" smtClean="0"/>
              <a:pPr/>
              <a:t>32</a:t>
            </a:fld>
            <a:endParaRPr lang="en-US" dirty="0"/>
          </a:p>
        </p:txBody>
      </p:sp>
      <p:sp>
        <p:nvSpPr>
          <p:cNvPr id="5" name="Content Placeholder 2">
            <a:extLst>
              <a:ext uri="{FF2B5EF4-FFF2-40B4-BE49-F238E27FC236}">
                <a16:creationId xmlns:a16="http://schemas.microsoft.com/office/drawing/2014/main" id="{90BACAC7-1050-4CD3-972C-3CA473236F5E}"/>
              </a:ext>
            </a:extLst>
          </p:cNvPr>
          <p:cNvSpPr txBox="1">
            <a:spLocks/>
          </p:cNvSpPr>
          <p:nvPr/>
        </p:nvSpPr>
        <p:spPr>
          <a:xfrm>
            <a:off x="97394" y="998495"/>
            <a:ext cx="11997211" cy="5283486"/>
          </a:xfrm>
          <a:prstGeom prst="rect">
            <a:avLst/>
          </a:prstGeom>
        </p:spPr>
        <p:txBody>
          <a:bodyPr>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dirty="0"/>
              <a:t>The normal rules of arithmetic operator precedence apply in SQL: multiplication and division are performed first, followed by addition and subtraction. If operators of the same precedence are used, they are performed from left to right. </a:t>
            </a:r>
            <a:br>
              <a:rPr lang="en-US" dirty="0"/>
            </a:br>
            <a:r>
              <a:rPr lang="en-US" dirty="0"/>
              <a:t>For example, in the expression 10*12/3–1, the first calculation would be 10 multiplied by 12, yielding a result of 120; then 120 would be divided by 3, yielding 40; finally, 1 would be subtracted from 40, yielding 39: </a:t>
            </a:r>
          </a:p>
          <a:p>
            <a:pPr marL="0" indent="0">
              <a:lnSpc>
                <a:spcPct val="150000"/>
              </a:lnSpc>
              <a:buNone/>
            </a:pPr>
            <a:r>
              <a:rPr lang="en-US" dirty="0"/>
              <a:t>You can also use parentheses () to specify the order of execution for the operators, as in the following:</a:t>
            </a:r>
            <a:br>
              <a:rPr lang="en-US" dirty="0"/>
            </a:br>
            <a:r>
              <a:rPr lang="en-US" b="1" dirty="0"/>
              <a:t>SELECT 10 * (12 / 3 – 1) FROM dual;</a:t>
            </a:r>
          </a:p>
          <a:p>
            <a:pPr marL="0" indent="0">
              <a:lnSpc>
                <a:spcPct val="150000"/>
              </a:lnSpc>
              <a:buNone/>
            </a:pPr>
            <a:r>
              <a:rPr lang="en-US" dirty="0"/>
              <a:t>In this example, the parentheses are used to force calculation of 12/3-1 first, the result of which is then multiplied by 10, yielding 30 as the final answer.</a:t>
            </a:r>
          </a:p>
        </p:txBody>
      </p:sp>
      <p:sp>
        <p:nvSpPr>
          <p:cNvPr id="6" name="Rectangle 17">
            <a:extLst>
              <a:ext uri="{FF2B5EF4-FFF2-40B4-BE49-F238E27FC236}">
                <a16:creationId xmlns:a16="http://schemas.microsoft.com/office/drawing/2014/main" id="{F6746672-6732-47AC-B235-429D26C47E94}"/>
              </a:ext>
            </a:extLst>
          </p:cNvPr>
          <p:cNvSpPr txBox="1">
            <a:spLocks noChangeArrowheads="1"/>
          </p:cNvSpPr>
          <p:nvPr/>
        </p:nvSpPr>
        <p:spPr>
          <a:xfrm>
            <a:off x="2217201" y="233753"/>
            <a:ext cx="7102186" cy="67950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Arithmetic</a:t>
            </a:r>
            <a:r>
              <a:rPr lang="en-US" altLang="en-US" dirty="0"/>
              <a:t> </a:t>
            </a:r>
            <a:r>
              <a:rPr lang="en-US" altLang="en-US" sz="3600" b="1" dirty="0">
                <a:solidFill>
                  <a:schemeClr val="accent6">
                    <a:lumMod val="75000"/>
                    <a:lumOff val="25000"/>
                  </a:schemeClr>
                </a:solidFill>
                <a:latin typeface="Arial Black" panose="020B0A04020102020204" pitchFamily="34" charset="0"/>
                <a:ea typeface="+mn-ea"/>
                <a:cs typeface="Arial" pitchFamily="34" charset="0"/>
              </a:rPr>
              <a:t>Precedence</a:t>
            </a:r>
          </a:p>
        </p:txBody>
      </p:sp>
    </p:spTree>
    <p:extLst>
      <p:ext uri="{BB962C8B-B14F-4D97-AF65-F5344CB8AC3E}">
        <p14:creationId xmlns:p14="http://schemas.microsoft.com/office/powerpoint/2010/main" val="850175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DD37B2-062B-4C42-BA8E-FEC3A6155757}"/>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17A3966F-4890-4F0E-AE0D-C4C08FF18B66}"/>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CD8EF36E-D7B7-474C-8A73-380D048515EB}"/>
              </a:ext>
            </a:extLst>
          </p:cNvPr>
          <p:cNvSpPr>
            <a:spLocks noGrp="1"/>
          </p:cNvSpPr>
          <p:nvPr>
            <p:ph type="sldNum" sz="quarter" idx="4"/>
          </p:nvPr>
        </p:nvSpPr>
        <p:spPr/>
        <p:txBody>
          <a:bodyPr/>
          <a:lstStyle/>
          <a:p>
            <a:fld id="{48F63A3B-78C7-47BE-AE5E-E10140E04643}" type="slidenum">
              <a:rPr lang="en-US" smtClean="0"/>
              <a:pPr/>
              <a:t>33</a:t>
            </a:fld>
            <a:endParaRPr lang="en-US" dirty="0"/>
          </a:p>
        </p:txBody>
      </p:sp>
      <p:sp>
        <p:nvSpPr>
          <p:cNvPr id="15" name="Rectangle 2">
            <a:extLst>
              <a:ext uri="{FF2B5EF4-FFF2-40B4-BE49-F238E27FC236}">
                <a16:creationId xmlns:a16="http://schemas.microsoft.com/office/drawing/2014/main" id="{281049D6-C429-4517-A050-5A11F6C7F9C5}"/>
              </a:ext>
            </a:extLst>
          </p:cNvPr>
          <p:cNvSpPr>
            <a:spLocks noChangeArrowheads="1"/>
          </p:cNvSpPr>
          <p:nvPr/>
        </p:nvSpPr>
        <p:spPr bwMode="blackGray">
          <a:xfrm>
            <a:off x="731195" y="1246356"/>
            <a:ext cx="7277100" cy="7905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last_name</a:t>
            </a:r>
            <a:r>
              <a:rPr lang="en-US" altLang="en-US" sz="1800" b="1" dirty="0">
                <a:solidFill>
                  <a:srgbClr val="000000"/>
                </a:solidFill>
                <a:latin typeface="Courier New" panose="02070309020205020404" pitchFamily="49" charset="0"/>
              </a:rPr>
              <a:t>, salary, salary + 300</a:t>
            </a: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16" name="TextBox 15">
            <a:extLst>
              <a:ext uri="{FF2B5EF4-FFF2-40B4-BE49-F238E27FC236}">
                <a16:creationId xmlns:a16="http://schemas.microsoft.com/office/drawing/2014/main" id="{0E9AF60C-98EF-419F-907E-0E476B668A50}"/>
              </a:ext>
            </a:extLst>
          </p:cNvPr>
          <p:cNvSpPr txBox="1"/>
          <p:nvPr/>
        </p:nvSpPr>
        <p:spPr>
          <a:xfrm>
            <a:off x="731195" y="213044"/>
            <a:ext cx="10729609"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Arithmetic Operators</a:t>
            </a:r>
          </a:p>
        </p:txBody>
      </p:sp>
      <p:sp>
        <p:nvSpPr>
          <p:cNvPr id="17" name="Rectangle 2">
            <a:extLst>
              <a:ext uri="{FF2B5EF4-FFF2-40B4-BE49-F238E27FC236}">
                <a16:creationId xmlns:a16="http://schemas.microsoft.com/office/drawing/2014/main" id="{EEE450BF-37C3-4F8B-B830-5F996A511D29}"/>
              </a:ext>
            </a:extLst>
          </p:cNvPr>
          <p:cNvSpPr>
            <a:spLocks noChangeArrowheads="1"/>
          </p:cNvSpPr>
          <p:nvPr/>
        </p:nvSpPr>
        <p:spPr bwMode="blackGray">
          <a:xfrm>
            <a:off x="731195" y="2290189"/>
            <a:ext cx="7277100" cy="77946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last_name</a:t>
            </a:r>
            <a:r>
              <a:rPr lang="en-US" altLang="en-US" sz="1800" b="1" dirty="0">
                <a:solidFill>
                  <a:srgbClr val="000000"/>
                </a:solidFill>
                <a:latin typeface="Courier New" panose="02070309020205020404" pitchFamily="49" charset="0"/>
              </a:rPr>
              <a:t>, salary, 12*salary+100</a:t>
            </a: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18" name="Rectangle 4">
            <a:extLst>
              <a:ext uri="{FF2B5EF4-FFF2-40B4-BE49-F238E27FC236}">
                <a16:creationId xmlns:a16="http://schemas.microsoft.com/office/drawing/2014/main" id="{CF8C34E7-07E1-415E-834D-B3F540119A21}"/>
              </a:ext>
            </a:extLst>
          </p:cNvPr>
          <p:cNvSpPr>
            <a:spLocks noChangeArrowheads="1"/>
          </p:cNvSpPr>
          <p:nvPr/>
        </p:nvSpPr>
        <p:spPr bwMode="gray">
          <a:xfrm>
            <a:off x="4326883" y="2356864"/>
            <a:ext cx="2057400" cy="3460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Rectangle 5">
            <a:extLst>
              <a:ext uri="{FF2B5EF4-FFF2-40B4-BE49-F238E27FC236}">
                <a16:creationId xmlns:a16="http://schemas.microsoft.com/office/drawing/2014/main" id="{9C1FF050-901B-4E0D-A07C-910FB2C736B4}"/>
              </a:ext>
            </a:extLst>
          </p:cNvPr>
          <p:cNvSpPr>
            <a:spLocks noChangeArrowheads="1"/>
          </p:cNvSpPr>
          <p:nvPr/>
        </p:nvSpPr>
        <p:spPr bwMode="blackGray">
          <a:xfrm>
            <a:off x="731195" y="4355527"/>
            <a:ext cx="7277100" cy="741362"/>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last_name</a:t>
            </a:r>
            <a:r>
              <a:rPr lang="en-US" altLang="en-US" sz="1800" b="1" dirty="0">
                <a:solidFill>
                  <a:srgbClr val="000000"/>
                </a:solidFill>
                <a:latin typeface="Courier New" panose="02070309020205020404" pitchFamily="49" charset="0"/>
              </a:rPr>
              <a:t>, salary, 12*(salary+100)</a:t>
            </a:r>
          </a:p>
          <a:p>
            <a:pPr eaLnBrk="0" hangingPunct="0">
              <a:buClrTx/>
              <a:buFontTx/>
              <a:buNone/>
            </a:pPr>
            <a:r>
              <a:rPr lang="en-US" altLang="en-US" sz="1800" b="1" dirty="0">
                <a:solidFill>
                  <a:srgbClr val="000000"/>
                </a:solidFill>
                <a:latin typeface="Courier New" panose="02070309020205020404" pitchFamily="49" charset="0"/>
              </a:rPr>
              <a:t>FROM   employees;</a:t>
            </a:r>
          </a:p>
        </p:txBody>
      </p:sp>
      <p:sp>
        <p:nvSpPr>
          <p:cNvPr id="20" name="Rectangle 6">
            <a:extLst>
              <a:ext uri="{FF2B5EF4-FFF2-40B4-BE49-F238E27FC236}">
                <a16:creationId xmlns:a16="http://schemas.microsoft.com/office/drawing/2014/main" id="{E1FB58A8-B7FC-4338-AB3D-12AE01D077FA}"/>
              </a:ext>
            </a:extLst>
          </p:cNvPr>
          <p:cNvSpPr>
            <a:spLocks noChangeArrowheads="1"/>
          </p:cNvSpPr>
          <p:nvPr/>
        </p:nvSpPr>
        <p:spPr bwMode="gray">
          <a:xfrm>
            <a:off x="4315770" y="4412677"/>
            <a:ext cx="2320925" cy="3460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Text Box 8">
            <a:extLst>
              <a:ext uri="{FF2B5EF4-FFF2-40B4-BE49-F238E27FC236}">
                <a16:creationId xmlns:a16="http://schemas.microsoft.com/office/drawing/2014/main" id="{BED2A746-5003-49C0-931A-DDC20CA8E164}"/>
              </a:ext>
            </a:extLst>
          </p:cNvPr>
          <p:cNvSpPr txBox="1">
            <a:spLocks noChangeArrowheads="1"/>
          </p:cNvSpPr>
          <p:nvPr/>
        </p:nvSpPr>
        <p:spPr bwMode="gray">
          <a:xfrm>
            <a:off x="1302695" y="3934839"/>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sp>
        <p:nvSpPr>
          <p:cNvPr id="22" name="Text Box 13">
            <a:extLst>
              <a:ext uri="{FF2B5EF4-FFF2-40B4-BE49-F238E27FC236}">
                <a16:creationId xmlns:a16="http://schemas.microsoft.com/office/drawing/2014/main" id="{030DD9F5-FA07-417F-8B16-9AF3E4B8663C}"/>
              </a:ext>
            </a:extLst>
          </p:cNvPr>
          <p:cNvSpPr txBox="1">
            <a:spLocks noChangeArrowheads="1"/>
          </p:cNvSpPr>
          <p:nvPr/>
        </p:nvSpPr>
        <p:spPr bwMode="gray">
          <a:xfrm>
            <a:off x="1302695" y="5992239"/>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a:latin typeface="Arial" panose="020B0604020202020204" pitchFamily="34" charset="0"/>
              </a:rPr>
              <a:t>…</a:t>
            </a:r>
          </a:p>
        </p:txBody>
      </p:sp>
      <p:sp>
        <p:nvSpPr>
          <p:cNvPr id="23" name="Oval 15">
            <a:extLst>
              <a:ext uri="{FF2B5EF4-FFF2-40B4-BE49-F238E27FC236}">
                <a16:creationId xmlns:a16="http://schemas.microsoft.com/office/drawing/2014/main" id="{EF9A1FA6-05E6-48C9-96D7-1FA14445F123}"/>
              </a:ext>
            </a:extLst>
          </p:cNvPr>
          <p:cNvSpPr>
            <a:spLocks noChangeArrowheads="1"/>
          </p:cNvSpPr>
          <p:nvPr/>
        </p:nvSpPr>
        <p:spPr bwMode="blackWhite">
          <a:xfrm>
            <a:off x="7424095" y="2445764"/>
            <a:ext cx="490538" cy="493713"/>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a:latin typeface="Arial" panose="020B0604020202020204" pitchFamily="34" charset="0"/>
              </a:rPr>
              <a:t>1</a:t>
            </a:r>
          </a:p>
        </p:txBody>
      </p:sp>
      <p:sp>
        <p:nvSpPr>
          <p:cNvPr id="24" name="Oval 16">
            <a:extLst>
              <a:ext uri="{FF2B5EF4-FFF2-40B4-BE49-F238E27FC236}">
                <a16:creationId xmlns:a16="http://schemas.microsoft.com/office/drawing/2014/main" id="{EF8F3B67-ADFA-41C4-8FC2-69BA0E0DD906}"/>
              </a:ext>
            </a:extLst>
          </p:cNvPr>
          <p:cNvSpPr>
            <a:spLocks noChangeArrowheads="1"/>
          </p:cNvSpPr>
          <p:nvPr/>
        </p:nvSpPr>
        <p:spPr bwMode="blackWhite">
          <a:xfrm>
            <a:off x="7422508" y="4455539"/>
            <a:ext cx="493712" cy="493713"/>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a:latin typeface="Arial" panose="020B0604020202020204" pitchFamily="34" charset="0"/>
              </a:rPr>
              <a:t>2</a:t>
            </a:r>
          </a:p>
        </p:txBody>
      </p:sp>
      <p:pic>
        <p:nvPicPr>
          <p:cNvPr id="25" name="Picture 19">
            <a:extLst>
              <a:ext uri="{FF2B5EF4-FFF2-40B4-BE49-F238E27FC236}">
                <a16:creationId xmlns:a16="http://schemas.microsoft.com/office/drawing/2014/main" id="{45334ACF-6CEC-48F5-A1E4-64B1E0B414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302695" y="3172839"/>
            <a:ext cx="3657600" cy="94932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0">
            <a:extLst>
              <a:ext uri="{FF2B5EF4-FFF2-40B4-BE49-F238E27FC236}">
                <a16:creationId xmlns:a16="http://schemas.microsoft.com/office/drawing/2014/main" id="{623EDD3B-C8FE-4ADC-A598-0230DBC1B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302695" y="5230239"/>
            <a:ext cx="3749675" cy="93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033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BC07A-8937-4D59-942B-133160C0C927}"/>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5083CF7-C46D-4510-B435-B9CF4E5AE17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90A0D08-75E0-47BF-B904-66539594D80C}"/>
              </a:ext>
            </a:extLst>
          </p:cNvPr>
          <p:cNvSpPr>
            <a:spLocks noGrp="1"/>
          </p:cNvSpPr>
          <p:nvPr>
            <p:ph type="sldNum" sz="quarter" idx="4"/>
          </p:nvPr>
        </p:nvSpPr>
        <p:spPr/>
        <p:txBody>
          <a:bodyPr/>
          <a:lstStyle/>
          <a:p>
            <a:fld id="{48F63A3B-78C7-47BE-AE5E-E10140E04643}" type="slidenum">
              <a:rPr lang="en-US" smtClean="0"/>
              <a:pPr/>
              <a:t>34</a:t>
            </a:fld>
            <a:endParaRPr lang="en-US" dirty="0"/>
          </a:p>
        </p:txBody>
      </p:sp>
      <p:sp>
        <p:nvSpPr>
          <p:cNvPr id="6" name="TextBox 5">
            <a:extLst>
              <a:ext uri="{FF2B5EF4-FFF2-40B4-BE49-F238E27FC236}">
                <a16:creationId xmlns:a16="http://schemas.microsoft.com/office/drawing/2014/main" id="{90F92F7D-9CC4-40BF-A736-2B2EB1015BBE}"/>
              </a:ext>
            </a:extLst>
          </p:cNvPr>
          <p:cNvSpPr txBox="1"/>
          <p:nvPr/>
        </p:nvSpPr>
        <p:spPr>
          <a:xfrm>
            <a:off x="150723" y="1088477"/>
            <a:ext cx="11890554" cy="3236142"/>
          </a:xfrm>
          <a:prstGeom prst="rect">
            <a:avLst/>
          </a:prstGeom>
          <a:noFill/>
        </p:spPr>
        <p:txBody>
          <a:bodyPr wrap="square">
            <a:spAutoFit/>
          </a:bodyPr>
          <a:lstStyle/>
          <a:p>
            <a:pPr>
              <a:lnSpc>
                <a:spcPct val="150000"/>
              </a:lnSpc>
            </a:pPr>
            <a:r>
              <a:rPr lang="en-US" sz="2800" dirty="0">
                <a:latin typeface="Tahoma" panose="020B0604030504040204" pitchFamily="34" charset="0"/>
                <a:ea typeface="Tahoma" panose="020B0604030504040204" pitchFamily="34" charset="0"/>
                <a:cs typeface="Tahoma" panose="020B0604030504040204" pitchFamily="34" charset="0"/>
              </a:rPr>
              <a:t>The </a:t>
            </a:r>
            <a:r>
              <a:rPr lang="en-US" sz="2800" b="1" i="1" dirty="0">
                <a:latin typeface="Tahoma" panose="020B0604030504040204" pitchFamily="34" charset="0"/>
                <a:ea typeface="Tahoma" panose="020B0604030504040204" pitchFamily="34" charset="0"/>
                <a:cs typeface="Tahoma" panose="020B0604030504040204" pitchFamily="34" charset="0"/>
              </a:rPr>
              <a:t>EQUALITY</a:t>
            </a:r>
            <a:r>
              <a:rPr lang="en-US" sz="2800" i="1" dirty="0">
                <a:latin typeface="Tahoma" panose="020B0604030504040204" pitchFamily="34" charset="0"/>
                <a:ea typeface="Tahoma" panose="020B0604030504040204" pitchFamily="34" charset="0"/>
                <a:cs typeface="Tahoma" panose="020B0604030504040204" pitchFamily="34" charset="0"/>
              </a:rPr>
              <a:t> </a:t>
            </a:r>
            <a:r>
              <a:rPr lang="en-US" sz="2800" dirty="0">
                <a:latin typeface="Tahoma" panose="020B0604030504040204" pitchFamily="34" charset="0"/>
                <a:ea typeface="Tahoma" panose="020B0604030504040204" pitchFamily="34" charset="0"/>
                <a:cs typeface="Tahoma" panose="020B0604030504040204" pitchFamily="34" charset="0"/>
              </a:rPr>
              <a:t>operator is used extensively to illustrate the concept of restricting rows using a WHERE clause. </a:t>
            </a:r>
          </a:p>
          <a:p>
            <a:pPr>
              <a:lnSpc>
                <a:spcPct val="150000"/>
              </a:lnSpc>
            </a:pPr>
            <a:r>
              <a:rPr lang="en-US" sz="2800" dirty="0">
                <a:latin typeface="Tahoma" panose="020B0604030504040204" pitchFamily="34" charset="0"/>
                <a:ea typeface="Tahoma" panose="020B0604030504040204" pitchFamily="34" charset="0"/>
                <a:cs typeface="Tahoma" panose="020B0604030504040204" pitchFamily="34" charset="0"/>
              </a:rPr>
              <a:t>There are several alternative operators that may also be used. </a:t>
            </a:r>
          </a:p>
          <a:p>
            <a:pPr>
              <a:lnSpc>
                <a:spcPct val="150000"/>
              </a:lnSpc>
            </a:pPr>
            <a:r>
              <a:rPr lang="en-US" sz="2800" dirty="0">
                <a:latin typeface="Tahoma" panose="020B0604030504040204" pitchFamily="34" charset="0"/>
                <a:ea typeface="Tahoma" panose="020B0604030504040204" pitchFamily="34" charset="0"/>
                <a:cs typeface="Tahoma" panose="020B0604030504040204" pitchFamily="34" charset="0"/>
              </a:rPr>
              <a:t>The </a:t>
            </a:r>
            <a:r>
              <a:rPr lang="en-US" sz="2800" b="1" i="1" dirty="0">
                <a:latin typeface="Tahoma" panose="020B0604030504040204" pitchFamily="34" charset="0"/>
                <a:ea typeface="Tahoma" panose="020B0604030504040204" pitchFamily="34" charset="0"/>
                <a:cs typeface="Tahoma" panose="020B0604030504040204" pitchFamily="34" charset="0"/>
              </a:rPr>
              <a:t>INEQUALITY</a:t>
            </a:r>
            <a:r>
              <a:rPr lang="en-US" sz="2800" i="1" dirty="0">
                <a:latin typeface="Tahoma" panose="020B0604030504040204" pitchFamily="34" charset="0"/>
                <a:ea typeface="Tahoma" panose="020B0604030504040204" pitchFamily="34" charset="0"/>
                <a:cs typeface="Tahoma" panose="020B0604030504040204" pitchFamily="34" charset="0"/>
              </a:rPr>
              <a:t> </a:t>
            </a:r>
            <a:r>
              <a:rPr lang="en-US" sz="2800" dirty="0">
                <a:latin typeface="Tahoma" panose="020B0604030504040204" pitchFamily="34" charset="0"/>
                <a:ea typeface="Tahoma" panose="020B0604030504040204" pitchFamily="34" charset="0"/>
                <a:cs typeface="Tahoma" panose="020B0604030504040204" pitchFamily="34" charset="0"/>
              </a:rPr>
              <a:t>operators like “less than” or “greater than or equal to” may be used to return rows conforming to inequality conditions. </a:t>
            </a:r>
          </a:p>
        </p:txBody>
      </p:sp>
      <p:sp>
        <p:nvSpPr>
          <p:cNvPr id="7" name="TextBox 6">
            <a:extLst>
              <a:ext uri="{FF2B5EF4-FFF2-40B4-BE49-F238E27FC236}">
                <a16:creationId xmlns:a16="http://schemas.microsoft.com/office/drawing/2014/main" id="{39AD67DE-DD44-4EA3-8DA5-F2963008F067}"/>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Comparison Operators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2204260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35</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Comparison Operators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32" name="Rectangle 4">
            <a:extLst>
              <a:ext uri="{FF2B5EF4-FFF2-40B4-BE49-F238E27FC236}">
                <a16:creationId xmlns:a16="http://schemas.microsoft.com/office/drawing/2014/main" id="{AC9A60F5-D530-428C-9D23-B8F012E07BB8}"/>
              </a:ext>
            </a:extLst>
          </p:cNvPr>
          <p:cNvSpPr>
            <a:spLocks noChangeArrowheads="1"/>
          </p:cNvSpPr>
          <p:nvPr/>
        </p:nvSpPr>
        <p:spPr bwMode="blackWhite">
          <a:xfrm>
            <a:off x="1989653" y="3367657"/>
            <a:ext cx="34163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Not equal to</a:t>
            </a:r>
          </a:p>
        </p:txBody>
      </p:sp>
      <p:sp>
        <p:nvSpPr>
          <p:cNvPr id="33" name="Rectangle 5">
            <a:extLst>
              <a:ext uri="{FF2B5EF4-FFF2-40B4-BE49-F238E27FC236}">
                <a16:creationId xmlns:a16="http://schemas.microsoft.com/office/drawing/2014/main" id="{EAB00C08-AFD0-4C86-BACD-4DB341DFE41A}"/>
              </a:ext>
            </a:extLst>
          </p:cNvPr>
          <p:cNvSpPr>
            <a:spLocks noChangeArrowheads="1"/>
          </p:cNvSpPr>
          <p:nvPr/>
        </p:nvSpPr>
        <p:spPr bwMode="blackWhite">
          <a:xfrm>
            <a:off x="427553" y="3367657"/>
            <a:ext cx="15621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&lt;&gt;</a:t>
            </a:r>
          </a:p>
        </p:txBody>
      </p:sp>
      <p:sp>
        <p:nvSpPr>
          <p:cNvPr id="34" name="Rectangle 6">
            <a:extLst>
              <a:ext uri="{FF2B5EF4-FFF2-40B4-BE49-F238E27FC236}">
                <a16:creationId xmlns:a16="http://schemas.microsoft.com/office/drawing/2014/main" id="{FFC857CA-7589-4F43-A3CC-47BFE1AF5C1D}"/>
              </a:ext>
            </a:extLst>
          </p:cNvPr>
          <p:cNvSpPr>
            <a:spLocks noChangeArrowheads="1"/>
          </p:cNvSpPr>
          <p:nvPr/>
        </p:nvSpPr>
        <p:spPr bwMode="blackWhite">
          <a:xfrm>
            <a:off x="1989653" y="3732780"/>
            <a:ext cx="3416300" cy="6397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solidFill>
                  <a:srgbClr val="000000"/>
                </a:solidFill>
              </a:rPr>
              <a:t>Between two values (inclusive)</a:t>
            </a:r>
          </a:p>
        </p:txBody>
      </p:sp>
      <p:sp>
        <p:nvSpPr>
          <p:cNvPr id="35" name="Rectangle 7">
            <a:extLst>
              <a:ext uri="{FF2B5EF4-FFF2-40B4-BE49-F238E27FC236}">
                <a16:creationId xmlns:a16="http://schemas.microsoft.com/office/drawing/2014/main" id="{E7264491-121E-4AE1-9CF5-2C905E365853}"/>
              </a:ext>
            </a:extLst>
          </p:cNvPr>
          <p:cNvSpPr>
            <a:spLocks noChangeArrowheads="1"/>
          </p:cNvSpPr>
          <p:nvPr/>
        </p:nvSpPr>
        <p:spPr bwMode="blackWhite">
          <a:xfrm>
            <a:off x="427553" y="3732780"/>
            <a:ext cx="1562100" cy="6397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solidFill>
                  <a:srgbClr val="000000"/>
                </a:solidFill>
                <a:latin typeface="Courier New" panose="02070309020205020404" pitchFamily="49" charset="0"/>
              </a:rPr>
              <a:t>BETWEEN</a:t>
            </a:r>
            <a:br>
              <a:rPr lang="en-US" altLang="en-US" sz="1600">
                <a:solidFill>
                  <a:srgbClr val="000000"/>
                </a:solidFill>
                <a:latin typeface="Courier New" panose="02070309020205020404" pitchFamily="49" charset="0"/>
              </a:rPr>
            </a:br>
            <a:r>
              <a:rPr lang="en-US" altLang="en-US" sz="1600">
                <a:solidFill>
                  <a:srgbClr val="000000"/>
                </a:solidFill>
                <a:latin typeface="Courier New" panose="02070309020205020404" pitchFamily="49" charset="0"/>
              </a:rPr>
              <a:t>...AND...</a:t>
            </a:r>
          </a:p>
        </p:txBody>
      </p:sp>
      <p:sp>
        <p:nvSpPr>
          <p:cNvPr id="36" name="Rectangle 8">
            <a:extLst>
              <a:ext uri="{FF2B5EF4-FFF2-40B4-BE49-F238E27FC236}">
                <a16:creationId xmlns:a16="http://schemas.microsoft.com/office/drawing/2014/main" id="{C6EBCEBA-3E32-4F4F-85CB-128878E0AEB8}"/>
              </a:ext>
            </a:extLst>
          </p:cNvPr>
          <p:cNvSpPr>
            <a:spLocks noChangeArrowheads="1"/>
          </p:cNvSpPr>
          <p:nvPr/>
        </p:nvSpPr>
        <p:spPr bwMode="blackWhite">
          <a:xfrm>
            <a:off x="1989653" y="4372542"/>
            <a:ext cx="3416300" cy="4206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20000"/>
              </a:lnSpc>
              <a:spcBef>
                <a:spcPct val="60000"/>
              </a:spcBef>
              <a:buClrTx/>
              <a:buFontTx/>
              <a:buNone/>
            </a:pPr>
            <a:r>
              <a:rPr lang="en-US" altLang="en-US" sz="1600">
                <a:solidFill>
                  <a:srgbClr val="000000"/>
                </a:solidFill>
              </a:rPr>
              <a:t>Match any of a list of values </a:t>
            </a:r>
            <a:endParaRPr lang="en-US" altLang="en-US" sz="1600"/>
          </a:p>
        </p:txBody>
      </p:sp>
      <p:sp>
        <p:nvSpPr>
          <p:cNvPr id="37" name="Rectangle 9">
            <a:extLst>
              <a:ext uri="{FF2B5EF4-FFF2-40B4-BE49-F238E27FC236}">
                <a16:creationId xmlns:a16="http://schemas.microsoft.com/office/drawing/2014/main" id="{18685A16-60B9-4CBF-BF53-A5E157A6C590}"/>
              </a:ext>
            </a:extLst>
          </p:cNvPr>
          <p:cNvSpPr>
            <a:spLocks noChangeArrowheads="1"/>
          </p:cNvSpPr>
          <p:nvPr/>
        </p:nvSpPr>
        <p:spPr bwMode="blackWhite">
          <a:xfrm>
            <a:off x="427553" y="4372542"/>
            <a:ext cx="1562100" cy="4206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20000"/>
              </a:lnSpc>
              <a:spcBef>
                <a:spcPct val="60000"/>
              </a:spcBef>
              <a:buClrTx/>
              <a:buFontTx/>
              <a:buNone/>
            </a:pPr>
            <a:r>
              <a:rPr lang="en-US" altLang="en-US" sz="1600">
                <a:solidFill>
                  <a:srgbClr val="000000"/>
                </a:solidFill>
                <a:latin typeface="Courier New" panose="02070309020205020404" pitchFamily="49" charset="0"/>
              </a:rPr>
              <a:t>IN(set)</a:t>
            </a:r>
          </a:p>
        </p:txBody>
      </p:sp>
      <p:sp>
        <p:nvSpPr>
          <p:cNvPr id="38" name="Rectangle 10">
            <a:extLst>
              <a:ext uri="{FF2B5EF4-FFF2-40B4-BE49-F238E27FC236}">
                <a16:creationId xmlns:a16="http://schemas.microsoft.com/office/drawing/2014/main" id="{D5548C01-FD6B-4D54-9EE8-5FCEAD295DA1}"/>
              </a:ext>
            </a:extLst>
          </p:cNvPr>
          <p:cNvSpPr>
            <a:spLocks noChangeArrowheads="1"/>
          </p:cNvSpPr>
          <p:nvPr/>
        </p:nvSpPr>
        <p:spPr bwMode="blackWhite">
          <a:xfrm>
            <a:off x="1989653" y="4793232"/>
            <a:ext cx="3416300" cy="4206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20000"/>
              </a:lnSpc>
              <a:spcBef>
                <a:spcPct val="60000"/>
              </a:spcBef>
              <a:buClrTx/>
              <a:buFontTx/>
              <a:buNone/>
            </a:pPr>
            <a:r>
              <a:rPr lang="en-US" altLang="en-US" sz="1600">
                <a:solidFill>
                  <a:srgbClr val="000000"/>
                </a:solidFill>
              </a:rPr>
              <a:t>Match a character pattern </a:t>
            </a:r>
            <a:endParaRPr lang="en-US" altLang="en-US" sz="1600"/>
          </a:p>
        </p:txBody>
      </p:sp>
      <p:sp>
        <p:nvSpPr>
          <p:cNvPr id="39" name="Rectangle 11">
            <a:extLst>
              <a:ext uri="{FF2B5EF4-FFF2-40B4-BE49-F238E27FC236}">
                <a16:creationId xmlns:a16="http://schemas.microsoft.com/office/drawing/2014/main" id="{1D417078-57D5-41B0-A337-24A1DA14461B}"/>
              </a:ext>
            </a:extLst>
          </p:cNvPr>
          <p:cNvSpPr>
            <a:spLocks noChangeArrowheads="1"/>
          </p:cNvSpPr>
          <p:nvPr/>
        </p:nvSpPr>
        <p:spPr bwMode="blackWhite">
          <a:xfrm>
            <a:off x="427553" y="4793232"/>
            <a:ext cx="1562100" cy="4206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20000"/>
              </a:lnSpc>
              <a:spcBef>
                <a:spcPct val="60000"/>
              </a:spcBef>
              <a:buClrTx/>
              <a:buFontTx/>
              <a:buNone/>
            </a:pPr>
            <a:r>
              <a:rPr lang="en-US" altLang="en-US" sz="1600">
                <a:solidFill>
                  <a:srgbClr val="000000"/>
                </a:solidFill>
                <a:latin typeface="Courier New" panose="02070309020205020404" pitchFamily="49" charset="0"/>
              </a:rPr>
              <a:t>LIKE</a:t>
            </a:r>
          </a:p>
        </p:txBody>
      </p:sp>
      <p:sp>
        <p:nvSpPr>
          <p:cNvPr id="40" name="Rectangle 12">
            <a:extLst>
              <a:ext uri="{FF2B5EF4-FFF2-40B4-BE49-F238E27FC236}">
                <a16:creationId xmlns:a16="http://schemas.microsoft.com/office/drawing/2014/main" id="{6204631E-BB1B-49D2-B193-98083BF1ED11}"/>
              </a:ext>
            </a:extLst>
          </p:cNvPr>
          <p:cNvSpPr>
            <a:spLocks noChangeArrowheads="1"/>
          </p:cNvSpPr>
          <p:nvPr/>
        </p:nvSpPr>
        <p:spPr bwMode="blackWhite">
          <a:xfrm>
            <a:off x="1989653" y="5213917"/>
            <a:ext cx="3416300" cy="4206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20000"/>
              </a:lnSpc>
              <a:spcBef>
                <a:spcPct val="60000"/>
              </a:spcBef>
              <a:buClrTx/>
              <a:buFontTx/>
              <a:buNone/>
            </a:pPr>
            <a:r>
              <a:rPr lang="en-US" altLang="en-US" sz="1600">
                <a:solidFill>
                  <a:srgbClr val="000000"/>
                </a:solidFill>
              </a:rPr>
              <a:t>Is a null value </a:t>
            </a:r>
          </a:p>
        </p:txBody>
      </p:sp>
      <p:sp>
        <p:nvSpPr>
          <p:cNvPr id="41" name="Rectangle 13">
            <a:extLst>
              <a:ext uri="{FF2B5EF4-FFF2-40B4-BE49-F238E27FC236}">
                <a16:creationId xmlns:a16="http://schemas.microsoft.com/office/drawing/2014/main" id="{BDEA3B2E-613D-4B00-A920-A0A347A73372}"/>
              </a:ext>
            </a:extLst>
          </p:cNvPr>
          <p:cNvSpPr>
            <a:spLocks noChangeArrowheads="1"/>
          </p:cNvSpPr>
          <p:nvPr/>
        </p:nvSpPr>
        <p:spPr bwMode="blackWhite">
          <a:xfrm>
            <a:off x="427553" y="5213917"/>
            <a:ext cx="1562100" cy="4206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solidFill>
                  <a:srgbClr val="000000"/>
                </a:solidFill>
                <a:latin typeface="Courier New" panose="02070309020205020404" pitchFamily="49" charset="0"/>
              </a:rPr>
              <a:t>IS NULL</a:t>
            </a:r>
          </a:p>
        </p:txBody>
      </p:sp>
      <p:sp>
        <p:nvSpPr>
          <p:cNvPr id="42" name="Rectangle 14">
            <a:extLst>
              <a:ext uri="{FF2B5EF4-FFF2-40B4-BE49-F238E27FC236}">
                <a16:creationId xmlns:a16="http://schemas.microsoft.com/office/drawing/2014/main" id="{1BC61ACE-0C87-4365-A937-8E5060C637CA}"/>
              </a:ext>
            </a:extLst>
          </p:cNvPr>
          <p:cNvSpPr>
            <a:spLocks noChangeArrowheads="1"/>
          </p:cNvSpPr>
          <p:nvPr/>
        </p:nvSpPr>
        <p:spPr bwMode="blackWhite">
          <a:xfrm>
            <a:off x="1989653" y="2637407"/>
            <a:ext cx="34163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Less than</a:t>
            </a:r>
          </a:p>
        </p:txBody>
      </p:sp>
      <p:sp>
        <p:nvSpPr>
          <p:cNvPr id="43" name="Rectangle 15">
            <a:extLst>
              <a:ext uri="{FF2B5EF4-FFF2-40B4-BE49-F238E27FC236}">
                <a16:creationId xmlns:a16="http://schemas.microsoft.com/office/drawing/2014/main" id="{D4799266-41E9-40AC-BEA7-1E7E6E96BF31}"/>
              </a:ext>
            </a:extLst>
          </p:cNvPr>
          <p:cNvSpPr>
            <a:spLocks noChangeArrowheads="1"/>
          </p:cNvSpPr>
          <p:nvPr/>
        </p:nvSpPr>
        <p:spPr bwMode="blackWhite">
          <a:xfrm>
            <a:off x="427553" y="2637407"/>
            <a:ext cx="15621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&lt;</a:t>
            </a:r>
          </a:p>
        </p:txBody>
      </p:sp>
      <p:sp>
        <p:nvSpPr>
          <p:cNvPr id="44" name="Rectangle 16">
            <a:extLst>
              <a:ext uri="{FF2B5EF4-FFF2-40B4-BE49-F238E27FC236}">
                <a16:creationId xmlns:a16="http://schemas.microsoft.com/office/drawing/2014/main" id="{40713708-9552-4C03-83F4-52427A6B8B28}"/>
              </a:ext>
            </a:extLst>
          </p:cNvPr>
          <p:cNvSpPr>
            <a:spLocks noChangeArrowheads="1"/>
          </p:cNvSpPr>
          <p:nvPr/>
        </p:nvSpPr>
        <p:spPr bwMode="blackWhite">
          <a:xfrm>
            <a:off x="1989653" y="3002532"/>
            <a:ext cx="34163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Less than or equal to</a:t>
            </a:r>
          </a:p>
        </p:txBody>
      </p:sp>
      <p:sp>
        <p:nvSpPr>
          <p:cNvPr id="45" name="Rectangle 17">
            <a:extLst>
              <a:ext uri="{FF2B5EF4-FFF2-40B4-BE49-F238E27FC236}">
                <a16:creationId xmlns:a16="http://schemas.microsoft.com/office/drawing/2014/main" id="{F60F8A45-2F73-4039-B7E3-D17B8C3FE97E}"/>
              </a:ext>
            </a:extLst>
          </p:cNvPr>
          <p:cNvSpPr>
            <a:spLocks noChangeArrowheads="1"/>
          </p:cNvSpPr>
          <p:nvPr/>
        </p:nvSpPr>
        <p:spPr bwMode="blackWhite">
          <a:xfrm>
            <a:off x="427553" y="3002532"/>
            <a:ext cx="15621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&lt;=</a:t>
            </a:r>
          </a:p>
        </p:txBody>
      </p:sp>
      <p:sp>
        <p:nvSpPr>
          <p:cNvPr id="46" name="Rectangle 18">
            <a:extLst>
              <a:ext uri="{FF2B5EF4-FFF2-40B4-BE49-F238E27FC236}">
                <a16:creationId xmlns:a16="http://schemas.microsoft.com/office/drawing/2014/main" id="{BC1EB2A5-36B2-4C0F-A74C-60E71FC85BE3}"/>
              </a:ext>
            </a:extLst>
          </p:cNvPr>
          <p:cNvSpPr>
            <a:spLocks noChangeArrowheads="1"/>
          </p:cNvSpPr>
          <p:nvPr/>
        </p:nvSpPr>
        <p:spPr bwMode="blackWhite">
          <a:xfrm>
            <a:off x="1989653" y="2272282"/>
            <a:ext cx="34163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Greater than or equal to</a:t>
            </a:r>
          </a:p>
        </p:txBody>
      </p:sp>
      <p:sp>
        <p:nvSpPr>
          <p:cNvPr id="47" name="Rectangle 19">
            <a:extLst>
              <a:ext uri="{FF2B5EF4-FFF2-40B4-BE49-F238E27FC236}">
                <a16:creationId xmlns:a16="http://schemas.microsoft.com/office/drawing/2014/main" id="{28F4DA5E-A44E-426D-9295-3F1E109F3DEE}"/>
              </a:ext>
            </a:extLst>
          </p:cNvPr>
          <p:cNvSpPr>
            <a:spLocks noChangeArrowheads="1"/>
          </p:cNvSpPr>
          <p:nvPr/>
        </p:nvSpPr>
        <p:spPr bwMode="blackWhite">
          <a:xfrm>
            <a:off x="427553" y="2272282"/>
            <a:ext cx="1562100"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gn="ctr" eaLnBrk="1" hangingPunct="1"/>
            <a:r>
              <a:rPr lang="en-US" altLang="en-US" sz="1600"/>
              <a:t>&gt;=</a:t>
            </a:r>
          </a:p>
        </p:txBody>
      </p:sp>
      <p:sp>
        <p:nvSpPr>
          <p:cNvPr id="48" name="Rectangle 20">
            <a:extLst>
              <a:ext uri="{FF2B5EF4-FFF2-40B4-BE49-F238E27FC236}">
                <a16:creationId xmlns:a16="http://schemas.microsoft.com/office/drawing/2014/main" id="{1E1E7961-2E79-41B7-B55B-1FF0EDA42381}"/>
              </a:ext>
            </a:extLst>
          </p:cNvPr>
          <p:cNvSpPr>
            <a:spLocks noChangeArrowheads="1"/>
          </p:cNvSpPr>
          <p:nvPr/>
        </p:nvSpPr>
        <p:spPr bwMode="blackWhite">
          <a:xfrm>
            <a:off x="1989653" y="1889692"/>
            <a:ext cx="3416300"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Greater than</a:t>
            </a:r>
          </a:p>
        </p:txBody>
      </p:sp>
      <p:sp>
        <p:nvSpPr>
          <p:cNvPr id="49" name="Rectangle 21">
            <a:extLst>
              <a:ext uri="{FF2B5EF4-FFF2-40B4-BE49-F238E27FC236}">
                <a16:creationId xmlns:a16="http://schemas.microsoft.com/office/drawing/2014/main" id="{13ED54B5-566C-423A-BED5-BD24C2458BF9}"/>
              </a:ext>
            </a:extLst>
          </p:cNvPr>
          <p:cNvSpPr>
            <a:spLocks noChangeArrowheads="1"/>
          </p:cNvSpPr>
          <p:nvPr/>
        </p:nvSpPr>
        <p:spPr bwMode="blackWhite">
          <a:xfrm>
            <a:off x="427553" y="1889692"/>
            <a:ext cx="1562100"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&gt;</a:t>
            </a:r>
          </a:p>
        </p:txBody>
      </p:sp>
      <p:sp>
        <p:nvSpPr>
          <p:cNvPr id="50" name="Rectangle 22">
            <a:extLst>
              <a:ext uri="{FF2B5EF4-FFF2-40B4-BE49-F238E27FC236}">
                <a16:creationId xmlns:a16="http://schemas.microsoft.com/office/drawing/2014/main" id="{985A2031-8330-4F3D-A556-B3DF6A30B103}"/>
              </a:ext>
            </a:extLst>
          </p:cNvPr>
          <p:cNvSpPr>
            <a:spLocks noChangeArrowheads="1"/>
          </p:cNvSpPr>
          <p:nvPr/>
        </p:nvSpPr>
        <p:spPr bwMode="blackWhite">
          <a:xfrm>
            <a:off x="1989653" y="1515042"/>
            <a:ext cx="3416300" cy="374650"/>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Equal to</a:t>
            </a:r>
          </a:p>
        </p:txBody>
      </p:sp>
      <p:sp>
        <p:nvSpPr>
          <p:cNvPr id="51" name="Rectangle 23">
            <a:extLst>
              <a:ext uri="{FF2B5EF4-FFF2-40B4-BE49-F238E27FC236}">
                <a16:creationId xmlns:a16="http://schemas.microsoft.com/office/drawing/2014/main" id="{4B481D73-FAA7-48B4-ACA9-F49345041772}"/>
              </a:ext>
            </a:extLst>
          </p:cNvPr>
          <p:cNvSpPr>
            <a:spLocks noChangeArrowheads="1"/>
          </p:cNvSpPr>
          <p:nvPr/>
        </p:nvSpPr>
        <p:spPr bwMode="blackWhite">
          <a:xfrm>
            <a:off x="427553" y="1515042"/>
            <a:ext cx="1562100" cy="374650"/>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a:t>
            </a:r>
          </a:p>
        </p:txBody>
      </p:sp>
      <p:sp>
        <p:nvSpPr>
          <p:cNvPr id="52" name="Rectangle 24">
            <a:extLst>
              <a:ext uri="{FF2B5EF4-FFF2-40B4-BE49-F238E27FC236}">
                <a16:creationId xmlns:a16="http://schemas.microsoft.com/office/drawing/2014/main" id="{B905C29E-6726-4EB5-A47C-25EBAB01DE2D}"/>
              </a:ext>
            </a:extLst>
          </p:cNvPr>
          <p:cNvSpPr>
            <a:spLocks noChangeArrowheads="1"/>
          </p:cNvSpPr>
          <p:nvPr/>
        </p:nvSpPr>
        <p:spPr bwMode="gray">
          <a:xfrm>
            <a:off x="1989653" y="1149919"/>
            <a:ext cx="341630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800">
                <a:solidFill>
                  <a:schemeClr val="bg1"/>
                </a:solidFill>
              </a:rPr>
              <a:t>Meaning</a:t>
            </a:r>
          </a:p>
        </p:txBody>
      </p:sp>
      <p:sp>
        <p:nvSpPr>
          <p:cNvPr id="53" name="Rectangle 25">
            <a:extLst>
              <a:ext uri="{FF2B5EF4-FFF2-40B4-BE49-F238E27FC236}">
                <a16:creationId xmlns:a16="http://schemas.microsoft.com/office/drawing/2014/main" id="{E3EBC91D-ECD9-41E3-9106-EB97A635B0EB}"/>
              </a:ext>
            </a:extLst>
          </p:cNvPr>
          <p:cNvSpPr>
            <a:spLocks noChangeArrowheads="1"/>
          </p:cNvSpPr>
          <p:nvPr/>
        </p:nvSpPr>
        <p:spPr bwMode="gray">
          <a:xfrm>
            <a:off x="427553" y="1149919"/>
            <a:ext cx="156210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800">
                <a:solidFill>
                  <a:schemeClr val="bg1"/>
                </a:solidFill>
              </a:rPr>
              <a:t>Operator</a:t>
            </a:r>
          </a:p>
        </p:txBody>
      </p:sp>
      <p:sp>
        <p:nvSpPr>
          <p:cNvPr id="54" name="Line 26">
            <a:extLst>
              <a:ext uri="{FF2B5EF4-FFF2-40B4-BE49-F238E27FC236}">
                <a16:creationId xmlns:a16="http://schemas.microsoft.com/office/drawing/2014/main" id="{BBFB22F5-2CAA-4B83-A528-DCAFE985A3DB}"/>
              </a:ext>
            </a:extLst>
          </p:cNvPr>
          <p:cNvSpPr>
            <a:spLocks noChangeShapeType="1"/>
          </p:cNvSpPr>
          <p:nvPr/>
        </p:nvSpPr>
        <p:spPr bwMode="blackWhite">
          <a:xfrm>
            <a:off x="427553" y="1515042"/>
            <a:ext cx="4978400"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27">
            <a:extLst>
              <a:ext uri="{FF2B5EF4-FFF2-40B4-BE49-F238E27FC236}">
                <a16:creationId xmlns:a16="http://schemas.microsoft.com/office/drawing/2014/main" id="{A6721FF8-B80E-4BA3-B8ED-4967FE3D76C3}"/>
              </a:ext>
            </a:extLst>
          </p:cNvPr>
          <p:cNvSpPr>
            <a:spLocks noChangeShapeType="1"/>
          </p:cNvSpPr>
          <p:nvPr/>
        </p:nvSpPr>
        <p:spPr bwMode="blackWhite">
          <a:xfrm>
            <a:off x="427553" y="1889692"/>
            <a:ext cx="4978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28">
            <a:extLst>
              <a:ext uri="{FF2B5EF4-FFF2-40B4-BE49-F238E27FC236}">
                <a16:creationId xmlns:a16="http://schemas.microsoft.com/office/drawing/2014/main" id="{17ABDC9C-9FEA-412E-AE3A-01767595ECFA}"/>
              </a:ext>
            </a:extLst>
          </p:cNvPr>
          <p:cNvSpPr>
            <a:spLocks noChangeShapeType="1"/>
          </p:cNvSpPr>
          <p:nvPr/>
        </p:nvSpPr>
        <p:spPr bwMode="blackWhite">
          <a:xfrm>
            <a:off x="427553" y="2272280"/>
            <a:ext cx="4978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29">
            <a:extLst>
              <a:ext uri="{FF2B5EF4-FFF2-40B4-BE49-F238E27FC236}">
                <a16:creationId xmlns:a16="http://schemas.microsoft.com/office/drawing/2014/main" id="{EB2F1372-5BB4-43C7-BBE5-732ADE665F4C}"/>
              </a:ext>
            </a:extLst>
          </p:cNvPr>
          <p:cNvSpPr>
            <a:spLocks noChangeShapeType="1"/>
          </p:cNvSpPr>
          <p:nvPr/>
        </p:nvSpPr>
        <p:spPr bwMode="blackWhite">
          <a:xfrm>
            <a:off x="427553" y="5634605"/>
            <a:ext cx="49784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30">
            <a:extLst>
              <a:ext uri="{FF2B5EF4-FFF2-40B4-BE49-F238E27FC236}">
                <a16:creationId xmlns:a16="http://schemas.microsoft.com/office/drawing/2014/main" id="{BAA19D1D-499D-4879-AF33-145F5F89B9DE}"/>
              </a:ext>
            </a:extLst>
          </p:cNvPr>
          <p:cNvSpPr>
            <a:spLocks noChangeShapeType="1"/>
          </p:cNvSpPr>
          <p:nvPr/>
        </p:nvSpPr>
        <p:spPr bwMode="blackWhite">
          <a:xfrm>
            <a:off x="427553" y="1149919"/>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31">
            <a:extLst>
              <a:ext uri="{FF2B5EF4-FFF2-40B4-BE49-F238E27FC236}">
                <a16:creationId xmlns:a16="http://schemas.microsoft.com/office/drawing/2014/main" id="{18AA487B-23E6-444D-A32A-93A441D7D05F}"/>
              </a:ext>
            </a:extLst>
          </p:cNvPr>
          <p:cNvSpPr>
            <a:spLocks noChangeShapeType="1"/>
          </p:cNvSpPr>
          <p:nvPr/>
        </p:nvSpPr>
        <p:spPr bwMode="blackWhite">
          <a:xfrm>
            <a:off x="1989653" y="1149917"/>
            <a:ext cx="0" cy="44846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32">
            <a:extLst>
              <a:ext uri="{FF2B5EF4-FFF2-40B4-BE49-F238E27FC236}">
                <a16:creationId xmlns:a16="http://schemas.microsoft.com/office/drawing/2014/main" id="{7521E384-2358-4FC3-B169-2549EDE8183C}"/>
              </a:ext>
            </a:extLst>
          </p:cNvPr>
          <p:cNvSpPr>
            <a:spLocks noChangeShapeType="1"/>
          </p:cNvSpPr>
          <p:nvPr/>
        </p:nvSpPr>
        <p:spPr bwMode="blackWhite">
          <a:xfrm>
            <a:off x="5405953" y="1149919"/>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33">
            <a:extLst>
              <a:ext uri="{FF2B5EF4-FFF2-40B4-BE49-F238E27FC236}">
                <a16:creationId xmlns:a16="http://schemas.microsoft.com/office/drawing/2014/main" id="{0407FDC6-47D7-480E-958C-2264BC330F48}"/>
              </a:ext>
            </a:extLst>
          </p:cNvPr>
          <p:cNvSpPr>
            <a:spLocks noChangeShapeType="1"/>
          </p:cNvSpPr>
          <p:nvPr/>
        </p:nvSpPr>
        <p:spPr bwMode="blackWhite">
          <a:xfrm>
            <a:off x="427553" y="2637405"/>
            <a:ext cx="4978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34">
            <a:extLst>
              <a:ext uri="{FF2B5EF4-FFF2-40B4-BE49-F238E27FC236}">
                <a16:creationId xmlns:a16="http://schemas.microsoft.com/office/drawing/2014/main" id="{2029425A-C19E-4DFF-9275-7956D1931003}"/>
              </a:ext>
            </a:extLst>
          </p:cNvPr>
          <p:cNvSpPr>
            <a:spLocks noChangeShapeType="1"/>
          </p:cNvSpPr>
          <p:nvPr/>
        </p:nvSpPr>
        <p:spPr bwMode="blackWhite">
          <a:xfrm>
            <a:off x="427553" y="3367655"/>
            <a:ext cx="4978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63" name="Line 35">
            <a:extLst>
              <a:ext uri="{FF2B5EF4-FFF2-40B4-BE49-F238E27FC236}">
                <a16:creationId xmlns:a16="http://schemas.microsoft.com/office/drawing/2014/main" id="{634324A4-C248-4B6A-BE99-1A95CAE4759A}"/>
              </a:ext>
            </a:extLst>
          </p:cNvPr>
          <p:cNvSpPr>
            <a:spLocks noChangeShapeType="1"/>
          </p:cNvSpPr>
          <p:nvPr/>
        </p:nvSpPr>
        <p:spPr bwMode="blackWhite">
          <a:xfrm>
            <a:off x="427553" y="3002530"/>
            <a:ext cx="4978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64" name="Line 36">
            <a:extLst>
              <a:ext uri="{FF2B5EF4-FFF2-40B4-BE49-F238E27FC236}">
                <a16:creationId xmlns:a16="http://schemas.microsoft.com/office/drawing/2014/main" id="{DE25D54E-B17B-4313-A0FF-3A7A502FBE97}"/>
              </a:ext>
            </a:extLst>
          </p:cNvPr>
          <p:cNvSpPr>
            <a:spLocks noChangeShapeType="1"/>
          </p:cNvSpPr>
          <p:nvPr/>
        </p:nvSpPr>
        <p:spPr bwMode="blackWhite">
          <a:xfrm>
            <a:off x="427553" y="5213917"/>
            <a:ext cx="4978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65" name="Line 37">
            <a:extLst>
              <a:ext uri="{FF2B5EF4-FFF2-40B4-BE49-F238E27FC236}">
                <a16:creationId xmlns:a16="http://schemas.microsoft.com/office/drawing/2014/main" id="{80D47B5A-D3EB-4D41-B8B8-68A1FF1C0692}"/>
              </a:ext>
            </a:extLst>
          </p:cNvPr>
          <p:cNvSpPr>
            <a:spLocks noChangeShapeType="1"/>
          </p:cNvSpPr>
          <p:nvPr/>
        </p:nvSpPr>
        <p:spPr bwMode="blackWhite">
          <a:xfrm>
            <a:off x="427553" y="4793230"/>
            <a:ext cx="4978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66" name="Line 38">
            <a:extLst>
              <a:ext uri="{FF2B5EF4-FFF2-40B4-BE49-F238E27FC236}">
                <a16:creationId xmlns:a16="http://schemas.microsoft.com/office/drawing/2014/main" id="{58359584-2B59-420D-A2A4-B33D59F8D407}"/>
              </a:ext>
            </a:extLst>
          </p:cNvPr>
          <p:cNvSpPr>
            <a:spLocks noChangeShapeType="1"/>
          </p:cNvSpPr>
          <p:nvPr/>
        </p:nvSpPr>
        <p:spPr bwMode="blackWhite">
          <a:xfrm>
            <a:off x="427553" y="4372542"/>
            <a:ext cx="4978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67" name="Line 39">
            <a:extLst>
              <a:ext uri="{FF2B5EF4-FFF2-40B4-BE49-F238E27FC236}">
                <a16:creationId xmlns:a16="http://schemas.microsoft.com/office/drawing/2014/main" id="{8ABEAF68-E948-4578-80B4-86A3FFA1A0AD}"/>
              </a:ext>
            </a:extLst>
          </p:cNvPr>
          <p:cNvSpPr>
            <a:spLocks noChangeShapeType="1"/>
          </p:cNvSpPr>
          <p:nvPr/>
        </p:nvSpPr>
        <p:spPr bwMode="blackWhite">
          <a:xfrm>
            <a:off x="427553" y="3732780"/>
            <a:ext cx="4978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68" name="Line 40">
            <a:extLst>
              <a:ext uri="{FF2B5EF4-FFF2-40B4-BE49-F238E27FC236}">
                <a16:creationId xmlns:a16="http://schemas.microsoft.com/office/drawing/2014/main" id="{D4021994-806B-4FDD-B599-9EFBA91EFD9A}"/>
              </a:ext>
            </a:extLst>
          </p:cNvPr>
          <p:cNvSpPr>
            <a:spLocks noChangeShapeType="1"/>
          </p:cNvSpPr>
          <p:nvPr/>
        </p:nvSpPr>
        <p:spPr bwMode="blackWhite">
          <a:xfrm>
            <a:off x="427553" y="1149917"/>
            <a:ext cx="49784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Line 41">
            <a:extLst>
              <a:ext uri="{FF2B5EF4-FFF2-40B4-BE49-F238E27FC236}">
                <a16:creationId xmlns:a16="http://schemas.microsoft.com/office/drawing/2014/main" id="{43B11D7C-0B48-41D4-82D6-385A48D6397C}"/>
              </a:ext>
            </a:extLst>
          </p:cNvPr>
          <p:cNvSpPr>
            <a:spLocks noChangeShapeType="1"/>
          </p:cNvSpPr>
          <p:nvPr/>
        </p:nvSpPr>
        <p:spPr bwMode="blackWhite">
          <a:xfrm>
            <a:off x="427553" y="1515044"/>
            <a:ext cx="0" cy="411956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0" name="Line 42">
            <a:extLst>
              <a:ext uri="{FF2B5EF4-FFF2-40B4-BE49-F238E27FC236}">
                <a16:creationId xmlns:a16="http://schemas.microsoft.com/office/drawing/2014/main" id="{2AB97C2E-534C-4638-BD37-3F725B56C99C}"/>
              </a:ext>
            </a:extLst>
          </p:cNvPr>
          <p:cNvSpPr>
            <a:spLocks noChangeShapeType="1"/>
          </p:cNvSpPr>
          <p:nvPr/>
        </p:nvSpPr>
        <p:spPr bwMode="blackWhite">
          <a:xfrm>
            <a:off x="5405953" y="1515044"/>
            <a:ext cx="0" cy="4119563"/>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Rectangle 2">
            <a:extLst>
              <a:ext uri="{FF2B5EF4-FFF2-40B4-BE49-F238E27FC236}">
                <a16:creationId xmlns:a16="http://schemas.microsoft.com/office/drawing/2014/main" id="{27F48C38-3357-421B-B252-BD9E072127C6}"/>
              </a:ext>
            </a:extLst>
          </p:cNvPr>
          <p:cNvSpPr>
            <a:spLocks noChangeArrowheads="1"/>
          </p:cNvSpPr>
          <p:nvPr/>
        </p:nvSpPr>
        <p:spPr bwMode="blackGray">
          <a:xfrm>
            <a:off x="5649202" y="1146679"/>
            <a:ext cx="5732157"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last_name</a:t>
            </a:r>
            <a:r>
              <a:rPr lang="en-US" altLang="en-US" dirty="0"/>
              <a:t>, salary</a:t>
            </a:r>
          </a:p>
          <a:p>
            <a:r>
              <a:rPr lang="en-US" altLang="en-US" dirty="0"/>
              <a:t>FROM   employees</a:t>
            </a:r>
          </a:p>
          <a:p>
            <a:r>
              <a:rPr lang="en-US" altLang="en-US" dirty="0"/>
              <a:t>WHERE  salary &lt;= 3000 ;</a:t>
            </a:r>
          </a:p>
        </p:txBody>
      </p:sp>
      <p:sp>
        <p:nvSpPr>
          <p:cNvPr id="72" name="Rectangle 4">
            <a:extLst>
              <a:ext uri="{FF2B5EF4-FFF2-40B4-BE49-F238E27FC236}">
                <a16:creationId xmlns:a16="http://schemas.microsoft.com/office/drawing/2014/main" id="{153FD51A-811C-49D0-B207-95DFB4B2AA0D}"/>
              </a:ext>
            </a:extLst>
          </p:cNvPr>
          <p:cNvSpPr>
            <a:spLocks noChangeArrowheads="1"/>
          </p:cNvSpPr>
          <p:nvPr/>
        </p:nvSpPr>
        <p:spPr bwMode="gray">
          <a:xfrm>
            <a:off x="7576427" y="1718179"/>
            <a:ext cx="1087507" cy="28892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73" name="Rectangle 2">
            <a:extLst>
              <a:ext uri="{FF2B5EF4-FFF2-40B4-BE49-F238E27FC236}">
                <a16:creationId xmlns:a16="http://schemas.microsoft.com/office/drawing/2014/main" id="{5C1EDDAD-2289-46CF-A6BB-C9D02447D1A6}"/>
              </a:ext>
            </a:extLst>
          </p:cNvPr>
          <p:cNvSpPr>
            <a:spLocks noChangeArrowheads="1"/>
          </p:cNvSpPr>
          <p:nvPr/>
        </p:nvSpPr>
        <p:spPr bwMode="blackGray">
          <a:xfrm>
            <a:off x="5649202" y="2443730"/>
            <a:ext cx="5732156"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a:t>
            </a:r>
            <a:r>
              <a:rPr lang="en-US" altLang="en-US" dirty="0">
                <a:solidFill>
                  <a:schemeClr val="bg2"/>
                </a:solidFill>
              </a:rPr>
              <a:t> </a:t>
            </a:r>
            <a:r>
              <a:rPr lang="en-US" altLang="en-US" dirty="0" err="1"/>
              <a:t>last_name</a:t>
            </a:r>
            <a:r>
              <a:rPr lang="en-US" altLang="en-US" dirty="0"/>
              <a:t>, salary</a:t>
            </a:r>
          </a:p>
          <a:p>
            <a:r>
              <a:rPr lang="en-US" altLang="en-US" dirty="0"/>
              <a:t>FROM   employees</a:t>
            </a:r>
          </a:p>
          <a:p>
            <a:r>
              <a:rPr lang="en-US" altLang="en-US" dirty="0"/>
              <a:t>WHERE  salary BETWEEN 2500 AND 3500 </a:t>
            </a:r>
            <a:r>
              <a:rPr lang="en-US" altLang="en-US" dirty="0">
                <a:solidFill>
                  <a:schemeClr val="bg2"/>
                </a:solidFill>
              </a:rPr>
              <a:t>;</a:t>
            </a:r>
          </a:p>
        </p:txBody>
      </p:sp>
      <p:sp>
        <p:nvSpPr>
          <p:cNvPr id="74" name="Rectangle 5">
            <a:extLst>
              <a:ext uri="{FF2B5EF4-FFF2-40B4-BE49-F238E27FC236}">
                <a16:creationId xmlns:a16="http://schemas.microsoft.com/office/drawing/2014/main" id="{A8C58814-77B6-4EFB-A335-39D4F522D668}"/>
              </a:ext>
            </a:extLst>
          </p:cNvPr>
          <p:cNvSpPr>
            <a:spLocks noChangeArrowheads="1"/>
          </p:cNvSpPr>
          <p:nvPr/>
        </p:nvSpPr>
        <p:spPr bwMode="auto">
          <a:xfrm>
            <a:off x="8100302" y="3666105"/>
            <a:ext cx="1390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pPr algn="ctr">
              <a:spcBef>
                <a:spcPct val="60000"/>
              </a:spcBef>
            </a:pPr>
            <a:r>
              <a:rPr lang="en-US" altLang="en-US">
                <a:solidFill>
                  <a:schemeClr val="tx1"/>
                </a:solidFill>
                <a:latin typeface="Arial" panose="020B0604020202020204" pitchFamily="34" charset="0"/>
              </a:rPr>
              <a:t>Lower limit</a:t>
            </a:r>
          </a:p>
        </p:txBody>
      </p:sp>
      <p:sp>
        <p:nvSpPr>
          <p:cNvPr id="75" name="Line 6">
            <a:extLst>
              <a:ext uri="{FF2B5EF4-FFF2-40B4-BE49-F238E27FC236}">
                <a16:creationId xmlns:a16="http://schemas.microsoft.com/office/drawing/2014/main" id="{4D3C5D17-91D3-406C-A93A-3887F61ACC8B}"/>
              </a:ext>
            </a:extLst>
          </p:cNvPr>
          <p:cNvSpPr>
            <a:spLocks noChangeShapeType="1"/>
          </p:cNvSpPr>
          <p:nvPr/>
        </p:nvSpPr>
        <p:spPr bwMode="gray">
          <a:xfrm flipH="1">
            <a:off x="8808329" y="3337491"/>
            <a:ext cx="4763" cy="330200"/>
          </a:xfrm>
          <a:prstGeom prst="line">
            <a:avLst/>
          </a:prstGeom>
          <a:noFill/>
          <a:ln w="28575">
            <a:solidFill>
              <a:srgbClr val="FF0033"/>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Rectangle 7">
            <a:extLst>
              <a:ext uri="{FF2B5EF4-FFF2-40B4-BE49-F238E27FC236}">
                <a16:creationId xmlns:a16="http://schemas.microsoft.com/office/drawing/2014/main" id="{3AC0258F-E33E-4E27-BDAD-358AB66132D4}"/>
              </a:ext>
            </a:extLst>
          </p:cNvPr>
          <p:cNvSpPr>
            <a:spLocks noChangeArrowheads="1"/>
          </p:cNvSpPr>
          <p:nvPr/>
        </p:nvSpPr>
        <p:spPr bwMode="auto">
          <a:xfrm>
            <a:off x="9760827" y="3666105"/>
            <a:ext cx="1377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pPr algn="ctr">
              <a:spcBef>
                <a:spcPct val="60000"/>
              </a:spcBef>
            </a:pPr>
            <a:r>
              <a:rPr lang="en-US" altLang="en-US">
                <a:solidFill>
                  <a:schemeClr val="tx1"/>
                </a:solidFill>
                <a:latin typeface="Arial" panose="020B0604020202020204" pitchFamily="34" charset="0"/>
              </a:rPr>
              <a:t>Upper limit</a:t>
            </a:r>
          </a:p>
        </p:txBody>
      </p:sp>
      <p:sp>
        <p:nvSpPr>
          <p:cNvPr id="77" name="Rectangle 8">
            <a:extLst>
              <a:ext uri="{FF2B5EF4-FFF2-40B4-BE49-F238E27FC236}">
                <a16:creationId xmlns:a16="http://schemas.microsoft.com/office/drawing/2014/main" id="{85DB5916-C42E-42A7-8A9D-0AF4E338D606}"/>
              </a:ext>
            </a:extLst>
          </p:cNvPr>
          <p:cNvSpPr>
            <a:spLocks noChangeArrowheads="1"/>
          </p:cNvSpPr>
          <p:nvPr/>
        </p:nvSpPr>
        <p:spPr bwMode="gray">
          <a:xfrm>
            <a:off x="7562142" y="2994593"/>
            <a:ext cx="3074987" cy="29527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78" name="Line 10">
            <a:extLst>
              <a:ext uri="{FF2B5EF4-FFF2-40B4-BE49-F238E27FC236}">
                <a16:creationId xmlns:a16="http://schemas.microsoft.com/office/drawing/2014/main" id="{0973A90E-BCBC-4527-AAF6-3A6933BDE2AA}"/>
              </a:ext>
            </a:extLst>
          </p:cNvPr>
          <p:cNvSpPr>
            <a:spLocks noChangeShapeType="1"/>
          </p:cNvSpPr>
          <p:nvPr/>
        </p:nvSpPr>
        <p:spPr bwMode="gray">
          <a:xfrm flipH="1">
            <a:off x="10452979" y="3337491"/>
            <a:ext cx="4763" cy="330200"/>
          </a:xfrm>
          <a:prstGeom prst="line">
            <a:avLst/>
          </a:prstGeom>
          <a:noFill/>
          <a:ln w="28575">
            <a:solidFill>
              <a:srgbClr val="FF0033"/>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 name="Rectangle 2">
            <a:extLst>
              <a:ext uri="{FF2B5EF4-FFF2-40B4-BE49-F238E27FC236}">
                <a16:creationId xmlns:a16="http://schemas.microsoft.com/office/drawing/2014/main" id="{0AD5C997-AA2E-439E-8240-B72361FC10E5}"/>
              </a:ext>
            </a:extLst>
          </p:cNvPr>
          <p:cNvSpPr>
            <a:spLocks noChangeArrowheads="1"/>
          </p:cNvSpPr>
          <p:nvPr/>
        </p:nvSpPr>
        <p:spPr bwMode="blackGray">
          <a:xfrm>
            <a:off x="5532472" y="4372542"/>
            <a:ext cx="5928332"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employee_id</a:t>
            </a:r>
            <a:r>
              <a:rPr lang="en-US" altLang="en-US" dirty="0"/>
              <a:t>, last_name, salary</a:t>
            </a:r>
          </a:p>
          <a:p>
            <a:r>
              <a:rPr lang="en-US" altLang="en-US" dirty="0"/>
              <a:t>FROM   employees</a:t>
            </a:r>
          </a:p>
          <a:p>
            <a:r>
              <a:rPr lang="en-US" altLang="en-US" dirty="0"/>
              <a:t>WHERE  </a:t>
            </a:r>
            <a:r>
              <a:rPr lang="en-US" altLang="en-US" dirty="0" err="1"/>
              <a:t>manager_id</a:t>
            </a:r>
            <a:r>
              <a:rPr lang="en-US" altLang="en-US" dirty="0"/>
              <a:t> IN (100, 101, 201) ;</a:t>
            </a:r>
          </a:p>
        </p:txBody>
      </p:sp>
      <p:sp>
        <p:nvSpPr>
          <p:cNvPr id="80" name="Rectangle 5">
            <a:extLst>
              <a:ext uri="{FF2B5EF4-FFF2-40B4-BE49-F238E27FC236}">
                <a16:creationId xmlns:a16="http://schemas.microsoft.com/office/drawing/2014/main" id="{77823DC9-BFD2-4B5F-B6A6-F64AC9C691F7}"/>
              </a:ext>
            </a:extLst>
          </p:cNvPr>
          <p:cNvSpPr>
            <a:spLocks noChangeArrowheads="1"/>
          </p:cNvSpPr>
          <p:nvPr/>
        </p:nvSpPr>
        <p:spPr bwMode="gray">
          <a:xfrm>
            <a:off x="8042311" y="4940865"/>
            <a:ext cx="2497137" cy="29845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3114128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86D7FE-37AC-49F6-9FE5-0808723CE79F}"/>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D2757773-BA8F-4FC4-8E04-0D1ED47E1365}"/>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A74D97D1-4F11-46C9-BA25-7843A0CCABCF}"/>
              </a:ext>
            </a:extLst>
          </p:cNvPr>
          <p:cNvSpPr>
            <a:spLocks noGrp="1"/>
          </p:cNvSpPr>
          <p:nvPr>
            <p:ph type="sldNum" sz="quarter" idx="4"/>
          </p:nvPr>
        </p:nvSpPr>
        <p:spPr/>
        <p:txBody>
          <a:bodyPr/>
          <a:lstStyle/>
          <a:p>
            <a:fld id="{48F63A3B-78C7-47BE-AE5E-E10140E04643}" type="slidenum">
              <a:rPr lang="en-US" smtClean="0"/>
              <a:pPr/>
              <a:t>36</a:t>
            </a:fld>
            <a:endParaRPr lang="en-US" dirty="0"/>
          </a:p>
        </p:txBody>
      </p:sp>
      <p:sp>
        <p:nvSpPr>
          <p:cNvPr id="5" name="Content Placeholder 2">
            <a:extLst>
              <a:ext uri="{FF2B5EF4-FFF2-40B4-BE49-F238E27FC236}">
                <a16:creationId xmlns:a16="http://schemas.microsoft.com/office/drawing/2014/main" id="{F051ECF7-3E55-4E09-85BA-DD951C1FE7E1}"/>
              </a:ext>
            </a:extLst>
          </p:cNvPr>
          <p:cNvSpPr txBox="1">
            <a:spLocks/>
          </p:cNvSpPr>
          <p:nvPr/>
        </p:nvSpPr>
        <p:spPr>
          <a:xfrm>
            <a:off x="74815" y="1017951"/>
            <a:ext cx="11510828" cy="5283486"/>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dirty="0"/>
              <a:t>The </a:t>
            </a:r>
            <a:r>
              <a:rPr lang="en-US" b="1" i="1" dirty="0"/>
              <a:t>BETWEEN</a:t>
            </a:r>
            <a:r>
              <a:rPr lang="en-US" i="1" dirty="0"/>
              <a:t> </a:t>
            </a:r>
            <a:r>
              <a:rPr lang="en-US" dirty="0"/>
              <a:t>operator facilitates range-based comparison to test whether a column value lies between two values. </a:t>
            </a:r>
          </a:p>
          <a:p>
            <a:pPr>
              <a:lnSpc>
                <a:spcPct val="150000"/>
              </a:lnSpc>
            </a:pPr>
            <a:r>
              <a:rPr lang="en-US" dirty="0"/>
              <a:t>The </a:t>
            </a:r>
            <a:r>
              <a:rPr lang="en-US" b="1" i="1" dirty="0"/>
              <a:t>IN</a:t>
            </a:r>
            <a:r>
              <a:rPr lang="en-US" i="1" dirty="0"/>
              <a:t> </a:t>
            </a:r>
            <a:r>
              <a:rPr lang="en-US" dirty="0"/>
              <a:t>operator tests set membership, so a row is returned if the column value tested in the condition is a member of a set of literals.</a:t>
            </a:r>
          </a:p>
          <a:p>
            <a:pPr>
              <a:lnSpc>
                <a:spcPct val="150000"/>
              </a:lnSpc>
            </a:pPr>
            <a:r>
              <a:rPr lang="en-US" dirty="0"/>
              <a:t>The pattern matching comparison operator </a:t>
            </a:r>
            <a:r>
              <a:rPr lang="en-US" b="1" i="1" dirty="0"/>
              <a:t>LIKE</a:t>
            </a:r>
            <a:r>
              <a:rPr lang="en-US" i="1" dirty="0"/>
              <a:t> </a:t>
            </a:r>
            <a:r>
              <a:rPr lang="en-US" dirty="0"/>
              <a:t>is extremely powerful, allowing components of character column data to be matched to literals conforming to a specific pattern. </a:t>
            </a:r>
          </a:p>
          <a:p>
            <a:pPr>
              <a:lnSpc>
                <a:spcPct val="150000"/>
              </a:lnSpc>
            </a:pPr>
            <a:r>
              <a:rPr lang="en-US" dirty="0"/>
              <a:t>The last comparison operator discussed in this section is the </a:t>
            </a:r>
            <a:r>
              <a:rPr lang="en-US" b="1" i="1" dirty="0"/>
              <a:t>IS NULL </a:t>
            </a:r>
            <a:r>
              <a:rPr lang="en-US" dirty="0"/>
              <a:t>operator, which returns rows where the column value contains a null value.</a:t>
            </a:r>
            <a:br>
              <a:rPr lang="en-US" dirty="0"/>
            </a:br>
            <a:r>
              <a:rPr lang="en-US" dirty="0">
                <a:solidFill>
                  <a:srgbClr val="0000FF"/>
                </a:solidFill>
              </a:rPr>
              <a:t>These operators may be used in any combination in the WHERE clause.</a:t>
            </a:r>
            <a:r>
              <a:rPr lang="en-US" dirty="0"/>
              <a:t> </a:t>
            </a:r>
          </a:p>
        </p:txBody>
      </p:sp>
      <p:sp>
        <p:nvSpPr>
          <p:cNvPr id="6" name="TextBox 5">
            <a:extLst>
              <a:ext uri="{FF2B5EF4-FFF2-40B4-BE49-F238E27FC236}">
                <a16:creationId xmlns:a16="http://schemas.microsoft.com/office/drawing/2014/main" id="{B3422ABA-879E-471C-8BE7-423BAF98FB86}"/>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Comparison Operators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39228212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080534-EE9E-4634-AF6B-E6AA95D131B2}"/>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85822823-2240-4BBC-B376-71863CE167B9}"/>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30DEEF94-5FB6-4B91-BC6C-F8EF50CD55A0}"/>
              </a:ext>
            </a:extLst>
          </p:cNvPr>
          <p:cNvSpPr>
            <a:spLocks noGrp="1"/>
          </p:cNvSpPr>
          <p:nvPr>
            <p:ph type="sldNum" sz="quarter" idx="4"/>
          </p:nvPr>
        </p:nvSpPr>
        <p:spPr/>
        <p:txBody>
          <a:bodyPr/>
          <a:lstStyle/>
          <a:p>
            <a:fld id="{48F63A3B-78C7-47BE-AE5E-E10140E04643}" type="slidenum">
              <a:rPr lang="en-US" smtClean="0"/>
              <a:pPr/>
              <a:t>37</a:t>
            </a:fld>
            <a:endParaRPr lang="en-US" dirty="0"/>
          </a:p>
        </p:txBody>
      </p:sp>
      <p:sp>
        <p:nvSpPr>
          <p:cNvPr id="5" name="TextBox 4">
            <a:extLst>
              <a:ext uri="{FF2B5EF4-FFF2-40B4-BE49-F238E27FC236}">
                <a16:creationId xmlns:a16="http://schemas.microsoft.com/office/drawing/2014/main" id="{44026EFF-CCAA-47FF-93F9-1A3233749D37}"/>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Like Operators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6" name="Rectangle 2">
            <a:extLst>
              <a:ext uri="{FF2B5EF4-FFF2-40B4-BE49-F238E27FC236}">
                <a16:creationId xmlns:a16="http://schemas.microsoft.com/office/drawing/2014/main" id="{3CBDC2C8-4E75-4412-AC67-A241D4B7A2F8}"/>
              </a:ext>
            </a:extLst>
          </p:cNvPr>
          <p:cNvSpPr>
            <a:spLocks noChangeArrowheads="1"/>
          </p:cNvSpPr>
          <p:nvPr/>
        </p:nvSpPr>
        <p:spPr bwMode="blackGray">
          <a:xfrm>
            <a:off x="552111" y="3282465"/>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first_name</a:t>
            </a:r>
            <a:endParaRPr lang="en-US" altLang="en-US" dirty="0"/>
          </a:p>
          <a:p>
            <a:r>
              <a:rPr lang="en-US" altLang="en-US" dirty="0"/>
              <a:t>FROM 	employees</a:t>
            </a:r>
          </a:p>
          <a:p>
            <a:r>
              <a:rPr lang="en-US" altLang="en-US" dirty="0"/>
              <a:t>WHERE	</a:t>
            </a:r>
            <a:r>
              <a:rPr lang="en-US" altLang="en-US" dirty="0" err="1"/>
              <a:t>first_name</a:t>
            </a:r>
            <a:r>
              <a:rPr lang="en-US" altLang="en-US" dirty="0"/>
              <a:t> LIKE 'S%' ;</a:t>
            </a:r>
          </a:p>
        </p:txBody>
      </p:sp>
      <p:sp>
        <p:nvSpPr>
          <p:cNvPr id="7" name="Rectangle 7">
            <a:extLst>
              <a:ext uri="{FF2B5EF4-FFF2-40B4-BE49-F238E27FC236}">
                <a16:creationId xmlns:a16="http://schemas.microsoft.com/office/drawing/2014/main" id="{C5E17023-2C57-4F5F-975D-28D25E64BD52}"/>
              </a:ext>
            </a:extLst>
          </p:cNvPr>
          <p:cNvSpPr txBox="1">
            <a:spLocks noChangeArrowheads="1"/>
          </p:cNvSpPr>
          <p:nvPr/>
        </p:nvSpPr>
        <p:spPr>
          <a:xfrm>
            <a:off x="97277" y="1266825"/>
            <a:ext cx="11974749" cy="170497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Use the </a:t>
            </a:r>
            <a:r>
              <a:rPr lang="en-US" altLang="en-US" sz="2400" dirty="0">
                <a:latin typeface="Courier New" panose="02070309020205020404" pitchFamily="49" charset="0"/>
              </a:rPr>
              <a:t>LIKE</a:t>
            </a:r>
            <a:r>
              <a:rPr lang="en-US" altLang="en-US" sz="2400" dirty="0"/>
              <a:t> operator to perform wildcard searches of valid search string values.</a:t>
            </a:r>
          </a:p>
          <a:p>
            <a:r>
              <a:rPr lang="en-US" altLang="en-US" sz="2400" dirty="0"/>
              <a:t>Search conditions can contain either literal characters or numbers:</a:t>
            </a:r>
          </a:p>
          <a:p>
            <a:pPr lvl="1"/>
            <a:r>
              <a:rPr lang="en-US" altLang="en-US" sz="2000" dirty="0">
                <a:latin typeface="Courier New" panose="02070309020205020404" pitchFamily="49" charset="0"/>
              </a:rPr>
              <a:t>%</a:t>
            </a:r>
            <a:r>
              <a:rPr lang="en-US" altLang="en-US" sz="2000" dirty="0"/>
              <a:t> denotes zero or many characters.</a:t>
            </a:r>
          </a:p>
          <a:p>
            <a:pPr lvl="1"/>
            <a:r>
              <a:rPr lang="en-US" altLang="en-US" sz="2000" dirty="0">
                <a:latin typeface="Courier New" panose="02070309020205020404" pitchFamily="49" charset="0"/>
              </a:rPr>
              <a:t>_</a:t>
            </a:r>
            <a:r>
              <a:rPr lang="en-US" altLang="en-US" sz="2000" dirty="0"/>
              <a:t> denotes one character.</a:t>
            </a:r>
          </a:p>
        </p:txBody>
      </p:sp>
      <p:sp>
        <p:nvSpPr>
          <p:cNvPr id="8" name="Rectangle 5">
            <a:extLst>
              <a:ext uri="{FF2B5EF4-FFF2-40B4-BE49-F238E27FC236}">
                <a16:creationId xmlns:a16="http://schemas.microsoft.com/office/drawing/2014/main" id="{866B71EF-76E8-45D5-BF56-29C3508D87B4}"/>
              </a:ext>
            </a:extLst>
          </p:cNvPr>
          <p:cNvSpPr>
            <a:spLocks noChangeArrowheads="1"/>
          </p:cNvSpPr>
          <p:nvPr/>
        </p:nvSpPr>
        <p:spPr bwMode="gray">
          <a:xfrm>
            <a:off x="3274676" y="3882540"/>
            <a:ext cx="1404937" cy="252413"/>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2231088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356726-713C-4FE0-9D24-B59072CC38EF}"/>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84D12769-C017-4F78-8209-60051873D70B}"/>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0F3B56A9-33DE-46BA-BD4D-D7C5C3911256}"/>
              </a:ext>
            </a:extLst>
          </p:cNvPr>
          <p:cNvSpPr>
            <a:spLocks noGrp="1"/>
          </p:cNvSpPr>
          <p:nvPr>
            <p:ph type="sldNum" sz="quarter" idx="4"/>
          </p:nvPr>
        </p:nvSpPr>
        <p:spPr/>
        <p:txBody>
          <a:bodyPr/>
          <a:lstStyle/>
          <a:p>
            <a:fld id="{48F63A3B-78C7-47BE-AE5E-E10140E04643}" type="slidenum">
              <a:rPr lang="en-US" smtClean="0"/>
              <a:pPr/>
              <a:t>38</a:t>
            </a:fld>
            <a:endParaRPr lang="en-US" dirty="0"/>
          </a:p>
        </p:txBody>
      </p:sp>
      <p:sp>
        <p:nvSpPr>
          <p:cNvPr id="5" name="TextBox 4">
            <a:extLst>
              <a:ext uri="{FF2B5EF4-FFF2-40B4-BE49-F238E27FC236}">
                <a16:creationId xmlns:a16="http://schemas.microsoft.com/office/drawing/2014/main" id="{7CC298C2-7B8F-49D1-BE5D-E854990E7707}"/>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Combining Wildcard Characters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12" name="TextBox 11">
            <a:extLst>
              <a:ext uri="{FF2B5EF4-FFF2-40B4-BE49-F238E27FC236}">
                <a16:creationId xmlns:a16="http://schemas.microsoft.com/office/drawing/2014/main" id="{C027C914-8550-40B8-9FEE-2D09D1CB72D0}"/>
              </a:ext>
            </a:extLst>
          </p:cNvPr>
          <p:cNvSpPr txBox="1"/>
          <p:nvPr/>
        </p:nvSpPr>
        <p:spPr>
          <a:xfrm>
            <a:off x="124026" y="1083436"/>
            <a:ext cx="11943946" cy="1546834"/>
          </a:xfrm>
          <a:prstGeom prst="rect">
            <a:avLst/>
          </a:prstGeom>
          <a:noFill/>
        </p:spPr>
        <p:txBody>
          <a:bodyPr wrap="square">
            <a:spAutoFit/>
          </a:bodyPr>
          <a:lstStyle/>
          <a:p>
            <a:pPr>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You can use the </a:t>
            </a:r>
            <a:r>
              <a:rPr lang="en-US" altLang="en-US" dirty="0">
                <a:latin typeface="Courier New" panose="02070309020205020404" pitchFamily="49" charset="0"/>
              </a:rPr>
              <a:t>ESCAPE</a:t>
            </a:r>
            <a:r>
              <a:rPr lang="en-US" altLang="en-US" dirty="0"/>
              <a:t> </a:t>
            </a:r>
            <a:r>
              <a:rPr lang="en-US" altLang="en-US" sz="2200" dirty="0">
                <a:latin typeface="Tahoma" panose="020B0604030504040204" pitchFamily="34" charset="0"/>
                <a:ea typeface="Tahoma" panose="020B0604030504040204" pitchFamily="34" charset="0"/>
                <a:cs typeface="Tahoma" panose="020B0604030504040204" pitchFamily="34" charset="0"/>
              </a:rPr>
              <a:t>identifier</a:t>
            </a:r>
            <a:r>
              <a:rPr lang="en-US" altLang="en-US" dirty="0"/>
              <a:t> </a:t>
            </a:r>
            <a:r>
              <a:rPr lang="en-US" altLang="en-US" sz="2200" dirty="0">
                <a:latin typeface="Tahoma" panose="020B0604030504040204" pitchFamily="34" charset="0"/>
                <a:ea typeface="Tahoma" panose="020B0604030504040204" pitchFamily="34" charset="0"/>
                <a:cs typeface="Tahoma" panose="020B0604030504040204" pitchFamily="34" charset="0"/>
              </a:rPr>
              <a:t>to search for the actual % and _ symbols.</a:t>
            </a:r>
          </a:p>
          <a:p>
            <a:pPr>
              <a:lnSpc>
                <a:spcPct val="150000"/>
              </a:lnSpc>
            </a:pPr>
            <a:r>
              <a:rPr lang="en-US" sz="2200" dirty="0">
                <a:latin typeface="Tahoma" panose="020B0604030504040204" pitchFamily="34" charset="0"/>
                <a:ea typeface="Tahoma" panose="020B0604030504040204" pitchFamily="34" charset="0"/>
                <a:cs typeface="Tahoma" panose="020B0604030504040204" pitchFamily="34" charset="0"/>
              </a:rPr>
              <a:t>The ESCAPE identifier instructs the Oracle server to treat any character found after the backslash character as a regular nonspecial symbol with no wildcard meaning. </a:t>
            </a:r>
          </a:p>
        </p:txBody>
      </p:sp>
      <p:sp>
        <p:nvSpPr>
          <p:cNvPr id="15" name="Rectangle 2">
            <a:extLst>
              <a:ext uri="{FF2B5EF4-FFF2-40B4-BE49-F238E27FC236}">
                <a16:creationId xmlns:a16="http://schemas.microsoft.com/office/drawing/2014/main" id="{8F3563E1-8AAB-4278-BE15-8CCCEC6F76FD}"/>
              </a:ext>
            </a:extLst>
          </p:cNvPr>
          <p:cNvSpPr>
            <a:spLocks noChangeArrowheads="1"/>
          </p:cNvSpPr>
          <p:nvPr/>
        </p:nvSpPr>
        <p:spPr bwMode="blackGray">
          <a:xfrm>
            <a:off x="843234" y="3075059"/>
            <a:ext cx="6104106"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first_name</a:t>
            </a:r>
            <a:endParaRPr lang="en-US" altLang="en-US" dirty="0"/>
          </a:p>
          <a:p>
            <a:r>
              <a:rPr lang="en-US" altLang="en-US" dirty="0"/>
              <a:t>FROM 	employees</a:t>
            </a:r>
          </a:p>
          <a:p>
            <a:r>
              <a:rPr lang="en-US" altLang="en-US" dirty="0"/>
              <a:t>WHERE	</a:t>
            </a:r>
            <a:r>
              <a:rPr lang="en-US" altLang="en-US" dirty="0" err="1"/>
              <a:t>first_name</a:t>
            </a:r>
            <a:r>
              <a:rPr lang="en-US" altLang="en-US" dirty="0"/>
              <a:t> LIKE </a:t>
            </a:r>
            <a:r>
              <a:rPr lang="en-US" dirty="0"/>
              <a:t>‘SA\_%' ESCAPE ‘\’;</a:t>
            </a:r>
            <a:endParaRPr lang="en-US" altLang="en-US" dirty="0"/>
          </a:p>
        </p:txBody>
      </p:sp>
      <p:sp>
        <p:nvSpPr>
          <p:cNvPr id="16" name="Rectangle 5">
            <a:extLst>
              <a:ext uri="{FF2B5EF4-FFF2-40B4-BE49-F238E27FC236}">
                <a16:creationId xmlns:a16="http://schemas.microsoft.com/office/drawing/2014/main" id="{92293EB9-E721-4640-9247-CA193B5E86B1}"/>
              </a:ext>
            </a:extLst>
          </p:cNvPr>
          <p:cNvSpPr>
            <a:spLocks noChangeArrowheads="1"/>
          </p:cNvSpPr>
          <p:nvPr/>
        </p:nvSpPr>
        <p:spPr bwMode="gray">
          <a:xfrm>
            <a:off x="3565798" y="3677970"/>
            <a:ext cx="3214380" cy="282102"/>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8257561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DC584-C378-4CAB-8A33-B25E02529B68}"/>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A4EFEC7E-0368-454B-ACAD-05EA03E9ED2A}"/>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5EB0E1A1-A781-4A15-8C11-5F0A3595DFFF}"/>
              </a:ext>
            </a:extLst>
          </p:cNvPr>
          <p:cNvSpPr>
            <a:spLocks noGrp="1"/>
          </p:cNvSpPr>
          <p:nvPr>
            <p:ph type="sldNum" sz="quarter" idx="4"/>
          </p:nvPr>
        </p:nvSpPr>
        <p:spPr/>
        <p:txBody>
          <a:bodyPr/>
          <a:lstStyle/>
          <a:p>
            <a:fld id="{48F63A3B-78C7-47BE-AE5E-E10140E04643}" type="slidenum">
              <a:rPr lang="en-US" smtClean="0"/>
              <a:pPr/>
              <a:t>39</a:t>
            </a:fld>
            <a:endParaRPr lang="en-US" dirty="0"/>
          </a:p>
        </p:txBody>
      </p:sp>
      <p:sp>
        <p:nvSpPr>
          <p:cNvPr id="7" name="TextBox 6">
            <a:extLst>
              <a:ext uri="{FF2B5EF4-FFF2-40B4-BE49-F238E27FC236}">
                <a16:creationId xmlns:a16="http://schemas.microsoft.com/office/drawing/2014/main" id="{F11F0B6D-8636-4FE4-96C0-9DEAE221CE6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Using the NULL Conditions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9" name="TextBox 8">
            <a:extLst>
              <a:ext uri="{FF2B5EF4-FFF2-40B4-BE49-F238E27FC236}">
                <a16:creationId xmlns:a16="http://schemas.microsoft.com/office/drawing/2014/main" id="{287F12F2-FBA1-41DD-82E7-21734EC54B1B}"/>
              </a:ext>
            </a:extLst>
          </p:cNvPr>
          <p:cNvSpPr txBox="1"/>
          <p:nvPr/>
        </p:nvSpPr>
        <p:spPr>
          <a:xfrm>
            <a:off x="184825" y="1023399"/>
            <a:ext cx="11673192" cy="3722879"/>
          </a:xfrm>
          <a:prstGeom prst="rect">
            <a:avLst/>
          </a:prstGeom>
          <a:noFill/>
        </p:spPr>
        <p:txBody>
          <a:bodyPr wrap="square">
            <a:spAutoFit/>
          </a:bodyPr>
          <a:lstStyle/>
          <a:p>
            <a:pPr>
              <a:lnSpc>
                <a:spcPct val="150000"/>
              </a:lnSpc>
            </a:pPr>
            <a:r>
              <a:rPr lang="en-US" alt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The NULL conditions include the IS NULL condition and the IS NOT NULL condition.</a:t>
            </a:r>
          </a:p>
          <a:p>
            <a:pPr>
              <a:lnSpc>
                <a:spcPct val="150000"/>
              </a:lnSpc>
            </a:pPr>
            <a:r>
              <a:rPr lang="en-US" alt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The IS NULL condition tests for nulls. </a:t>
            </a:r>
          </a:p>
          <a:p>
            <a:pPr>
              <a:lnSpc>
                <a:spcPct val="150000"/>
              </a:lnSpc>
            </a:pPr>
            <a:r>
              <a:rPr lang="en-US" alt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A null value means that the value is unavailable, unassigned, unknown, or inapplicable. </a:t>
            </a:r>
          </a:p>
          <a:p>
            <a:pPr>
              <a:lnSpc>
                <a:spcPct val="150000"/>
              </a:lnSpc>
            </a:pPr>
            <a:r>
              <a:rPr lang="en-US" alt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Therefore, you cannot</a:t>
            </a:r>
            <a:r>
              <a:rPr lang="en-US" altLang="en-US" sz="2000" dirty="0">
                <a:latin typeface="Tahoma" panose="020B0604030504040204" pitchFamily="34" charset="0"/>
                <a:ea typeface="Tahoma" panose="020B0604030504040204" pitchFamily="34" charset="0"/>
                <a:cs typeface="Tahoma" panose="020B0604030504040204" pitchFamily="34" charset="0"/>
              </a:rPr>
              <a:t> test with =, because a null cannot be equal or unequal to any value. </a:t>
            </a:r>
          </a:p>
          <a:p>
            <a:pPr>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The slide example retrieves the last names and managers of all employees who do not have a manager. Here is another example: To display the last name, job ID, and commission for all employees who are </a:t>
            </a:r>
            <a:r>
              <a:rPr lang="en-US" altLang="en-US" sz="2000" i="1" dirty="0">
                <a:latin typeface="Tahoma" panose="020B0604030504040204" pitchFamily="34" charset="0"/>
                <a:ea typeface="Tahoma" panose="020B0604030504040204" pitchFamily="34" charset="0"/>
                <a:cs typeface="Tahoma" panose="020B0604030504040204" pitchFamily="34" charset="0"/>
              </a:rPr>
              <a:t>not</a:t>
            </a:r>
            <a:r>
              <a:rPr lang="en-US" altLang="en-US" sz="2000" dirty="0">
                <a:latin typeface="Tahoma" panose="020B0604030504040204" pitchFamily="34" charset="0"/>
                <a:ea typeface="Tahoma" panose="020B0604030504040204" pitchFamily="34" charset="0"/>
                <a:cs typeface="Tahoma" panose="020B0604030504040204" pitchFamily="34" charset="0"/>
              </a:rPr>
              <a:t> entitled to receive a commission, </a:t>
            </a:r>
          </a:p>
          <a:p>
            <a:pPr>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use the following SQL statement:</a:t>
            </a:r>
          </a:p>
        </p:txBody>
      </p:sp>
      <p:sp>
        <p:nvSpPr>
          <p:cNvPr id="10" name="Rectangle 2">
            <a:extLst>
              <a:ext uri="{FF2B5EF4-FFF2-40B4-BE49-F238E27FC236}">
                <a16:creationId xmlns:a16="http://schemas.microsoft.com/office/drawing/2014/main" id="{5CB0D6A1-CE48-4BFE-87AD-81612D8EAF6E}"/>
              </a:ext>
            </a:extLst>
          </p:cNvPr>
          <p:cNvSpPr>
            <a:spLocks noChangeArrowheads="1"/>
          </p:cNvSpPr>
          <p:nvPr/>
        </p:nvSpPr>
        <p:spPr bwMode="blackGray">
          <a:xfrm>
            <a:off x="1391597" y="4722605"/>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manager_id</a:t>
            </a:r>
          </a:p>
          <a:p>
            <a:r>
              <a:rPr lang="en-US" altLang="en-US"/>
              <a:t>FROM   employees</a:t>
            </a:r>
          </a:p>
          <a:p>
            <a:r>
              <a:rPr lang="en-US" altLang="en-US"/>
              <a:t>WHERE  manager_id IS NULL ;</a:t>
            </a:r>
          </a:p>
        </p:txBody>
      </p:sp>
      <p:sp>
        <p:nvSpPr>
          <p:cNvPr id="11" name="Rectangle 5">
            <a:extLst>
              <a:ext uri="{FF2B5EF4-FFF2-40B4-BE49-F238E27FC236}">
                <a16:creationId xmlns:a16="http://schemas.microsoft.com/office/drawing/2014/main" id="{61B02A5B-C764-428C-B7B7-C1FF8C374467}"/>
              </a:ext>
            </a:extLst>
          </p:cNvPr>
          <p:cNvSpPr>
            <a:spLocks noChangeArrowheads="1"/>
          </p:cNvSpPr>
          <p:nvPr/>
        </p:nvSpPr>
        <p:spPr bwMode="gray">
          <a:xfrm>
            <a:off x="2334574" y="5308391"/>
            <a:ext cx="2670175" cy="29845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pic>
        <p:nvPicPr>
          <p:cNvPr id="12" name="Picture 9" descr="C:\project-SQLFund1\images\img-02-13.gif">
            <a:extLst>
              <a:ext uri="{FF2B5EF4-FFF2-40B4-BE49-F238E27FC236}">
                <a16:creationId xmlns:a16="http://schemas.microsoft.com/office/drawing/2014/main" id="{3E33A095-7AD3-4D58-804B-B99C602CB6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2778736" y="5684399"/>
            <a:ext cx="276542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3648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4A59BF-FC5B-4BCE-B86C-7A8D0925D5A8}"/>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56EC574C-D076-42DC-A2F9-08FBD59684C1}"/>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245602-13C8-4220-AA7D-FC707FC214FA}"/>
              </a:ext>
            </a:extLst>
          </p:cNvPr>
          <p:cNvSpPr>
            <a:spLocks noGrp="1"/>
          </p:cNvSpPr>
          <p:nvPr>
            <p:ph type="sldNum" sz="quarter" idx="4"/>
          </p:nvPr>
        </p:nvSpPr>
        <p:spPr/>
        <p:txBody>
          <a:bodyPr/>
          <a:lstStyle/>
          <a:p>
            <a:fld id="{48F63A3B-78C7-47BE-AE5E-E10140E04643}" type="slidenum">
              <a:rPr lang="en-US" smtClean="0"/>
              <a:pPr/>
              <a:t>40</a:t>
            </a:fld>
            <a:endParaRPr lang="en-US" dirty="0"/>
          </a:p>
        </p:txBody>
      </p:sp>
      <p:sp>
        <p:nvSpPr>
          <p:cNvPr id="6" name="TextBox 5">
            <a:extLst>
              <a:ext uri="{FF2B5EF4-FFF2-40B4-BE49-F238E27FC236}">
                <a16:creationId xmlns:a16="http://schemas.microsoft.com/office/drawing/2014/main" id="{298B959A-2D67-4C73-861D-3E19ED1E0686}"/>
              </a:ext>
            </a:extLst>
          </p:cNvPr>
          <p:cNvSpPr txBox="1"/>
          <p:nvPr/>
        </p:nvSpPr>
        <p:spPr>
          <a:xfrm>
            <a:off x="63667" y="1015273"/>
            <a:ext cx="12064664" cy="1876219"/>
          </a:xfrm>
          <a:prstGeom prst="rect">
            <a:avLst/>
          </a:prstGeom>
          <a:noFill/>
        </p:spPr>
        <p:txBody>
          <a:bodyPr wrap="square">
            <a:spAutoFit/>
          </a:bodyPr>
          <a:lstStyle/>
          <a:p>
            <a:pPr>
              <a:lnSpc>
                <a:spcPct val="150000"/>
              </a:lnSpc>
            </a:pPr>
            <a:r>
              <a:rPr lang="en-US" alt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A logical condition combines the result of two component conditions to produce a single result based on those conditions or it inverts the result of a single condition. A row is returned only if the overall result of the condition</a:t>
            </a:r>
            <a:r>
              <a:rPr lang="en-US" altLang="en-US" sz="2000" dirty="0">
                <a:latin typeface="Tahoma" panose="020B0604030504040204" pitchFamily="34" charset="0"/>
                <a:ea typeface="Tahoma" panose="020B0604030504040204" pitchFamily="34" charset="0"/>
                <a:cs typeface="Tahoma" panose="020B0604030504040204" pitchFamily="34" charset="0"/>
              </a:rPr>
              <a:t> is true. </a:t>
            </a:r>
          </a:p>
          <a:p>
            <a:pPr>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Three logical operators are available in SQL:</a:t>
            </a:r>
          </a:p>
        </p:txBody>
      </p:sp>
      <p:sp>
        <p:nvSpPr>
          <p:cNvPr id="7" name="TextBox 6">
            <a:extLst>
              <a:ext uri="{FF2B5EF4-FFF2-40B4-BE49-F238E27FC236}">
                <a16:creationId xmlns:a16="http://schemas.microsoft.com/office/drawing/2014/main" id="{8A791700-F185-44CA-A3E6-3729B0A7486E}"/>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Logical Operators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8" name="Rectangle 7">
            <a:extLst>
              <a:ext uri="{FF2B5EF4-FFF2-40B4-BE49-F238E27FC236}">
                <a16:creationId xmlns:a16="http://schemas.microsoft.com/office/drawing/2014/main" id="{4F498901-25C7-4739-8AB6-18459C83A36B}"/>
              </a:ext>
            </a:extLst>
          </p:cNvPr>
          <p:cNvSpPr>
            <a:spLocks noChangeArrowheads="1"/>
          </p:cNvSpPr>
          <p:nvPr/>
        </p:nvSpPr>
        <p:spPr bwMode="blackWhite">
          <a:xfrm>
            <a:off x="4069370" y="4962897"/>
            <a:ext cx="4108450" cy="69373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10000"/>
              </a:lnSpc>
              <a:spcBef>
                <a:spcPct val="60000"/>
              </a:spcBef>
              <a:buClrTx/>
              <a:buFontTx/>
              <a:buNone/>
            </a:pPr>
            <a:r>
              <a:rPr lang="en-US" altLang="en-US" sz="1600">
                <a:solidFill>
                  <a:srgbClr val="000000"/>
                </a:solidFill>
              </a:rPr>
              <a:t>Returns </a:t>
            </a:r>
            <a:r>
              <a:rPr lang="en-US" altLang="en-US" sz="1600">
                <a:solidFill>
                  <a:srgbClr val="000000"/>
                </a:solidFill>
                <a:latin typeface="Courier New" panose="02070309020205020404" pitchFamily="49" charset="0"/>
              </a:rPr>
              <a:t>TRUE</a:t>
            </a:r>
            <a:r>
              <a:rPr lang="en-US" altLang="en-US" sz="1600">
                <a:solidFill>
                  <a:srgbClr val="000000"/>
                </a:solidFill>
              </a:rPr>
              <a:t> if the condition is false</a:t>
            </a:r>
            <a:endParaRPr lang="en-US" altLang="en-US" sz="1600"/>
          </a:p>
        </p:txBody>
      </p:sp>
      <p:sp>
        <p:nvSpPr>
          <p:cNvPr id="9" name="Rectangle 8">
            <a:extLst>
              <a:ext uri="{FF2B5EF4-FFF2-40B4-BE49-F238E27FC236}">
                <a16:creationId xmlns:a16="http://schemas.microsoft.com/office/drawing/2014/main" id="{13CE286B-8317-4139-A564-E964EFF60B8B}"/>
              </a:ext>
            </a:extLst>
          </p:cNvPr>
          <p:cNvSpPr>
            <a:spLocks noChangeArrowheads="1"/>
          </p:cNvSpPr>
          <p:nvPr/>
        </p:nvSpPr>
        <p:spPr bwMode="blackWhite">
          <a:xfrm>
            <a:off x="2793020" y="4962897"/>
            <a:ext cx="1276350" cy="69373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344488"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latin typeface="Courier New" panose="02070309020205020404" pitchFamily="49" charset="0"/>
              </a:rPr>
              <a:t> NOT</a:t>
            </a:r>
          </a:p>
        </p:txBody>
      </p:sp>
      <p:sp>
        <p:nvSpPr>
          <p:cNvPr id="10" name="Rectangle 9">
            <a:extLst>
              <a:ext uri="{FF2B5EF4-FFF2-40B4-BE49-F238E27FC236}">
                <a16:creationId xmlns:a16="http://schemas.microsoft.com/office/drawing/2014/main" id="{5308CFB5-10F6-45B2-9738-F7DB4EB9CB8D}"/>
              </a:ext>
            </a:extLst>
          </p:cNvPr>
          <p:cNvSpPr>
            <a:spLocks noChangeArrowheads="1"/>
          </p:cNvSpPr>
          <p:nvPr/>
        </p:nvSpPr>
        <p:spPr bwMode="blackWhite">
          <a:xfrm>
            <a:off x="4069370" y="4323134"/>
            <a:ext cx="4108450" cy="6397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solidFill>
                  <a:srgbClr val="000000"/>
                </a:solidFill>
              </a:rPr>
              <a:t>Returns </a:t>
            </a:r>
            <a:r>
              <a:rPr lang="en-US" altLang="en-US" sz="1600">
                <a:solidFill>
                  <a:srgbClr val="000000"/>
                </a:solidFill>
                <a:latin typeface="Courier New" panose="02070309020205020404" pitchFamily="49" charset="0"/>
              </a:rPr>
              <a:t>TRUE</a:t>
            </a:r>
            <a:r>
              <a:rPr lang="en-US" altLang="en-US" sz="1600">
                <a:solidFill>
                  <a:srgbClr val="000000"/>
                </a:solidFill>
              </a:rPr>
              <a:t> if </a:t>
            </a:r>
            <a:r>
              <a:rPr lang="en-US" altLang="en-US" sz="1600" i="1">
                <a:solidFill>
                  <a:srgbClr val="000000"/>
                </a:solidFill>
              </a:rPr>
              <a:t>either </a:t>
            </a:r>
            <a:r>
              <a:rPr lang="en-US" altLang="en-US" sz="1600">
                <a:solidFill>
                  <a:srgbClr val="000000"/>
                </a:solidFill>
              </a:rPr>
              <a:t>component condition is true</a:t>
            </a:r>
          </a:p>
        </p:txBody>
      </p:sp>
      <p:sp>
        <p:nvSpPr>
          <p:cNvPr id="11" name="Rectangle 10">
            <a:extLst>
              <a:ext uri="{FF2B5EF4-FFF2-40B4-BE49-F238E27FC236}">
                <a16:creationId xmlns:a16="http://schemas.microsoft.com/office/drawing/2014/main" id="{624F033A-95F2-4B18-8141-6B709D1DE389}"/>
              </a:ext>
            </a:extLst>
          </p:cNvPr>
          <p:cNvSpPr>
            <a:spLocks noChangeArrowheads="1"/>
          </p:cNvSpPr>
          <p:nvPr/>
        </p:nvSpPr>
        <p:spPr bwMode="blackWhite">
          <a:xfrm>
            <a:off x="2793020" y="4323134"/>
            <a:ext cx="1276350" cy="6397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eaLnBrk="1" hangingPunct="1">
              <a:buFont typeface="Arial" panose="020B0604020202020204" pitchFamily="34" charset="0"/>
              <a:buNone/>
            </a:pPr>
            <a:r>
              <a:rPr lang="en-US" altLang="en-US" sz="1600">
                <a:latin typeface="Courier New" panose="02070309020205020404" pitchFamily="49" charset="0"/>
              </a:rPr>
              <a:t>OR</a:t>
            </a:r>
          </a:p>
        </p:txBody>
      </p:sp>
      <p:sp>
        <p:nvSpPr>
          <p:cNvPr id="12" name="Rectangle 11">
            <a:extLst>
              <a:ext uri="{FF2B5EF4-FFF2-40B4-BE49-F238E27FC236}">
                <a16:creationId xmlns:a16="http://schemas.microsoft.com/office/drawing/2014/main" id="{D5D8F9F6-70C9-4B70-BB2B-EF5F5FB3710A}"/>
              </a:ext>
            </a:extLst>
          </p:cNvPr>
          <p:cNvSpPr>
            <a:spLocks noChangeArrowheads="1"/>
          </p:cNvSpPr>
          <p:nvPr/>
        </p:nvSpPr>
        <p:spPr bwMode="blackWhite">
          <a:xfrm>
            <a:off x="4069370" y="3683370"/>
            <a:ext cx="4108450" cy="6397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solidFill>
                  <a:srgbClr val="000000"/>
                </a:solidFill>
              </a:rPr>
              <a:t>Returns </a:t>
            </a:r>
            <a:r>
              <a:rPr lang="en-US" altLang="en-US" sz="1600">
                <a:solidFill>
                  <a:srgbClr val="000000"/>
                </a:solidFill>
                <a:latin typeface="Courier New" panose="02070309020205020404" pitchFamily="49" charset="0"/>
              </a:rPr>
              <a:t>TRUE</a:t>
            </a:r>
            <a:r>
              <a:rPr lang="en-US" altLang="en-US" sz="1600">
                <a:solidFill>
                  <a:srgbClr val="000000"/>
                </a:solidFill>
              </a:rPr>
              <a:t> if </a:t>
            </a:r>
            <a:r>
              <a:rPr lang="en-US" altLang="en-US" sz="1600" i="1">
                <a:solidFill>
                  <a:srgbClr val="000000"/>
                </a:solidFill>
              </a:rPr>
              <a:t>both </a:t>
            </a:r>
            <a:r>
              <a:rPr lang="en-US" altLang="en-US" sz="1600">
                <a:solidFill>
                  <a:srgbClr val="000000"/>
                </a:solidFill>
              </a:rPr>
              <a:t>component conditions are true</a:t>
            </a:r>
          </a:p>
        </p:txBody>
      </p:sp>
      <p:sp>
        <p:nvSpPr>
          <p:cNvPr id="13" name="Rectangle 12">
            <a:extLst>
              <a:ext uri="{FF2B5EF4-FFF2-40B4-BE49-F238E27FC236}">
                <a16:creationId xmlns:a16="http://schemas.microsoft.com/office/drawing/2014/main" id="{3E5B85AF-87CA-4F7B-8EC5-C09D9791A21E}"/>
              </a:ext>
            </a:extLst>
          </p:cNvPr>
          <p:cNvSpPr>
            <a:spLocks noChangeArrowheads="1"/>
          </p:cNvSpPr>
          <p:nvPr/>
        </p:nvSpPr>
        <p:spPr bwMode="blackWhite">
          <a:xfrm>
            <a:off x="2793020" y="3683370"/>
            <a:ext cx="1276350" cy="6397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1196975"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311275"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425575"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882775"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339975"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797175"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254375"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eaLnBrk="1" hangingPunct="1">
              <a:buFont typeface="Arial" panose="020B0604020202020204" pitchFamily="34" charset="0"/>
              <a:buNone/>
            </a:pPr>
            <a:r>
              <a:rPr lang="en-US" altLang="en-US" sz="1600">
                <a:latin typeface="Courier New" panose="02070309020205020404" pitchFamily="49" charset="0"/>
              </a:rPr>
              <a:t>AND</a:t>
            </a:r>
          </a:p>
        </p:txBody>
      </p:sp>
      <p:sp>
        <p:nvSpPr>
          <p:cNvPr id="14" name="Rectangle 13">
            <a:extLst>
              <a:ext uri="{FF2B5EF4-FFF2-40B4-BE49-F238E27FC236}">
                <a16:creationId xmlns:a16="http://schemas.microsoft.com/office/drawing/2014/main" id="{0B6EB844-B726-4976-A45F-D230612C525C}"/>
              </a:ext>
            </a:extLst>
          </p:cNvPr>
          <p:cNvSpPr>
            <a:spLocks noChangeArrowheads="1"/>
          </p:cNvSpPr>
          <p:nvPr/>
        </p:nvSpPr>
        <p:spPr bwMode="gray">
          <a:xfrm>
            <a:off x="4069370" y="3318247"/>
            <a:ext cx="410845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800">
                <a:solidFill>
                  <a:schemeClr val="bg1"/>
                </a:solidFill>
              </a:rPr>
              <a:t>Meaning</a:t>
            </a:r>
          </a:p>
        </p:txBody>
      </p:sp>
      <p:sp>
        <p:nvSpPr>
          <p:cNvPr id="15" name="Rectangle 14">
            <a:extLst>
              <a:ext uri="{FF2B5EF4-FFF2-40B4-BE49-F238E27FC236}">
                <a16:creationId xmlns:a16="http://schemas.microsoft.com/office/drawing/2014/main" id="{010D5A25-ED55-404B-B026-5B05E82C0017}"/>
              </a:ext>
            </a:extLst>
          </p:cNvPr>
          <p:cNvSpPr>
            <a:spLocks noChangeArrowheads="1"/>
          </p:cNvSpPr>
          <p:nvPr/>
        </p:nvSpPr>
        <p:spPr bwMode="gray">
          <a:xfrm>
            <a:off x="2793020" y="3318247"/>
            <a:ext cx="127635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800">
                <a:solidFill>
                  <a:schemeClr val="bg1"/>
                </a:solidFill>
              </a:rPr>
              <a:t>Operator</a:t>
            </a:r>
          </a:p>
        </p:txBody>
      </p:sp>
      <p:sp>
        <p:nvSpPr>
          <p:cNvPr id="16" name="Line 12">
            <a:extLst>
              <a:ext uri="{FF2B5EF4-FFF2-40B4-BE49-F238E27FC236}">
                <a16:creationId xmlns:a16="http://schemas.microsoft.com/office/drawing/2014/main" id="{B65EEC90-4503-43D0-A128-F84027378D54}"/>
              </a:ext>
            </a:extLst>
          </p:cNvPr>
          <p:cNvSpPr>
            <a:spLocks noChangeShapeType="1"/>
          </p:cNvSpPr>
          <p:nvPr/>
        </p:nvSpPr>
        <p:spPr bwMode="blackWhite">
          <a:xfrm>
            <a:off x="2793020" y="3683370"/>
            <a:ext cx="5384800"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3">
            <a:extLst>
              <a:ext uri="{FF2B5EF4-FFF2-40B4-BE49-F238E27FC236}">
                <a16:creationId xmlns:a16="http://schemas.microsoft.com/office/drawing/2014/main" id="{2B726384-3F8B-43CA-A631-FFA1894B690A}"/>
              </a:ext>
            </a:extLst>
          </p:cNvPr>
          <p:cNvSpPr>
            <a:spLocks noChangeShapeType="1"/>
          </p:cNvSpPr>
          <p:nvPr/>
        </p:nvSpPr>
        <p:spPr bwMode="blackWhite">
          <a:xfrm>
            <a:off x="2793020" y="4323132"/>
            <a:ext cx="538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4">
            <a:extLst>
              <a:ext uri="{FF2B5EF4-FFF2-40B4-BE49-F238E27FC236}">
                <a16:creationId xmlns:a16="http://schemas.microsoft.com/office/drawing/2014/main" id="{1F17310A-AD54-4E90-B34C-171E238AA84A}"/>
              </a:ext>
            </a:extLst>
          </p:cNvPr>
          <p:cNvSpPr>
            <a:spLocks noChangeShapeType="1"/>
          </p:cNvSpPr>
          <p:nvPr/>
        </p:nvSpPr>
        <p:spPr bwMode="blackWhite">
          <a:xfrm>
            <a:off x="2793020" y="4962895"/>
            <a:ext cx="538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5">
            <a:extLst>
              <a:ext uri="{FF2B5EF4-FFF2-40B4-BE49-F238E27FC236}">
                <a16:creationId xmlns:a16="http://schemas.microsoft.com/office/drawing/2014/main" id="{8714CAC0-C741-4581-AE09-771FF11B68AA}"/>
              </a:ext>
            </a:extLst>
          </p:cNvPr>
          <p:cNvSpPr>
            <a:spLocks noChangeShapeType="1"/>
          </p:cNvSpPr>
          <p:nvPr/>
        </p:nvSpPr>
        <p:spPr bwMode="blackWhite">
          <a:xfrm>
            <a:off x="2793020" y="5656632"/>
            <a:ext cx="5384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6">
            <a:extLst>
              <a:ext uri="{FF2B5EF4-FFF2-40B4-BE49-F238E27FC236}">
                <a16:creationId xmlns:a16="http://schemas.microsoft.com/office/drawing/2014/main" id="{19860732-DD10-4D99-ABD1-CBD636EC76CE}"/>
              </a:ext>
            </a:extLst>
          </p:cNvPr>
          <p:cNvSpPr>
            <a:spLocks noChangeShapeType="1"/>
          </p:cNvSpPr>
          <p:nvPr/>
        </p:nvSpPr>
        <p:spPr bwMode="blackWhite">
          <a:xfrm>
            <a:off x="2793020" y="3318247"/>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7">
            <a:extLst>
              <a:ext uri="{FF2B5EF4-FFF2-40B4-BE49-F238E27FC236}">
                <a16:creationId xmlns:a16="http://schemas.microsoft.com/office/drawing/2014/main" id="{A9695D25-76CD-43DC-843A-351EE1DA0F84}"/>
              </a:ext>
            </a:extLst>
          </p:cNvPr>
          <p:cNvSpPr>
            <a:spLocks noChangeShapeType="1"/>
          </p:cNvSpPr>
          <p:nvPr/>
        </p:nvSpPr>
        <p:spPr bwMode="blackWhite">
          <a:xfrm>
            <a:off x="4069370" y="3318247"/>
            <a:ext cx="0" cy="2338387"/>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8">
            <a:extLst>
              <a:ext uri="{FF2B5EF4-FFF2-40B4-BE49-F238E27FC236}">
                <a16:creationId xmlns:a16="http://schemas.microsoft.com/office/drawing/2014/main" id="{791FEE5D-E22A-41D4-B684-CB4010DB6173}"/>
              </a:ext>
            </a:extLst>
          </p:cNvPr>
          <p:cNvSpPr>
            <a:spLocks noChangeShapeType="1"/>
          </p:cNvSpPr>
          <p:nvPr/>
        </p:nvSpPr>
        <p:spPr bwMode="blackWhite">
          <a:xfrm>
            <a:off x="8177820" y="3318247"/>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19">
            <a:extLst>
              <a:ext uri="{FF2B5EF4-FFF2-40B4-BE49-F238E27FC236}">
                <a16:creationId xmlns:a16="http://schemas.microsoft.com/office/drawing/2014/main" id="{002F39AA-FC1D-41D5-8985-52763F0B58D3}"/>
              </a:ext>
            </a:extLst>
          </p:cNvPr>
          <p:cNvSpPr>
            <a:spLocks noChangeShapeType="1"/>
          </p:cNvSpPr>
          <p:nvPr/>
        </p:nvSpPr>
        <p:spPr bwMode="blackWhite">
          <a:xfrm>
            <a:off x="2793020" y="3318245"/>
            <a:ext cx="538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0">
            <a:extLst>
              <a:ext uri="{FF2B5EF4-FFF2-40B4-BE49-F238E27FC236}">
                <a16:creationId xmlns:a16="http://schemas.microsoft.com/office/drawing/2014/main" id="{76B3E027-D200-418A-9CB9-C8F2E48FB699}"/>
              </a:ext>
            </a:extLst>
          </p:cNvPr>
          <p:cNvSpPr>
            <a:spLocks noChangeShapeType="1"/>
          </p:cNvSpPr>
          <p:nvPr/>
        </p:nvSpPr>
        <p:spPr bwMode="blackWhite">
          <a:xfrm>
            <a:off x="2793020" y="3683370"/>
            <a:ext cx="0" cy="197326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1">
            <a:extLst>
              <a:ext uri="{FF2B5EF4-FFF2-40B4-BE49-F238E27FC236}">
                <a16:creationId xmlns:a16="http://schemas.microsoft.com/office/drawing/2014/main" id="{775CF306-1AE9-41E1-9C5F-F42DED44C1DE}"/>
              </a:ext>
            </a:extLst>
          </p:cNvPr>
          <p:cNvSpPr>
            <a:spLocks noChangeShapeType="1"/>
          </p:cNvSpPr>
          <p:nvPr/>
        </p:nvSpPr>
        <p:spPr bwMode="blackWhite">
          <a:xfrm>
            <a:off x="8177820" y="3683370"/>
            <a:ext cx="0" cy="197326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7352618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B471CF-A1A3-48C2-9A0B-8C0EC140E5DF}"/>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4B98532C-F1A7-4B9B-9E7F-82D07346AA56}"/>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FD120B29-1613-4A01-87D3-E680CBDB5152}"/>
              </a:ext>
            </a:extLst>
          </p:cNvPr>
          <p:cNvSpPr>
            <a:spLocks noGrp="1"/>
          </p:cNvSpPr>
          <p:nvPr>
            <p:ph type="sldNum" sz="quarter" idx="4"/>
          </p:nvPr>
        </p:nvSpPr>
        <p:spPr/>
        <p:txBody>
          <a:bodyPr/>
          <a:lstStyle/>
          <a:p>
            <a:fld id="{48F63A3B-78C7-47BE-AE5E-E10140E04643}" type="slidenum">
              <a:rPr lang="en-US" smtClean="0"/>
              <a:pPr/>
              <a:t>41</a:t>
            </a:fld>
            <a:endParaRPr lang="en-US" dirty="0"/>
          </a:p>
        </p:txBody>
      </p:sp>
      <p:sp>
        <p:nvSpPr>
          <p:cNvPr id="23" name="TextBox 22">
            <a:extLst>
              <a:ext uri="{FF2B5EF4-FFF2-40B4-BE49-F238E27FC236}">
                <a16:creationId xmlns:a16="http://schemas.microsoft.com/office/drawing/2014/main" id="{52BE1E6A-6440-4480-903E-36C255718E4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AND, OR Operators</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24" name="Rectangle 2">
            <a:extLst>
              <a:ext uri="{FF2B5EF4-FFF2-40B4-BE49-F238E27FC236}">
                <a16:creationId xmlns:a16="http://schemas.microsoft.com/office/drawing/2014/main" id="{64B85CB7-A0A8-4DE7-A937-D07868CEEAF1}"/>
              </a:ext>
            </a:extLst>
          </p:cNvPr>
          <p:cNvSpPr>
            <a:spLocks noChangeArrowheads="1"/>
          </p:cNvSpPr>
          <p:nvPr/>
        </p:nvSpPr>
        <p:spPr bwMode="blackGray">
          <a:xfrm>
            <a:off x="186396" y="1879635"/>
            <a:ext cx="7272338" cy="1271588"/>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employee_id</a:t>
            </a:r>
            <a:r>
              <a:rPr lang="en-US" altLang="en-US" dirty="0"/>
              <a:t>, </a:t>
            </a:r>
            <a:r>
              <a:rPr lang="en-US" altLang="en-US" dirty="0" err="1"/>
              <a:t>last_name</a:t>
            </a:r>
            <a:r>
              <a:rPr lang="en-US" altLang="en-US" dirty="0"/>
              <a:t>, </a:t>
            </a:r>
            <a:r>
              <a:rPr lang="en-US" altLang="en-US" dirty="0" err="1"/>
              <a:t>job_id</a:t>
            </a:r>
            <a:r>
              <a:rPr lang="en-US" altLang="en-US" dirty="0"/>
              <a:t>, salary</a:t>
            </a:r>
          </a:p>
          <a:p>
            <a:r>
              <a:rPr lang="en-US" altLang="en-US" dirty="0"/>
              <a:t>FROM   employees</a:t>
            </a:r>
          </a:p>
          <a:p>
            <a:r>
              <a:rPr lang="en-US" altLang="en-US" dirty="0"/>
              <a:t>WHERE  salary &gt;= 10000</a:t>
            </a:r>
          </a:p>
          <a:p>
            <a:r>
              <a:rPr lang="en-US" altLang="en-US" dirty="0"/>
              <a:t>AND    </a:t>
            </a:r>
            <a:r>
              <a:rPr lang="en-US" altLang="en-US" dirty="0" err="1"/>
              <a:t>job_id</a:t>
            </a:r>
            <a:r>
              <a:rPr lang="en-US" altLang="en-US" dirty="0"/>
              <a:t> LIKE '%MAN%' ;</a:t>
            </a:r>
          </a:p>
        </p:txBody>
      </p:sp>
      <p:sp>
        <p:nvSpPr>
          <p:cNvPr id="25" name="Rectangle 5">
            <a:extLst>
              <a:ext uri="{FF2B5EF4-FFF2-40B4-BE49-F238E27FC236}">
                <a16:creationId xmlns:a16="http://schemas.microsoft.com/office/drawing/2014/main" id="{B174B4AC-DC1A-4D9D-BC70-4C87EFB5DA19}"/>
              </a:ext>
            </a:extLst>
          </p:cNvPr>
          <p:cNvSpPr>
            <a:spLocks noChangeArrowheads="1"/>
          </p:cNvSpPr>
          <p:nvPr/>
        </p:nvSpPr>
        <p:spPr bwMode="gray">
          <a:xfrm>
            <a:off x="1180171" y="2519398"/>
            <a:ext cx="2662238" cy="5588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26" name="Rectangle 2">
            <a:extLst>
              <a:ext uri="{FF2B5EF4-FFF2-40B4-BE49-F238E27FC236}">
                <a16:creationId xmlns:a16="http://schemas.microsoft.com/office/drawing/2014/main" id="{0D0C3A3E-7FD7-4C3E-8A75-6221C9338DDF}"/>
              </a:ext>
            </a:extLst>
          </p:cNvPr>
          <p:cNvSpPr>
            <a:spLocks noChangeArrowheads="1"/>
          </p:cNvSpPr>
          <p:nvPr/>
        </p:nvSpPr>
        <p:spPr bwMode="blackGray">
          <a:xfrm>
            <a:off x="166551" y="4704980"/>
            <a:ext cx="7272338" cy="1271588"/>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employee_id</a:t>
            </a:r>
            <a:r>
              <a:rPr lang="en-US" altLang="en-US" dirty="0"/>
              <a:t>, </a:t>
            </a:r>
            <a:r>
              <a:rPr lang="en-US" altLang="en-US" dirty="0" err="1"/>
              <a:t>last_name</a:t>
            </a:r>
            <a:r>
              <a:rPr lang="en-US" altLang="en-US" dirty="0"/>
              <a:t>, </a:t>
            </a:r>
            <a:r>
              <a:rPr lang="en-US" altLang="en-US" dirty="0" err="1"/>
              <a:t>job_id</a:t>
            </a:r>
            <a:r>
              <a:rPr lang="en-US" altLang="en-US" dirty="0"/>
              <a:t>, salary</a:t>
            </a:r>
          </a:p>
          <a:p>
            <a:r>
              <a:rPr lang="en-US" altLang="en-US" dirty="0"/>
              <a:t>FROM   employees</a:t>
            </a:r>
          </a:p>
          <a:p>
            <a:r>
              <a:rPr lang="en-US" altLang="en-US" dirty="0"/>
              <a:t>WHERE  salary &gt;= 10000</a:t>
            </a:r>
          </a:p>
          <a:p>
            <a:r>
              <a:rPr lang="en-US" altLang="en-US" dirty="0"/>
              <a:t>OR     job_id LIKE '%MAN%' ;</a:t>
            </a:r>
          </a:p>
        </p:txBody>
      </p:sp>
      <p:sp>
        <p:nvSpPr>
          <p:cNvPr id="27" name="Rectangle 5">
            <a:extLst>
              <a:ext uri="{FF2B5EF4-FFF2-40B4-BE49-F238E27FC236}">
                <a16:creationId xmlns:a16="http://schemas.microsoft.com/office/drawing/2014/main" id="{9E98E44E-825F-4580-851E-8E9CEF557CE1}"/>
              </a:ext>
            </a:extLst>
          </p:cNvPr>
          <p:cNvSpPr>
            <a:spLocks noChangeArrowheads="1"/>
          </p:cNvSpPr>
          <p:nvPr/>
        </p:nvSpPr>
        <p:spPr bwMode="gray">
          <a:xfrm>
            <a:off x="1160326" y="5344743"/>
            <a:ext cx="2662238" cy="5588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28" name="Rectangle 10">
            <a:extLst>
              <a:ext uri="{FF2B5EF4-FFF2-40B4-BE49-F238E27FC236}">
                <a16:creationId xmlns:a16="http://schemas.microsoft.com/office/drawing/2014/main" id="{28068385-FE14-4E15-B7A0-3F6B9CBE35A8}"/>
              </a:ext>
            </a:extLst>
          </p:cNvPr>
          <p:cNvSpPr txBox="1">
            <a:spLocks noChangeArrowheads="1"/>
          </p:cNvSpPr>
          <p:nvPr/>
        </p:nvSpPr>
        <p:spPr>
          <a:xfrm>
            <a:off x="166551" y="1196503"/>
            <a:ext cx="8257601" cy="466928"/>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Tahoma" panose="020B0604030504040204" pitchFamily="34" charset="0"/>
                <a:ea typeface="Tahoma" panose="020B0604030504040204" pitchFamily="34" charset="0"/>
                <a:cs typeface="Tahoma" panose="020B0604030504040204" pitchFamily="34" charset="0"/>
              </a:rPr>
              <a:t>AND requires both the component conditions to be true:</a:t>
            </a:r>
          </a:p>
        </p:txBody>
      </p:sp>
      <p:pic>
        <p:nvPicPr>
          <p:cNvPr id="29" name="Picture 11" descr="C:\project-SQLFund1\images\img-02-15.gif">
            <a:extLst>
              <a:ext uri="{FF2B5EF4-FFF2-40B4-BE49-F238E27FC236}">
                <a16:creationId xmlns:a16="http://schemas.microsoft.com/office/drawing/2014/main" id="{F05F67B4-20F4-43E9-BB07-6AC45E2B20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52111" y="3306728"/>
            <a:ext cx="452572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10">
            <a:extLst>
              <a:ext uri="{FF2B5EF4-FFF2-40B4-BE49-F238E27FC236}">
                <a16:creationId xmlns:a16="http://schemas.microsoft.com/office/drawing/2014/main" id="{D85C5FF4-2E37-424B-A08B-F058E3351BDB}"/>
              </a:ext>
            </a:extLst>
          </p:cNvPr>
          <p:cNvSpPr txBox="1">
            <a:spLocks noChangeArrowheads="1"/>
          </p:cNvSpPr>
          <p:nvPr/>
        </p:nvSpPr>
        <p:spPr>
          <a:xfrm>
            <a:off x="186396" y="4228949"/>
            <a:ext cx="7918450" cy="360362"/>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latin typeface="Tahoma" panose="020B0604030504040204" pitchFamily="34" charset="0"/>
                <a:ea typeface="Tahoma" panose="020B0604030504040204" pitchFamily="34" charset="0"/>
                <a:cs typeface="Tahoma" panose="020B0604030504040204" pitchFamily="34" charset="0"/>
              </a:rPr>
              <a:t>OR requires either component condition to be true:</a:t>
            </a:r>
          </a:p>
        </p:txBody>
      </p:sp>
    </p:spTree>
    <p:extLst>
      <p:ext uri="{BB962C8B-B14F-4D97-AF65-F5344CB8AC3E}">
        <p14:creationId xmlns:p14="http://schemas.microsoft.com/office/powerpoint/2010/main" val="1092936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B471CF-A1A3-48C2-9A0B-8C0EC140E5DF}"/>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4B98532C-F1A7-4B9B-9E7F-82D07346AA56}"/>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FD120B29-1613-4A01-87D3-E680CBDB5152}"/>
              </a:ext>
            </a:extLst>
          </p:cNvPr>
          <p:cNvSpPr>
            <a:spLocks noGrp="1"/>
          </p:cNvSpPr>
          <p:nvPr>
            <p:ph type="sldNum" sz="quarter" idx="4"/>
          </p:nvPr>
        </p:nvSpPr>
        <p:spPr/>
        <p:txBody>
          <a:bodyPr/>
          <a:lstStyle/>
          <a:p>
            <a:fld id="{48F63A3B-78C7-47BE-AE5E-E10140E04643}" type="slidenum">
              <a:rPr lang="en-US" smtClean="0"/>
              <a:pPr/>
              <a:t>42</a:t>
            </a:fld>
            <a:endParaRPr lang="en-US" dirty="0"/>
          </a:p>
        </p:txBody>
      </p:sp>
      <p:sp>
        <p:nvSpPr>
          <p:cNvPr id="23" name="TextBox 22">
            <a:extLst>
              <a:ext uri="{FF2B5EF4-FFF2-40B4-BE49-F238E27FC236}">
                <a16:creationId xmlns:a16="http://schemas.microsoft.com/office/drawing/2014/main" id="{52BE1E6A-6440-4480-903E-36C255718E42}"/>
              </a:ext>
            </a:extLst>
          </p:cNvPr>
          <p:cNvSpPr txBox="1"/>
          <p:nvPr/>
        </p:nvSpPr>
        <p:spPr>
          <a:xfrm>
            <a:off x="731195" y="213044"/>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NOT Operator</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13" name="Rectangle 2">
            <a:extLst>
              <a:ext uri="{FF2B5EF4-FFF2-40B4-BE49-F238E27FC236}">
                <a16:creationId xmlns:a16="http://schemas.microsoft.com/office/drawing/2014/main" id="{956F5D18-DBD4-44B2-A3D5-10199D76B1ED}"/>
              </a:ext>
            </a:extLst>
          </p:cNvPr>
          <p:cNvSpPr>
            <a:spLocks noChangeArrowheads="1"/>
          </p:cNvSpPr>
          <p:nvPr/>
        </p:nvSpPr>
        <p:spPr bwMode="blackGray">
          <a:xfrm>
            <a:off x="552111" y="1324076"/>
            <a:ext cx="7272338" cy="1271588"/>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last_name</a:t>
            </a:r>
            <a:r>
              <a:rPr lang="en-US" altLang="en-US" dirty="0"/>
              <a:t>, </a:t>
            </a:r>
            <a:r>
              <a:rPr lang="en-US" altLang="en-US" dirty="0" err="1"/>
              <a:t>job_id</a:t>
            </a:r>
            <a:endParaRPr lang="en-US" altLang="en-US" dirty="0"/>
          </a:p>
          <a:p>
            <a:r>
              <a:rPr lang="en-US" altLang="en-US" dirty="0"/>
              <a:t>FROM   employees</a:t>
            </a:r>
          </a:p>
          <a:p>
            <a:r>
              <a:rPr lang="en-US" altLang="en-US" dirty="0"/>
              <a:t>WHERE  </a:t>
            </a:r>
            <a:r>
              <a:rPr lang="en-US" altLang="en-US" dirty="0" err="1"/>
              <a:t>job_id</a:t>
            </a:r>
            <a:r>
              <a:rPr lang="en-US" altLang="en-US" dirty="0"/>
              <a:t> </a:t>
            </a:r>
          </a:p>
          <a:p>
            <a:r>
              <a:rPr lang="en-US" altLang="en-US" dirty="0"/>
              <a:t>       NOT IN ('IT_PROG', 'ST_CLERK', 'SA_REP') ;</a:t>
            </a:r>
          </a:p>
        </p:txBody>
      </p:sp>
      <p:sp>
        <p:nvSpPr>
          <p:cNvPr id="14" name="Rectangle 4">
            <a:extLst>
              <a:ext uri="{FF2B5EF4-FFF2-40B4-BE49-F238E27FC236}">
                <a16:creationId xmlns:a16="http://schemas.microsoft.com/office/drawing/2014/main" id="{8E3A356E-10D0-4910-B3CF-A2463F3E6433}"/>
              </a:ext>
            </a:extLst>
          </p:cNvPr>
          <p:cNvSpPr>
            <a:spLocks noChangeArrowheads="1"/>
          </p:cNvSpPr>
          <p:nvPr/>
        </p:nvSpPr>
        <p:spPr bwMode="gray">
          <a:xfrm>
            <a:off x="1518899" y="1955903"/>
            <a:ext cx="5524500" cy="595313"/>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pic>
        <p:nvPicPr>
          <p:cNvPr id="15" name="Picture 8" descr="C:\project-SQLFund1\images\img-02-17.gif">
            <a:extLst>
              <a:ext uri="{FF2B5EF4-FFF2-40B4-BE49-F238E27FC236}">
                <a16:creationId xmlns:a16="http://schemas.microsoft.com/office/drawing/2014/main" id="{62A3D404-B05A-441A-BBA4-6F7F61FC8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9202704" y="2595664"/>
            <a:ext cx="2525713"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577FD6C5-F5C9-41C2-93C2-18F3711EF76A}"/>
              </a:ext>
            </a:extLst>
          </p:cNvPr>
          <p:cNvSpPr txBox="1"/>
          <p:nvPr/>
        </p:nvSpPr>
        <p:spPr>
          <a:xfrm>
            <a:off x="97277" y="3541560"/>
            <a:ext cx="8757326" cy="2031325"/>
          </a:xfrm>
          <a:prstGeom prst="rect">
            <a:avLst/>
          </a:prstGeom>
          <a:noFill/>
        </p:spPr>
        <p:txBody>
          <a:bodyPr wrap="square">
            <a:spAutoFit/>
          </a:bodyPr>
          <a:lstStyle/>
          <a:p>
            <a:r>
              <a:rPr lang="en-US" altLang="en-US" sz="2000" b="1" dirty="0">
                <a:latin typeface="Tahoma" panose="020B0604030504040204" pitchFamily="34" charset="0"/>
                <a:ea typeface="Tahoma" panose="020B0604030504040204" pitchFamily="34" charset="0"/>
                <a:cs typeface="Tahoma" panose="020B0604030504040204" pitchFamily="34" charset="0"/>
              </a:rPr>
              <a:t>Note: </a:t>
            </a:r>
            <a:r>
              <a:rPr lang="en-US" altLang="en-US" sz="2000" dirty="0">
                <a:latin typeface="Tahoma" panose="020B0604030504040204" pitchFamily="34" charset="0"/>
                <a:ea typeface="Tahoma" panose="020B0604030504040204" pitchFamily="34" charset="0"/>
                <a:cs typeface="Tahoma" panose="020B0604030504040204" pitchFamily="34" charset="0"/>
              </a:rPr>
              <a:t>The NOT operator can also be used with other SQL operators, such as BETWEEN, LIKE, and NULL.</a:t>
            </a:r>
          </a:p>
          <a:p>
            <a:pPr lvl="1" eaLnBrk="1" hangingPunct="1"/>
            <a:endParaRPr lang="en-US" altLang="en-US" sz="600" dirty="0">
              <a:latin typeface="Tahoma" panose="020B0604030504040204" pitchFamily="34" charset="0"/>
              <a:ea typeface="Tahoma" panose="020B0604030504040204" pitchFamily="34" charset="0"/>
              <a:cs typeface="Tahoma" panose="020B0604030504040204" pitchFamily="34" charset="0"/>
            </a:endParaRPr>
          </a:p>
          <a:p>
            <a:pPr lvl="1"/>
            <a:r>
              <a:rPr lang="en-US" altLang="en-US" sz="2000" dirty="0">
                <a:latin typeface="Tahoma" panose="020B0604030504040204" pitchFamily="34" charset="0"/>
                <a:ea typeface="Tahoma" panose="020B0604030504040204" pitchFamily="34" charset="0"/>
                <a:cs typeface="Tahoma" panose="020B0604030504040204" pitchFamily="34" charset="0"/>
              </a:rPr>
              <a:t>... WHERE  job_id    NOT  IN ('AC_ACCOUNT', 'AD_VP')</a:t>
            </a:r>
          </a:p>
          <a:p>
            <a:pPr lvl="1"/>
            <a:r>
              <a:rPr lang="en-US" altLang="en-US" sz="2000" dirty="0">
                <a:latin typeface="Tahoma" panose="020B0604030504040204" pitchFamily="34" charset="0"/>
                <a:ea typeface="Tahoma" panose="020B0604030504040204" pitchFamily="34" charset="0"/>
                <a:cs typeface="Tahoma" panose="020B0604030504040204" pitchFamily="34" charset="0"/>
              </a:rPr>
              <a:t>... WHERE  salary    NOT  BETWEEN  10000 AND  15000</a:t>
            </a:r>
          </a:p>
          <a:p>
            <a:pPr lvl="1"/>
            <a:r>
              <a:rPr lang="en-US" altLang="en-US" sz="2000" dirty="0">
                <a:latin typeface="Tahoma" panose="020B0604030504040204" pitchFamily="34" charset="0"/>
                <a:ea typeface="Tahoma" panose="020B0604030504040204" pitchFamily="34" charset="0"/>
                <a:cs typeface="Tahoma" panose="020B0604030504040204" pitchFamily="34" charset="0"/>
              </a:rPr>
              <a:t>... WHERE  last_name NOT  LIKE '%A%'</a:t>
            </a:r>
          </a:p>
          <a:p>
            <a:pPr lvl="1"/>
            <a:r>
              <a:rPr lang="en-US" altLang="en-US" sz="2000" dirty="0">
                <a:latin typeface="Tahoma" panose="020B0604030504040204" pitchFamily="34" charset="0"/>
                <a:ea typeface="Tahoma" panose="020B0604030504040204" pitchFamily="34" charset="0"/>
                <a:cs typeface="Tahoma" panose="020B0604030504040204" pitchFamily="34" charset="0"/>
              </a:rPr>
              <a:t>... WHERE  </a:t>
            </a:r>
            <a:r>
              <a:rPr lang="en-US" altLang="en-US" sz="2000" dirty="0" err="1">
                <a:latin typeface="Tahoma" panose="020B0604030504040204" pitchFamily="34" charset="0"/>
                <a:ea typeface="Tahoma" panose="020B0604030504040204" pitchFamily="34" charset="0"/>
                <a:cs typeface="Tahoma" panose="020B0604030504040204" pitchFamily="34" charset="0"/>
              </a:rPr>
              <a:t>commission_pct</a:t>
            </a:r>
            <a:r>
              <a:rPr lang="en-US" altLang="en-US" sz="2000" dirty="0">
                <a:latin typeface="Tahoma" panose="020B0604030504040204" pitchFamily="34" charset="0"/>
                <a:ea typeface="Tahoma" panose="020B0604030504040204" pitchFamily="34" charset="0"/>
                <a:cs typeface="Tahoma" panose="020B0604030504040204" pitchFamily="34" charset="0"/>
              </a:rPr>
              <a:t>  IS   NOT  NULL</a:t>
            </a:r>
            <a:endParaRPr lang="en-US"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279914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AAAE2-3B66-4B19-A8D8-6AC17F8DDE01}"/>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EF66988-7CCB-4BD7-9687-E5B84D85ADF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0ACC962-5A92-49FE-9430-D9148C0BE672}"/>
              </a:ext>
            </a:extLst>
          </p:cNvPr>
          <p:cNvSpPr>
            <a:spLocks noGrp="1"/>
          </p:cNvSpPr>
          <p:nvPr>
            <p:ph type="sldNum" sz="quarter" idx="4"/>
          </p:nvPr>
        </p:nvSpPr>
        <p:spPr/>
        <p:txBody>
          <a:bodyPr/>
          <a:lstStyle/>
          <a:p>
            <a:fld id="{48F63A3B-78C7-47BE-AE5E-E10140E04643}" type="slidenum">
              <a:rPr lang="en-US" smtClean="0"/>
              <a:pPr/>
              <a:t>43</a:t>
            </a:fld>
            <a:endParaRPr lang="en-US" dirty="0"/>
          </a:p>
        </p:txBody>
      </p:sp>
      <p:sp>
        <p:nvSpPr>
          <p:cNvPr id="10" name="TextBox 9">
            <a:extLst>
              <a:ext uri="{FF2B5EF4-FFF2-40B4-BE49-F238E27FC236}">
                <a16:creationId xmlns:a16="http://schemas.microsoft.com/office/drawing/2014/main" id="{65104D4F-0958-4099-8DF1-04C06D479572}"/>
              </a:ext>
            </a:extLst>
          </p:cNvPr>
          <p:cNvSpPr txBox="1"/>
          <p:nvPr/>
        </p:nvSpPr>
        <p:spPr>
          <a:xfrm>
            <a:off x="731195" y="213044"/>
            <a:ext cx="10729609" cy="646331"/>
          </a:xfrm>
          <a:prstGeom prst="rect">
            <a:avLst/>
          </a:prstGeom>
          <a:noFill/>
        </p:spPr>
        <p:txBody>
          <a:bodyPr wrap="square" rtlCol="0" anchor="ctr">
            <a:spAutoFit/>
          </a:bodyPr>
          <a:lstStyle/>
          <a:p>
            <a:pPr algn="ctr"/>
            <a:r>
              <a:rPr lang="en-US" sz="3600" b="1" dirty="0">
                <a:solidFill>
                  <a:schemeClr val="accent6">
                    <a:lumMod val="75000"/>
                    <a:lumOff val="25000"/>
                  </a:schemeClr>
                </a:solidFill>
                <a:latin typeface="Arial Black" panose="020B0A04020102020204" pitchFamily="34" charset="0"/>
                <a:cs typeface="Arial" pitchFamily="34" charset="0"/>
              </a:rPr>
              <a:t>Order Precedence</a:t>
            </a:r>
          </a:p>
        </p:txBody>
      </p:sp>
      <p:sp>
        <p:nvSpPr>
          <p:cNvPr id="17" name="Rectangle 3">
            <a:extLst>
              <a:ext uri="{FF2B5EF4-FFF2-40B4-BE49-F238E27FC236}">
                <a16:creationId xmlns:a16="http://schemas.microsoft.com/office/drawing/2014/main" id="{CED18D7F-B716-49ED-AEE6-C7114715DD43}"/>
              </a:ext>
            </a:extLst>
          </p:cNvPr>
          <p:cNvSpPr>
            <a:spLocks noChangeArrowheads="1"/>
          </p:cNvSpPr>
          <p:nvPr/>
        </p:nvSpPr>
        <p:spPr bwMode="auto">
          <a:xfrm>
            <a:off x="326893" y="5296550"/>
            <a:ext cx="5524409" cy="619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defTabSz="346075">
              <a:tabLst>
                <a:tab pos="571500" algn="l"/>
              </a:tabLst>
              <a:defRPr b="1">
                <a:solidFill>
                  <a:srgbClr val="000000"/>
                </a:solidFill>
                <a:latin typeface="Courier New" panose="02070309020205020404" pitchFamily="49" charset="0"/>
              </a:defRPr>
            </a:lvl1pPr>
            <a:lvl2pPr marL="919163" indent="-400050" defTabSz="346075">
              <a:tabLst>
                <a:tab pos="571500" algn="l"/>
              </a:tabLst>
              <a:defRPr b="1">
                <a:solidFill>
                  <a:srgbClr val="000000"/>
                </a:solidFill>
                <a:latin typeface="Courier New" panose="02070309020205020404" pitchFamily="49" charset="0"/>
              </a:defRPr>
            </a:lvl2pPr>
            <a:lvl3pPr marL="1319213" indent="-285750" defTabSz="346075">
              <a:tabLst>
                <a:tab pos="571500" algn="l"/>
              </a:tabLst>
              <a:defRPr b="1">
                <a:solidFill>
                  <a:srgbClr val="000000"/>
                </a:solidFill>
                <a:latin typeface="Courier New" panose="02070309020205020404" pitchFamily="49" charset="0"/>
              </a:defRPr>
            </a:lvl3pPr>
            <a:lvl4pPr marL="1662113" indent="-228600" defTabSz="346075">
              <a:tabLst>
                <a:tab pos="571500" algn="l"/>
              </a:tabLst>
              <a:defRPr b="1">
                <a:solidFill>
                  <a:srgbClr val="000000"/>
                </a:solidFill>
                <a:latin typeface="Courier New" panose="02070309020205020404" pitchFamily="49" charset="0"/>
              </a:defRPr>
            </a:lvl4pPr>
            <a:lvl5pPr marL="2005013" indent="-228600" defTabSz="346075">
              <a:tabLst>
                <a:tab pos="571500" algn="l"/>
              </a:tabLst>
              <a:defRPr b="1">
                <a:solidFill>
                  <a:srgbClr val="000000"/>
                </a:solidFill>
                <a:latin typeface="Courier New" panose="02070309020205020404" pitchFamily="49" charset="0"/>
              </a:defRPr>
            </a:lvl5pPr>
            <a:lvl6pPr marL="2462213" indent="-228600" defTabSz="346075" eaLnBrk="0" fontAlgn="base" hangingPunct="0">
              <a:spcBef>
                <a:spcPct val="0"/>
              </a:spcBef>
              <a:spcAft>
                <a:spcPct val="0"/>
              </a:spcAft>
              <a:tabLst>
                <a:tab pos="571500" algn="l"/>
              </a:tabLst>
              <a:defRPr b="1">
                <a:solidFill>
                  <a:srgbClr val="000000"/>
                </a:solidFill>
                <a:latin typeface="Courier New" panose="02070309020205020404" pitchFamily="49" charset="0"/>
              </a:defRPr>
            </a:lvl6pPr>
            <a:lvl7pPr marL="2919413" indent="-228600" defTabSz="346075" eaLnBrk="0" fontAlgn="base" hangingPunct="0">
              <a:spcBef>
                <a:spcPct val="0"/>
              </a:spcBef>
              <a:spcAft>
                <a:spcPct val="0"/>
              </a:spcAft>
              <a:tabLst>
                <a:tab pos="571500" algn="l"/>
              </a:tabLst>
              <a:defRPr b="1">
                <a:solidFill>
                  <a:srgbClr val="000000"/>
                </a:solidFill>
                <a:latin typeface="Courier New" panose="02070309020205020404" pitchFamily="49" charset="0"/>
              </a:defRPr>
            </a:lvl7pPr>
            <a:lvl8pPr marL="3376613" indent="-228600" defTabSz="346075" eaLnBrk="0" fontAlgn="base" hangingPunct="0">
              <a:spcBef>
                <a:spcPct val="0"/>
              </a:spcBef>
              <a:spcAft>
                <a:spcPct val="0"/>
              </a:spcAft>
              <a:tabLst>
                <a:tab pos="571500" algn="l"/>
              </a:tabLst>
              <a:defRPr b="1">
                <a:solidFill>
                  <a:srgbClr val="000000"/>
                </a:solidFill>
                <a:latin typeface="Courier New" panose="02070309020205020404" pitchFamily="49" charset="0"/>
              </a:defRPr>
            </a:lvl8pPr>
            <a:lvl9pPr marL="3833813" indent="-228600" defTabSz="346075" eaLnBrk="0" fontAlgn="base" hangingPunct="0">
              <a:spcBef>
                <a:spcPct val="0"/>
              </a:spcBef>
              <a:spcAft>
                <a:spcPct val="0"/>
              </a:spcAft>
              <a:tabLst>
                <a:tab pos="571500" algn="l"/>
              </a:tabLst>
              <a:defRPr b="1">
                <a:solidFill>
                  <a:srgbClr val="000000"/>
                </a:solidFill>
                <a:latin typeface="Courier New" panose="02070309020205020404" pitchFamily="49" charset="0"/>
              </a:defRPr>
            </a:lvl9pPr>
          </a:lstStyle>
          <a:p>
            <a:pPr algn="ctr">
              <a:lnSpc>
                <a:spcPct val="95000"/>
              </a:lnSpc>
              <a:spcBef>
                <a:spcPct val="35000"/>
              </a:spcBef>
            </a:pPr>
            <a:r>
              <a:rPr lang="en-US" altLang="en-US" dirty="0">
                <a:solidFill>
                  <a:schemeClr val="tx1"/>
                </a:solidFill>
                <a:latin typeface="Arial" panose="020B0604020202020204" pitchFamily="34" charset="0"/>
              </a:rPr>
              <a:t>You can use parentheses to override rules of precedence.</a:t>
            </a:r>
          </a:p>
        </p:txBody>
      </p:sp>
      <p:sp>
        <p:nvSpPr>
          <p:cNvPr id="18" name="Rectangle 5">
            <a:extLst>
              <a:ext uri="{FF2B5EF4-FFF2-40B4-BE49-F238E27FC236}">
                <a16:creationId xmlns:a16="http://schemas.microsoft.com/office/drawing/2014/main" id="{0F8F2BE9-0E06-4D6E-BA6E-867FB15C2FA5}"/>
              </a:ext>
            </a:extLst>
          </p:cNvPr>
          <p:cNvSpPr>
            <a:spLocks noChangeArrowheads="1"/>
          </p:cNvSpPr>
          <p:nvPr/>
        </p:nvSpPr>
        <p:spPr bwMode="blackWhite">
          <a:xfrm>
            <a:off x="1627562" y="3555839"/>
            <a:ext cx="4225694"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 Not equal to</a:t>
            </a:r>
          </a:p>
        </p:txBody>
      </p:sp>
      <p:sp>
        <p:nvSpPr>
          <p:cNvPr id="19" name="Rectangle 6">
            <a:extLst>
              <a:ext uri="{FF2B5EF4-FFF2-40B4-BE49-F238E27FC236}">
                <a16:creationId xmlns:a16="http://schemas.microsoft.com/office/drawing/2014/main" id="{5CC9FA35-15FD-4920-9BE1-3A871E6C9181}"/>
              </a:ext>
            </a:extLst>
          </p:cNvPr>
          <p:cNvSpPr>
            <a:spLocks noChangeArrowheads="1"/>
          </p:cNvSpPr>
          <p:nvPr/>
        </p:nvSpPr>
        <p:spPr bwMode="blackWhite">
          <a:xfrm>
            <a:off x="373436" y="3555839"/>
            <a:ext cx="125217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6</a:t>
            </a:r>
          </a:p>
        </p:txBody>
      </p:sp>
      <p:sp>
        <p:nvSpPr>
          <p:cNvPr id="20" name="Rectangle 7">
            <a:extLst>
              <a:ext uri="{FF2B5EF4-FFF2-40B4-BE49-F238E27FC236}">
                <a16:creationId xmlns:a16="http://schemas.microsoft.com/office/drawing/2014/main" id="{2E90551E-8B22-483B-86ED-D4B825C8F200}"/>
              </a:ext>
            </a:extLst>
          </p:cNvPr>
          <p:cNvSpPr>
            <a:spLocks noChangeArrowheads="1"/>
          </p:cNvSpPr>
          <p:nvPr/>
        </p:nvSpPr>
        <p:spPr bwMode="blackWhite">
          <a:xfrm>
            <a:off x="1627562" y="3920964"/>
            <a:ext cx="4225694"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 </a:t>
            </a:r>
            <a:r>
              <a:rPr lang="en-US" altLang="en-US" sz="1600">
                <a:latin typeface="Courier New" panose="02070309020205020404" pitchFamily="49" charset="0"/>
              </a:rPr>
              <a:t>NOT</a:t>
            </a:r>
            <a:r>
              <a:rPr lang="en-US" altLang="en-US" sz="1600"/>
              <a:t> logical condition</a:t>
            </a:r>
          </a:p>
        </p:txBody>
      </p:sp>
      <p:sp>
        <p:nvSpPr>
          <p:cNvPr id="21" name="Rectangle 8">
            <a:extLst>
              <a:ext uri="{FF2B5EF4-FFF2-40B4-BE49-F238E27FC236}">
                <a16:creationId xmlns:a16="http://schemas.microsoft.com/office/drawing/2014/main" id="{F21B919F-A84C-4716-934D-68757E7631F9}"/>
              </a:ext>
            </a:extLst>
          </p:cNvPr>
          <p:cNvSpPr>
            <a:spLocks noChangeArrowheads="1"/>
          </p:cNvSpPr>
          <p:nvPr/>
        </p:nvSpPr>
        <p:spPr bwMode="blackWhite">
          <a:xfrm>
            <a:off x="373436" y="3920964"/>
            <a:ext cx="125217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tabLst>
                <a:tab pos="115888" algn="l"/>
              </a:tabLst>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tabLst>
                <a:tab pos="115888" algn="l"/>
              </a:tabLst>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tabLst>
                <a:tab pos="115888" algn="l"/>
              </a:tabLst>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tabLst>
                <a:tab pos="115888" algn="l"/>
              </a:tabLst>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tabLst>
                <a:tab pos="115888" algn="l"/>
              </a:tabLst>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tabLst>
                <a:tab pos="115888" algn="l"/>
              </a:tabLst>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tabLst>
                <a:tab pos="115888" algn="l"/>
              </a:tabLst>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tabLst>
                <a:tab pos="115888" algn="l"/>
              </a:tabLst>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tabLst>
                <a:tab pos="115888" algn="l"/>
              </a:tabLst>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solidFill>
                  <a:srgbClr val="000000"/>
                </a:solidFill>
              </a:rPr>
              <a:t>7</a:t>
            </a:r>
          </a:p>
        </p:txBody>
      </p:sp>
      <p:sp>
        <p:nvSpPr>
          <p:cNvPr id="22" name="Rectangle 9">
            <a:extLst>
              <a:ext uri="{FF2B5EF4-FFF2-40B4-BE49-F238E27FC236}">
                <a16:creationId xmlns:a16="http://schemas.microsoft.com/office/drawing/2014/main" id="{BB424657-7B40-4FD8-BF43-1C15132FE7B5}"/>
              </a:ext>
            </a:extLst>
          </p:cNvPr>
          <p:cNvSpPr>
            <a:spLocks noChangeArrowheads="1"/>
          </p:cNvSpPr>
          <p:nvPr/>
        </p:nvSpPr>
        <p:spPr bwMode="blackWhite">
          <a:xfrm>
            <a:off x="1627562" y="4286087"/>
            <a:ext cx="4225694" cy="4206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20000"/>
              </a:lnSpc>
              <a:spcBef>
                <a:spcPct val="60000"/>
              </a:spcBef>
              <a:buClrTx/>
              <a:buFontTx/>
              <a:buNone/>
            </a:pPr>
            <a:r>
              <a:rPr lang="en-US" altLang="en-US" sz="1600">
                <a:latin typeface="Times New Roman" panose="02020603050405020304" pitchFamily="18" charset="0"/>
              </a:rPr>
              <a:t> </a:t>
            </a:r>
            <a:r>
              <a:rPr lang="en-US" altLang="en-US" sz="1600">
                <a:latin typeface="Courier New" panose="02070309020205020404" pitchFamily="49" charset="0"/>
              </a:rPr>
              <a:t>AND</a:t>
            </a:r>
            <a:r>
              <a:rPr lang="en-US" altLang="en-US" sz="1600"/>
              <a:t> logical condition</a:t>
            </a:r>
          </a:p>
        </p:txBody>
      </p:sp>
      <p:sp>
        <p:nvSpPr>
          <p:cNvPr id="23" name="Rectangle 10">
            <a:extLst>
              <a:ext uri="{FF2B5EF4-FFF2-40B4-BE49-F238E27FC236}">
                <a16:creationId xmlns:a16="http://schemas.microsoft.com/office/drawing/2014/main" id="{80C6446C-49C8-48AA-8538-FD5A23CBC2D1}"/>
              </a:ext>
            </a:extLst>
          </p:cNvPr>
          <p:cNvSpPr>
            <a:spLocks noChangeArrowheads="1"/>
          </p:cNvSpPr>
          <p:nvPr/>
        </p:nvSpPr>
        <p:spPr bwMode="blackWhite">
          <a:xfrm>
            <a:off x="373436" y="4286087"/>
            <a:ext cx="1252175" cy="4206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a:lnSpc>
                <a:spcPct val="120000"/>
              </a:lnSpc>
              <a:spcBef>
                <a:spcPct val="60000"/>
              </a:spcBef>
              <a:buClrTx/>
              <a:buFontTx/>
              <a:buNone/>
            </a:pPr>
            <a:r>
              <a:rPr lang="en-US" altLang="en-US" sz="1600">
                <a:solidFill>
                  <a:srgbClr val="000000"/>
                </a:solidFill>
              </a:rPr>
              <a:t>8</a:t>
            </a:r>
          </a:p>
        </p:txBody>
      </p:sp>
      <p:sp>
        <p:nvSpPr>
          <p:cNvPr id="24" name="Rectangle 11">
            <a:extLst>
              <a:ext uri="{FF2B5EF4-FFF2-40B4-BE49-F238E27FC236}">
                <a16:creationId xmlns:a16="http://schemas.microsoft.com/office/drawing/2014/main" id="{8224727A-90A3-457D-8466-321ED2C605A3}"/>
              </a:ext>
            </a:extLst>
          </p:cNvPr>
          <p:cNvSpPr>
            <a:spLocks noChangeArrowheads="1"/>
          </p:cNvSpPr>
          <p:nvPr/>
        </p:nvSpPr>
        <p:spPr bwMode="blackWhite">
          <a:xfrm>
            <a:off x="1627562" y="4706777"/>
            <a:ext cx="4225694" cy="4206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lnSpc>
                <a:spcPct val="120000"/>
              </a:lnSpc>
              <a:spcBef>
                <a:spcPct val="60000"/>
              </a:spcBef>
              <a:buClrTx/>
              <a:buFontTx/>
              <a:buNone/>
            </a:pPr>
            <a:r>
              <a:rPr lang="en-US" altLang="en-US" sz="1600">
                <a:latin typeface="Times New Roman" panose="02020603050405020304" pitchFamily="18" charset="0"/>
              </a:rPr>
              <a:t> </a:t>
            </a:r>
            <a:r>
              <a:rPr lang="en-US" altLang="en-US" sz="1600">
                <a:latin typeface="Courier New" panose="02070309020205020404" pitchFamily="49" charset="0"/>
              </a:rPr>
              <a:t>OR</a:t>
            </a:r>
            <a:r>
              <a:rPr lang="en-US" altLang="en-US" sz="1600"/>
              <a:t> logical condition</a:t>
            </a:r>
          </a:p>
        </p:txBody>
      </p:sp>
      <p:sp>
        <p:nvSpPr>
          <p:cNvPr id="25" name="Rectangle 12">
            <a:extLst>
              <a:ext uri="{FF2B5EF4-FFF2-40B4-BE49-F238E27FC236}">
                <a16:creationId xmlns:a16="http://schemas.microsoft.com/office/drawing/2014/main" id="{4168F28A-6634-466D-9FD0-B361CB923A29}"/>
              </a:ext>
            </a:extLst>
          </p:cNvPr>
          <p:cNvSpPr>
            <a:spLocks noChangeArrowheads="1"/>
          </p:cNvSpPr>
          <p:nvPr/>
        </p:nvSpPr>
        <p:spPr bwMode="blackWhite">
          <a:xfrm>
            <a:off x="373436" y="4706777"/>
            <a:ext cx="1252175" cy="4206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a:lnSpc>
                <a:spcPct val="120000"/>
              </a:lnSpc>
              <a:spcBef>
                <a:spcPct val="60000"/>
              </a:spcBef>
              <a:buClrTx/>
              <a:buFontTx/>
              <a:buNone/>
            </a:pPr>
            <a:r>
              <a:rPr lang="en-US" altLang="en-US" sz="1600">
                <a:solidFill>
                  <a:srgbClr val="000000"/>
                </a:solidFill>
              </a:rPr>
              <a:t>9</a:t>
            </a:r>
          </a:p>
        </p:txBody>
      </p:sp>
      <p:sp>
        <p:nvSpPr>
          <p:cNvPr id="26" name="Rectangle 13">
            <a:extLst>
              <a:ext uri="{FF2B5EF4-FFF2-40B4-BE49-F238E27FC236}">
                <a16:creationId xmlns:a16="http://schemas.microsoft.com/office/drawing/2014/main" id="{F601280D-826D-469A-A902-22C2178E1A3D}"/>
              </a:ext>
            </a:extLst>
          </p:cNvPr>
          <p:cNvSpPr>
            <a:spLocks noChangeArrowheads="1"/>
          </p:cNvSpPr>
          <p:nvPr/>
        </p:nvSpPr>
        <p:spPr bwMode="blackWhite">
          <a:xfrm>
            <a:off x="1627562" y="2825589"/>
            <a:ext cx="4225694"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 </a:t>
            </a:r>
            <a:r>
              <a:rPr lang="en-US" altLang="en-US" sz="1600">
                <a:latin typeface="Courier New" panose="02070309020205020404" pitchFamily="49" charset="0"/>
              </a:rPr>
              <a:t>IS</a:t>
            </a:r>
            <a:r>
              <a:rPr lang="en-US" altLang="en-US" sz="1600">
                <a:latin typeface="Times New Roman" panose="02020603050405020304" pitchFamily="18" charset="0"/>
              </a:rPr>
              <a:t> </a:t>
            </a:r>
            <a:r>
              <a:rPr lang="en-US" altLang="en-US" sz="1600">
                <a:latin typeface="Courier New" panose="02070309020205020404" pitchFamily="49" charset="0"/>
              </a:rPr>
              <a:t>[NOT]</a:t>
            </a:r>
            <a:r>
              <a:rPr lang="en-US" altLang="en-US" sz="1600">
                <a:latin typeface="Times New Roman" panose="02020603050405020304" pitchFamily="18" charset="0"/>
              </a:rPr>
              <a:t> </a:t>
            </a:r>
            <a:r>
              <a:rPr lang="en-US" altLang="en-US" sz="1600">
                <a:latin typeface="Courier New" panose="02070309020205020404" pitchFamily="49" charset="0"/>
              </a:rPr>
              <a:t>NULL</a:t>
            </a:r>
            <a:r>
              <a:rPr lang="en-US" altLang="en-US" sz="1600">
                <a:latin typeface="Times New Roman" panose="02020603050405020304" pitchFamily="18" charset="0"/>
              </a:rPr>
              <a:t>, </a:t>
            </a:r>
            <a:r>
              <a:rPr lang="en-US" altLang="en-US" sz="1600">
                <a:latin typeface="Courier New" panose="02070309020205020404" pitchFamily="49" charset="0"/>
              </a:rPr>
              <a:t>LIKE</a:t>
            </a:r>
            <a:r>
              <a:rPr lang="en-US" altLang="en-US" sz="1600">
                <a:latin typeface="Times New Roman" panose="02020603050405020304" pitchFamily="18" charset="0"/>
              </a:rPr>
              <a:t>, </a:t>
            </a:r>
            <a:r>
              <a:rPr lang="en-US" altLang="en-US" sz="1600">
                <a:latin typeface="Courier New" panose="02070309020205020404" pitchFamily="49" charset="0"/>
              </a:rPr>
              <a:t>[NOT]</a:t>
            </a:r>
            <a:r>
              <a:rPr lang="en-US" altLang="en-US" sz="1600">
                <a:latin typeface="Times New Roman" panose="02020603050405020304" pitchFamily="18" charset="0"/>
              </a:rPr>
              <a:t> </a:t>
            </a:r>
            <a:r>
              <a:rPr lang="en-US" altLang="en-US" sz="1600">
                <a:latin typeface="Courier New" panose="02070309020205020404" pitchFamily="49" charset="0"/>
              </a:rPr>
              <a:t>IN</a:t>
            </a:r>
          </a:p>
        </p:txBody>
      </p:sp>
      <p:sp>
        <p:nvSpPr>
          <p:cNvPr id="27" name="Rectangle 14">
            <a:extLst>
              <a:ext uri="{FF2B5EF4-FFF2-40B4-BE49-F238E27FC236}">
                <a16:creationId xmlns:a16="http://schemas.microsoft.com/office/drawing/2014/main" id="{14C18C99-BD65-4C17-8DDB-1F3EA3479EF2}"/>
              </a:ext>
            </a:extLst>
          </p:cNvPr>
          <p:cNvSpPr>
            <a:spLocks noChangeArrowheads="1"/>
          </p:cNvSpPr>
          <p:nvPr/>
        </p:nvSpPr>
        <p:spPr bwMode="blackWhite">
          <a:xfrm>
            <a:off x="373436" y="2825589"/>
            <a:ext cx="125217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4</a:t>
            </a:r>
          </a:p>
        </p:txBody>
      </p:sp>
      <p:sp>
        <p:nvSpPr>
          <p:cNvPr id="28" name="Rectangle 15">
            <a:extLst>
              <a:ext uri="{FF2B5EF4-FFF2-40B4-BE49-F238E27FC236}">
                <a16:creationId xmlns:a16="http://schemas.microsoft.com/office/drawing/2014/main" id="{FB130750-D7ED-4D13-AE2D-379385A21FA6}"/>
              </a:ext>
            </a:extLst>
          </p:cNvPr>
          <p:cNvSpPr>
            <a:spLocks noChangeArrowheads="1"/>
          </p:cNvSpPr>
          <p:nvPr/>
        </p:nvSpPr>
        <p:spPr bwMode="blackWhite">
          <a:xfrm>
            <a:off x="1627562" y="3190714"/>
            <a:ext cx="4225694"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latin typeface="Times New Roman" panose="02020603050405020304" pitchFamily="18" charset="0"/>
              </a:rPr>
              <a:t> </a:t>
            </a:r>
            <a:r>
              <a:rPr lang="en-US" altLang="en-US" sz="1600">
                <a:latin typeface="Courier New" panose="02070309020205020404" pitchFamily="49" charset="0"/>
              </a:rPr>
              <a:t>[NOT]</a:t>
            </a:r>
            <a:r>
              <a:rPr lang="en-US" altLang="en-US" sz="1600"/>
              <a:t> </a:t>
            </a:r>
            <a:r>
              <a:rPr lang="en-US" altLang="en-US" sz="1600">
                <a:latin typeface="Courier New" panose="02070309020205020404" pitchFamily="49" charset="0"/>
              </a:rPr>
              <a:t>BETWEEN</a:t>
            </a:r>
          </a:p>
        </p:txBody>
      </p:sp>
      <p:sp>
        <p:nvSpPr>
          <p:cNvPr id="29" name="Rectangle 16">
            <a:extLst>
              <a:ext uri="{FF2B5EF4-FFF2-40B4-BE49-F238E27FC236}">
                <a16:creationId xmlns:a16="http://schemas.microsoft.com/office/drawing/2014/main" id="{91695D28-1646-44E2-928B-F8EBD599EAB7}"/>
              </a:ext>
            </a:extLst>
          </p:cNvPr>
          <p:cNvSpPr>
            <a:spLocks noChangeArrowheads="1"/>
          </p:cNvSpPr>
          <p:nvPr/>
        </p:nvSpPr>
        <p:spPr bwMode="blackWhite">
          <a:xfrm>
            <a:off x="373436" y="3190714"/>
            <a:ext cx="125217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5</a:t>
            </a:r>
          </a:p>
        </p:txBody>
      </p:sp>
      <p:sp>
        <p:nvSpPr>
          <p:cNvPr id="30" name="Rectangle 17">
            <a:extLst>
              <a:ext uri="{FF2B5EF4-FFF2-40B4-BE49-F238E27FC236}">
                <a16:creationId xmlns:a16="http://schemas.microsoft.com/office/drawing/2014/main" id="{37C15853-9E5B-472E-98E1-FC83BEA3F509}"/>
              </a:ext>
            </a:extLst>
          </p:cNvPr>
          <p:cNvSpPr>
            <a:spLocks noChangeArrowheads="1"/>
          </p:cNvSpPr>
          <p:nvPr/>
        </p:nvSpPr>
        <p:spPr bwMode="blackWhite">
          <a:xfrm>
            <a:off x="1627562" y="2460464"/>
            <a:ext cx="4225694"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spcBef>
                <a:spcPct val="40000"/>
              </a:spcBef>
              <a:buClrTx/>
              <a:buFontTx/>
              <a:buNone/>
            </a:pPr>
            <a:r>
              <a:rPr lang="en-US" altLang="en-US" sz="1600"/>
              <a:t> Comparison conditions</a:t>
            </a:r>
          </a:p>
        </p:txBody>
      </p:sp>
      <p:sp>
        <p:nvSpPr>
          <p:cNvPr id="31" name="Rectangle 18">
            <a:extLst>
              <a:ext uri="{FF2B5EF4-FFF2-40B4-BE49-F238E27FC236}">
                <a16:creationId xmlns:a16="http://schemas.microsoft.com/office/drawing/2014/main" id="{0EAC07EC-1CA0-4B5B-9AE6-15D3840F400F}"/>
              </a:ext>
            </a:extLst>
          </p:cNvPr>
          <p:cNvSpPr>
            <a:spLocks noChangeArrowheads="1"/>
          </p:cNvSpPr>
          <p:nvPr/>
        </p:nvSpPr>
        <p:spPr bwMode="blackWhite">
          <a:xfrm>
            <a:off x="373436" y="2460464"/>
            <a:ext cx="125217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3</a:t>
            </a:r>
          </a:p>
        </p:txBody>
      </p:sp>
      <p:sp>
        <p:nvSpPr>
          <p:cNvPr id="42" name="Rectangle 19">
            <a:extLst>
              <a:ext uri="{FF2B5EF4-FFF2-40B4-BE49-F238E27FC236}">
                <a16:creationId xmlns:a16="http://schemas.microsoft.com/office/drawing/2014/main" id="{075DB13A-39C2-4F24-ACA9-FAD64346DC6C}"/>
              </a:ext>
            </a:extLst>
          </p:cNvPr>
          <p:cNvSpPr>
            <a:spLocks noChangeArrowheads="1"/>
          </p:cNvSpPr>
          <p:nvPr/>
        </p:nvSpPr>
        <p:spPr bwMode="blackWhite">
          <a:xfrm>
            <a:off x="1627562" y="2077877"/>
            <a:ext cx="4225694"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a:spcBef>
                <a:spcPct val="40000"/>
              </a:spcBef>
              <a:buClrTx/>
              <a:buFontTx/>
              <a:buNone/>
            </a:pPr>
            <a:r>
              <a:rPr lang="en-US" altLang="en-US" sz="1600"/>
              <a:t> Concatenation operator</a:t>
            </a:r>
          </a:p>
        </p:txBody>
      </p:sp>
      <p:sp>
        <p:nvSpPr>
          <p:cNvPr id="43" name="Rectangle 20">
            <a:extLst>
              <a:ext uri="{FF2B5EF4-FFF2-40B4-BE49-F238E27FC236}">
                <a16:creationId xmlns:a16="http://schemas.microsoft.com/office/drawing/2014/main" id="{1C1487D9-1395-4FB5-B207-B36AC03D67B0}"/>
              </a:ext>
            </a:extLst>
          </p:cNvPr>
          <p:cNvSpPr>
            <a:spLocks noChangeArrowheads="1"/>
          </p:cNvSpPr>
          <p:nvPr/>
        </p:nvSpPr>
        <p:spPr bwMode="blackWhite">
          <a:xfrm>
            <a:off x="373436" y="2077877"/>
            <a:ext cx="1252175"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2</a:t>
            </a:r>
          </a:p>
        </p:txBody>
      </p:sp>
      <p:sp>
        <p:nvSpPr>
          <p:cNvPr id="44" name="Rectangle 21">
            <a:extLst>
              <a:ext uri="{FF2B5EF4-FFF2-40B4-BE49-F238E27FC236}">
                <a16:creationId xmlns:a16="http://schemas.microsoft.com/office/drawing/2014/main" id="{E458263D-2BB1-475C-9A8E-57741C1648BA}"/>
              </a:ext>
            </a:extLst>
          </p:cNvPr>
          <p:cNvSpPr>
            <a:spLocks noChangeArrowheads="1"/>
          </p:cNvSpPr>
          <p:nvPr/>
        </p:nvSpPr>
        <p:spPr bwMode="blackWhite">
          <a:xfrm>
            <a:off x="1627562" y="1703225"/>
            <a:ext cx="4225694" cy="374650"/>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600"/>
              <a:t> Arithmetic operators</a:t>
            </a:r>
          </a:p>
        </p:txBody>
      </p:sp>
      <p:sp>
        <p:nvSpPr>
          <p:cNvPr id="45" name="Rectangle 22">
            <a:extLst>
              <a:ext uri="{FF2B5EF4-FFF2-40B4-BE49-F238E27FC236}">
                <a16:creationId xmlns:a16="http://schemas.microsoft.com/office/drawing/2014/main" id="{B96ED578-B140-4569-8293-BF8A00B53D7A}"/>
              </a:ext>
            </a:extLst>
          </p:cNvPr>
          <p:cNvSpPr>
            <a:spLocks noChangeArrowheads="1"/>
          </p:cNvSpPr>
          <p:nvPr/>
        </p:nvSpPr>
        <p:spPr bwMode="blackWhite">
          <a:xfrm>
            <a:off x="373436" y="1703225"/>
            <a:ext cx="1252175" cy="374650"/>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marL="342900" indent="-342900"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altLang="en-US" sz="1600"/>
              <a:t>1</a:t>
            </a:r>
          </a:p>
        </p:txBody>
      </p:sp>
      <p:sp>
        <p:nvSpPr>
          <p:cNvPr id="46" name="Rectangle 23">
            <a:extLst>
              <a:ext uri="{FF2B5EF4-FFF2-40B4-BE49-F238E27FC236}">
                <a16:creationId xmlns:a16="http://schemas.microsoft.com/office/drawing/2014/main" id="{8AEA5AC9-FADC-44DE-B817-5B08C5272A2B}"/>
              </a:ext>
            </a:extLst>
          </p:cNvPr>
          <p:cNvSpPr>
            <a:spLocks noChangeArrowheads="1"/>
          </p:cNvSpPr>
          <p:nvPr/>
        </p:nvSpPr>
        <p:spPr bwMode="gray">
          <a:xfrm>
            <a:off x="1627562" y="1338102"/>
            <a:ext cx="4225694"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800">
                <a:solidFill>
                  <a:schemeClr val="bg1"/>
                </a:solidFill>
              </a:rPr>
              <a:t> Meaning</a:t>
            </a:r>
          </a:p>
        </p:txBody>
      </p:sp>
      <p:sp>
        <p:nvSpPr>
          <p:cNvPr id="47" name="Rectangle 24">
            <a:extLst>
              <a:ext uri="{FF2B5EF4-FFF2-40B4-BE49-F238E27FC236}">
                <a16:creationId xmlns:a16="http://schemas.microsoft.com/office/drawing/2014/main" id="{6C42DCD5-2000-4E00-A75D-F51FBE532BFE}"/>
              </a:ext>
            </a:extLst>
          </p:cNvPr>
          <p:cNvSpPr>
            <a:spLocks noChangeArrowheads="1"/>
          </p:cNvSpPr>
          <p:nvPr/>
        </p:nvSpPr>
        <p:spPr bwMode="gray">
          <a:xfrm>
            <a:off x="373436" y="1338102"/>
            <a:ext cx="1252175"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lvl1pPr defTabSz="228600">
              <a:spcBef>
                <a:spcPct val="20000"/>
              </a:spcBef>
              <a:buClr>
                <a:srgbClr val="000000"/>
              </a:buClr>
              <a:buFont typeface="Arial" panose="020B0604020202020204" pitchFamily="34" charset="0"/>
              <a:defRPr sz="2200">
                <a:solidFill>
                  <a:schemeClr val="tx1"/>
                </a:solidFill>
                <a:latin typeface="Arial" panose="020B0604020202020204" pitchFamily="34" charset="0"/>
              </a:defRPr>
            </a:lvl1pPr>
            <a:lvl2pPr marL="114300" indent="-225425" defTabSz="228600">
              <a:spcBef>
                <a:spcPct val="20000"/>
              </a:spcBef>
              <a:buClr>
                <a:srgbClr val="FF0000"/>
              </a:buClr>
              <a:buFont typeface="Arial" panose="020B0604020202020204" pitchFamily="34" charset="0"/>
              <a:buChar char="•"/>
              <a:defRPr sz="2200">
                <a:solidFill>
                  <a:schemeClr val="tx1"/>
                </a:solidFill>
                <a:latin typeface="Arial" panose="020B0604020202020204" pitchFamily="34" charset="0"/>
              </a:defRPr>
            </a:lvl2pPr>
            <a:lvl3pPr marL="685800" indent="-3317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3pPr>
            <a:lvl4pPr marL="1143000" indent="-231775" defTabSz="228600">
              <a:spcBef>
                <a:spcPct val="20000"/>
              </a:spcBef>
              <a:buClr>
                <a:schemeClr val="accent2"/>
              </a:buClr>
              <a:buSzPct val="45000"/>
              <a:buFont typeface="Arial" panose="020B0604020202020204" pitchFamily="34" charset="0"/>
              <a:buChar char="—"/>
              <a:defRPr>
                <a:solidFill>
                  <a:schemeClr val="tx1"/>
                </a:solidFill>
                <a:latin typeface="Arial" panose="020B0604020202020204" pitchFamily="34" charset="0"/>
              </a:defRPr>
            </a:lvl4pPr>
            <a:lvl5pPr marL="1257300" indent="-230188" defTabSz="228600">
              <a:spcBef>
                <a:spcPct val="20000"/>
              </a:spcBef>
              <a:buClr>
                <a:schemeClr val="accent2"/>
              </a:buClr>
              <a:buSzPct val="55000"/>
              <a:buFont typeface="Arial" panose="020B0604020202020204" pitchFamily="34" charset="0"/>
              <a:buChar char="—"/>
              <a:defRPr sz="1600">
                <a:solidFill>
                  <a:schemeClr val="tx1"/>
                </a:solidFill>
                <a:latin typeface="Arial" panose="020B0604020202020204" pitchFamily="34" charset="0"/>
              </a:defRPr>
            </a:lvl5pPr>
            <a:lvl6pPr marL="17145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6pPr>
            <a:lvl7pPr marL="21717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7pPr>
            <a:lvl8pPr marL="26289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8pPr>
            <a:lvl9pPr marL="3086100" indent="-230188" defTabSz="228600" eaLnBrk="0" fontAlgn="base" hangingPunct="0">
              <a:spcBef>
                <a:spcPct val="20000"/>
              </a:spcBef>
              <a:spcAft>
                <a:spcPct val="0"/>
              </a:spcAft>
              <a:buClr>
                <a:schemeClr val="accent2"/>
              </a:buClr>
              <a:buSzPct val="55000"/>
              <a:buFont typeface="Arial" panose="020B0604020202020204" pitchFamily="34" charset="0"/>
              <a:buChar char="—"/>
              <a:defRPr sz="1600">
                <a:solidFill>
                  <a:schemeClr val="tx1"/>
                </a:solidFill>
                <a:latin typeface="Arial" panose="020B0604020202020204" pitchFamily="34" charset="0"/>
              </a:defRPr>
            </a:lvl9pPr>
          </a:lstStyle>
          <a:p>
            <a:pPr eaLnBrk="1" hangingPunct="1"/>
            <a:r>
              <a:rPr lang="en-US" altLang="en-US" sz="1800">
                <a:solidFill>
                  <a:schemeClr val="bg1"/>
                </a:solidFill>
              </a:rPr>
              <a:t>Operator</a:t>
            </a:r>
          </a:p>
        </p:txBody>
      </p:sp>
      <p:sp>
        <p:nvSpPr>
          <p:cNvPr id="48" name="Line 25">
            <a:extLst>
              <a:ext uri="{FF2B5EF4-FFF2-40B4-BE49-F238E27FC236}">
                <a16:creationId xmlns:a16="http://schemas.microsoft.com/office/drawing/2014/main" id="{9E86BF5C-8EF7-4AA4-92FA-BF695ABA0621}"/>
              </a:ext>
            </a:extLst>
          </p:cNvPr>
          <p:cNvSpPr>
            <a:spLocks noChangeShapeType="1"/>
          </p:cNvSpPr>
          <p:nvPr/>
        </p:nvSpPr>
        <p:spPr bwMode="blackWhite">
          <a:xfrm>
            <a:off x="373434" y="1703225"/>
            <a:ext cx="5477868"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49" name="Line 26">
            <a:extLst>
              <a:ext uri="{FF2B5EF4-FFF2-40B4-BE49-F238E27FC236}">
                <a16:creationId xmlns:a16="http://schemas.microsoft.com/office/drawing/2014/main" id="{BC6C2E4E-A1E4-43AF-B0C4-6F28984DCF5A}"/>
              </a:ext>
            </a:extLst>
          </p:cNvPr>
          <p:cNvSpPr>
            <a:spLocks noChangeShapeType="1"/>
          </p:cNvSpPr>
          <p:nvPr/>
        </p:nvSpPr>
        <p:spPr bwMode="blackWhite">
          <a:xfrm>
            <a:off x="373434" y="2077875"/>
            <a:ext cx="5477868"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50" name="Line 27">
            <a:extLst>
              <a:ext uri="{FF2B5EF4-FFF2-40B4-BE49-F238E27FC236}">
                <a16:creationId xmlns:a16="http://schemas.microsoft.com/office/drawing/2014/main" id="{2CDB6AE1-369B-4DDC-A84A-BDF962A9FCD6}"/>
              </a:ext>
            </a:extLst>
          </p:cNvPr>
          <p:cNvSpPr>
            <a:spLocks noChangeShapeType="1"/>
          </p:cNvSpPr>
          <p:nvPr/>
        </p:nvSpPr>
        <p:spPr bwMode="blackWhite">
          <a:xfrm>
            <a:off x="373434" y="2460462"/>
            <a:ext cx="5477868"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51" name="Line 28">
            <a:extLst>
              <a:ext uri="{FF2B5EF4-FFF2-40B4-BE49-F238E27FC236}">
                <a16:creationId xmlns:a16="http://schemas.microsoft.com/office/drawing/2014/main" id="{3CFCDFD5-F0E4-4CCC-A1EF-9E5D4053FA24}"/>
              </a:ext>
            </a:extLst>
          </p:cNvPr>
          <p:cNvSpPr>
            <a:spLocks noChangeShapeType="1"/>
          </p:cNvSpPr>
          <p:nvPr/>
        </p:nvSpPr>
        <p:spPr bwMode="blackWhite">
          <a:xfrm>
            <a:off x="373434" y="5127462"/>
            <a:ext cx="5477868"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52" name="Line 29">
            <a:extLst>
              <a:ext uri="{FF2B5EF4-FFF2-40B4-BE49-F238E27FC236}">
                <a16:creationId xmlns:a16="http://schemas.microsoft.com/office/drawing/2014/main" id="{AFF76A10-1CD8-40BC-BC44-A02269F3E0A4}"/>
              </a:ext>
            </a:extLst>
          </p:cNvPr>
          <p:cNvSpPr>
            <a:spLocks noChangeShapeType="1"/>
          </p:cNvSpPr>
          <p:nvPr/>
        </p:nvSpPr>
        <p:spPr bwMode="blackWhite">
          <a:xfrm>
            <a:off x="373434" y="1338102"/>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53" name="Line 30">
            <a:extLst>
              <a:ext uri="{FF2B5EF4-FFF2-40B4-BE49-F238E27FC236}">
                <a16:creationId xmlns:a16="http://schemas.microsoft.com/office/drawing/2014/main" id="{0FC2711A-1D5A-40D5-A34F-54DB364EA945}"/>
              </a:ext>
            </a:extLst>
          </p:cNvPr>
          <p:cNvSpPr>
            <a:spLocks noChangeShapeType="1"/>
          </p:cNvSpPr>
          <p:nvPr/>
        </p:nvSpPr>
        <p:spPr bwMode="blackWhite">
          <a:xfrm>
            <a:off x="1627559" y="1338100"/>
            <a:ext cx="0" cy="378936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54" name="Line 31">
            <a:extLst>
              <a:ext uri="{FF2B5EF4-FFF2-40B4-BE49-F238E27FC236}">
                <a16:creationId xmlns:a16="http://schemas.microsoft.com/office/drawing/2014/main" id="{6BB11AA6-CACD-44BF-9D34-4B728E897427}"/>
              </a:ext>
            </a:extLst>
          </p:cNvPr>
          <p:cNvSpPr>
            <a:spLocks noChangeShapeType="1"/>
          </p:cNvSpPr>
          <p:nvPr/>
        </p:nvSpPr>
        <p:spPr bwMode="blackWhite">
          <a:xfrm>
            <a:off x="5859834" y="1338102"/>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55" name="Line 32">
            <a:extLst>
              <a:ext uri="{FF2B5EF4-FFF2-40B4-BE49-F238E27FC236}">
                <a16:creationId xmlns:a16="http://schemas.microsoft.com/office/drawing/2014/main" id="{29027274-145D-4097-8C94-2526FA5E052A}"/>
              </a:ext>
            </a:extLst>
          </p:cNvPr>
          <p:cNvSpPr>
            <a:spLocks noChangeShapeType="1"/>
          </p:cNvSpPr>
          <p:nvPr/>
        </p:nvSpPr>
        <p:spPr bwMode="blackWhite">
          <a:xfrm>
            <a:off x="373434" y="2825587"/>
            <a:ext cx="5477868"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56" name="Line 33">
            <a:extLst>
              <a:ext uri="{FF2B5EF4-FFF2-40B4-BE49-F238E27FC236}">
                <a16:creationId xmlns:a16="http://schemas.microsoft.com/office/drawing/2014/main" id="{12C1B913-BBEE-4CA9-9F12-EFEE65155B0F}"/>
              </a:ext>
            </a:extLst>
          </p:cNvPr>
          <p:cNvSpPr>
            <a:spLocks noChangeShapeType="1"/>
          </p:cNvSpPr>
          <p:nvPr/>
        </p:nvSpPr>
        <p:spPr bwMode="blackWhite">
          <a:xfrm>
            <a:off x="373434" y="3555837"/>
            <a:ext cx="547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lIns="45720" rIns="0"/>
          <a:lstStyle/>
          <a:p>
            <a:endParaRPr lang="en-US"/>
          </a:p>
        </p:txBody>
      </p:sp>
      <p:sp>
        <p:nvSpPr>
          <p:cNvPr id="57" name="Line 34">
            <a:extLst>
              <a:ext uri="{FF2B5EF4-FFF2-40B4-BE49-F238E27FC236}">
                <a16:creationId xmlns:a16="http://schemas.microsoft.com/office/drawing/2014/main" id="{D748D012-0EC7-4028-ADED-EA999C0A7F86}"/>
              </a:ext>
            </a:extLst>
          </p:cNvPr>
          <p:cNvSpPr>
            <a:spLocks noChangeShapeType="1"/>
          </p:cNvSpPr>
          <p:nvPr/>
        </p:nvSpPr>
        <p:spPr bwMode="blackWhite">
          <a:xfrm>
            <a:off x="373434" y="3190712"/>
            <a:ext cx="547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lIns="45720" rIns="0"/>
          <a:lstStyle/>
          <a:p>
            <a:endParaRPr lang="en-US"/>
          </a:p>
        </p:txBody>
      </p:sp>
      <p:sp>
        <p:nvSpPr>
          <p:cNvPr id="58" name="Line 35">
            <a:extLst>
              <a:ext uri="{FF2B5EF4-FFF2-40B4-BE49-F238E27FC236}">
                <a16:creationId xmlns:a16="http://schemas.microsoft.com/office/drawing/2014/main" id="{087066CF-DD4B-43F9-BE6E-BC85B04139D4}"/>
              </a:ext>
            </a:extLst>
          </p:cNvPr>
          <p:cNvSpPr>
            <a:spLocks noChangeShapeType="1"/>
          </p:cNvSpPr>
          <p:nvPr/>
        </p:nvSpPr>
        <p:spPr bwMode="blackWhite">
          <a:xfrm>
            <a:off x="373434" y="4706775"/>
            <a:ext cx="547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lIns="45720" rIns="0"/>
          <a:lstStyle/>
          <a:p>
            <a:endParaRPr lang="en-US"/>
          </a:p>
        </p:txBody>
      </p:sp>
      <p:sp>
        <p:nvSpPr>
          <p:cNvPr id="59" name="Line 36">
            <a:extLst>
              <a:ext uri="{FF2B5EF4-FFF2-40B4-BE49-F238E27FC236}">
                <a16:creationId xmlns:a16="http://schemas.microsoft.com/office/drawing/2014/main" id="{DE8D3230-CE03-4193-95E3-BBD74FDAA44F}"/>
              </a:ext>
            </a:extLst>
          </p:cNvPr>
          <p:cNvSpPr>
            <a:spLocks noChangeShapeType="1"/>
          </p:cNvSpPr>
          <p:nvPr/>
        </p:nvSpPr>
        <p:spPr bwMode="blackWhite">
          <a:xfrm>
            <a:off x="373434" y="4286087"/>
            <a:ext cx="547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lIns="45720" rIns="0"/>
          <a:lstStyle/>
          <a:p>
            <a:endParaRPr lang="en-US"/>
          </a:p>
        </p:txBody>
      </p:sp>
      <p:sp>
        <p:nvSpPr>
          <p:cNvPr id="60" name="Line 37">
            <a:extLst>
              <a:ext uri="{FF2B5EF4-FFF2-40B4-BE49-F238E27FC236}">
                <a16:creationId xmlns:a16="http://schemas.microsoft.com/office/drawing/2014/main" id="{0188737F-E4F5-4E56-8BB6-65897A493FAF}"/>
              </a:ext>
            </a:extLst>
          </p:cNvPr>
          <p:cNvSpPr>
            <a:spLocks noChangeShapeType="1"/>
          </p:cNvSpPr>
          <p:nvPr/>
        </p:nvSpPr>
        <p:spPr bwMode="blackWhite">
          <a:xfrm>
            <a:off x="373434" y="3920962"/>
            <a:ext cx="547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lIns="45720" rIns="0"/>
          <a:lstStyle/>
          <a:p>
            <a:endParaRPr lang="en-US"/>
          </a:p>
        </p:txBody>
      </p:sp>
      <p:sp>
        <p:nvSpPr>
          <p:cNvPr id="61" name="Line 38">
            <a:extLst>
              <a:ext uri="{FF2B5EF4-FFF2-40B4-BE49-F238E27FC236}">
                <a16:creationId xmlns:a16="http://schemas.microsoft.com/office/drawing/2014/main" id="{D67F806B-D895-4A00-B469-C2D7091EB9D5}"/>
              </a:ext>
            </a:extLst>
          </p:cNvPr>
          <p:cNvSpPr>
            <a:spLocks noChangeShapeType="1"/>
          </p:cNvSpPr>
          <p:nvPr/>
        </p:nvSpPr>
        <p:spPr bwMode="blackWhite">
          <a:xfrm>
            <a:off x="373434" y="1338100"/>
            <a:ext cx="5477868"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62" name="Line 39">
            <a:extLst>
              <a:ext uri="{FF2B5EF4-FFF2-40B4-BE49-F238E27FC236}">
                <a16:creationId xmlns:a16="http://schemas.microsoft.com/office/drawing/2014/main" id="{751090CA-4D1F-4BCF-B2B9-A89792017324}"/>
              </a:ext>
            </a:extLst>
          </p:cNvPr>
          <p:cNvSpPr>
            <a:spLocks noChangeShapeType="1"/>
          </p:cNvSpPr>
          <p:nvPr/>
        </p:nvSpPr>
        <p:spPr bwMode="blackWhite">
          <a:xfrm>
            <a:off x="373434" y="1703227"/>
            <a:ext cx="0" cy="342423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63" name="Line 40">
            <a:extLst>
              <a:ext uri="{FF2B5EF4-FFF2-40B4-BE49-F238E27FC236}">
                <a16:creationId xmlns:a16="http://schemas.microsoft.com/office/drawing/2014/main" id="{9E54F8C4-49CA-4268-8AC1-AF646CB997EE}"/>
              </a:ext>
            </a:extLst>
          </p:cNvPr>
          <p:cNvSpPr>
            <a:spLocks noChangeShapeType="1"/>
          </p:cNvSpPr>
          <p:nvPr/>
        </p:nvSpPr>
        <p:spPr bwMode="blackWhite">
          <a:xfrm>
            <a:off x="5859834" y="1703227"/>
            <a:ext cx="0" cy="342423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rIns="0"/>
          <a:lstStyle/>
          <a:p>
            <a:endParaRPr lang="en-US"/>
          </a:p>
        </p:txBody>
      </p:sp>
      <p:sp>
        <p:nvSpPr>
          <p:cNvPr id="64" name="Rectangle 2">
            <a:extLst>
              <a:ext uri="{FF2B5EF4-FFF2-40B4-BE49-F238E27FC236}">
                <a16:creationId xmlns:a16="http://schemas.microsoft.com/office/drawing/2014/main" id="{71D7DCD8-E9AB-491E-8756-32F3F7555069}"/>
              </a:ext>
            </a:extLst>
          </p:cNvPr>
          <p:cNvSpPr>
            <a:spLocks noChangeArrowheads="1"/>
          </p:cNvSpPr>
          <p:nvPr/>
        </p:nvSpPr>
        <p:spPr bwMode="blackGray">
          <a:xfrm>
            <a:off x="6127750" y="1236164"/>
            <a:ext cx="5837269" cy="144621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job_id, salary</a:t>
            </a:r>
          </a:p>
          <a:p>
            <a:r>
              <a:rPr lang="en-US" altLang="en-US"/>
              <a:t>FROM   employees</a:t>
            </a:r>
          </a:p>
          <a:p>
            <a:r>
              <a:rPr lang="en-US" altLang="en-US"/>
              <a:t>WHERE  job_id = 'SA_REP'</a:t>
            </a:r>
          </a:p>
          <a:p>
            <a:r>
              <a:rPr lang="en-US" altLang="en-US"/>
              <a:t>OR     job_id = 'AD_PRES'</a:t>
            </a:r>
          </a:p>
          <a:p>
            <a:r>
              <a:rPr lang="en-US" altLang="en-US"/>
              <a:t>AND    salary &gt; 15000;</a:t>
            </a:r>
          </a:p>
        </p:txBody>
      </p:sp>
      <p:sp>
        <p:nvSpPr>
          <p:cNvPr id="65" name="Rectangle 4">
            <a:extLst>
              <a:ext uri="{FF2B5EF4-FFF2-40B4-BE49-F238E27FC236}">
                <a16:creationId xmlns:a16="http://schemas.microsoft.com/office/drawing/2014/main" id="{39D40B33-E416-4B84-96B4-6CDE281DAA2B}"/>
              </a:ext>
            </a:extLst>
          </p:cNvPr>
          <p:cNvSpPr>
            <a:spLocks noChangeArrowheads="1"/>
          </p:cNvSpPr>
          <p:nvPr/>
        </p:nvSpPr>
        <p:spPr bwMode="gray">
          <a:xfrm>
            <a:off x="6127752" y="2074364"/>
            <a:ext cx="563563" cy="52387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grpSp>
        <p:nvGrpSpPr>
          <p:cNvPr id="66" name="Group 17">
            <a:extLst>
              <a:ext uri="{FF2B5EF4-FFF2-40B4-BE49-F238E27FC236}">
                <a16:creationId xmlns:a16="http://schemas.microsoft.com/office/drawing/2014/main" id="{6D3CA69D-C22B-4C11-B9A0-350830E2791C}"/>
              </a:ext>
            </a:extLst>
          </p:cNvPr>
          <p:cNvGrpSpPr>
            <a:grpSpLocks/>
          </p:cNvGrpSpPr>
          <p:nvPr/>
        </p:nvGrpSpPr>
        <p:grpSpPr bwMode="auto">
          <a:xfrm>
            <a:off x="6683375" y="2226764"/>
            <a:ext cx="438150" cy="239713"/>
            <a:chOff x="912" y="1625"/>
            <a:chExt cx="290" cy="151"/>
          </a:xfrm>
        </p:grpSpPr>
        <p:sp>
          <p:nvSpPr>
            <p:cNvPr id="67" name="Freeform 3">
              <a:extLst>
                <a:ext uri="{FF2B5EF4-FFF2-40B4-BE49-F238E27FC236}">
                  <a16:creationId xmlns:a16="http://schemas.microsoft.com/office/drawing/2014/main" id="{C1F4C8D5-58EB-4FB1-A8FD-D97A353281A1}"/>
                </a:ext>
              </a:extLst>
            </p:cNvPr>
            <p:cNvSpPr>
              <a:spLocks/>
            </p:cNvSpPr>
            <p:nvPr/>
          </p:nvSpPr>
          <p:spPr bwMode="gray">
            <a:xfrm>
              <a:off x="977" y="1625"/>
              <a:ext cx="225" cy="147"/>
            </a:xfrm>
            <a:custGeom>
              <a:avLst/>
              <a:gdLst>
                <a:gd name="T0" fmla="*/ 0 w 228"/>
                <a:gd name="T1" fmla="*/ 146 h 147"/>
                <a:gd name="T2" fmla="*/ 0 w 228"/>
                <a:gd name="T3" fmla="*/ 0 h 147"/>
                <a:gd name="T4" fmla="*/ 224 w 228"/>
                <a:gd name="T5" fmla="*/ 0 h 147"/>
                <a:gd name="T6" fmla="*/ 0 60000 65536"/>
                <a:gd name="T7" fmla="*/ 0 60000 65536"/>
                <a:gd name="T8" fmla="*/ 0 60000 65536"/>
              </a:gdLst>
              <a:ahLst/>
              <a:cxnLst>
                <a:cxn ang="T6">
                  <a:pos x="T0" y="T1"/>
                </a:cxn>
                <a:cxn ang="T7">
                  <a:pos x="T2" y="T3"/>
                </a:cxn>
                <a:cxn ang="T8">
                  <a:pos x="T4" y="T5"/>
                </a:cxn>
              </a:cxnLst>
              <a:rect l="0" t="0" r="r" b="b"/>
              <a:pathLst>
                <a:path w="228" h="147">
                  <a:moveTo>
                    <a:pt x="0" y="146"/>
                  </a:moveTo>
                  <a:lnTo>
                    <a:pt x="0" y="0"/>
                  </a:lnTo>
                  <a:lnTo>
                    <a:pt x="227" y="0"/>
                  </a:lnTo>
                </a:path>
              </a:pathLst>
            </a:custGeom>
            <a:noFill/>
            <a:ln w="28575" cap="rnd" cmpd="sng">
              <a:solidFill>
                <a:srgbClr val="FF0033"/>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US"/>
            </a:p>
          </p:txBody>
        </p:sp>
        <p:sp>
          <p:nvSpPr>
            <p:cNvPr id="68" name="Line 6">
              <a:extLst>
                <a:ext uri="{FF2B5EF4-FFF2-40B4-BE49-F238E27FC236}">
                  <a16:creationId xmlns:a16="http://schemas.microsoft.com/office/drawing/2014/main" id="{AAFF2754-27FD-4C4A-86AB-E4835AB68F68}"/>
                </a:ext>
              </a:extLst>
            </p:cNvPr>
            <p:cNvSpPr>
              <a:spLocks noChangeShapeType="1"/>
            </p:cNvSpPr>
            <p:nvPr/>
          </p:nvSpPr>
          <p:spPr bwMode="gray">
            <a:xfrm>
              <a:off x="912" y="1776"/>
              <a:ext cx="282" cy="0"/>
            </a:xfrm>
            <a:prstGeom prst="line">
              <a:avLst/>
            </a:prstGeom>
            <a:noFill/>
            <a:ln w="28575">
              <a:solidFill>
                <a:srgbClr val="FF0033"/>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US"/>
            </a:p>
          </p:txBody>
        </p:sp>
      </p:grpSp>
      <p:sp>
        <p:nvSpPr>
          <p:cNvPr id="69" name="Rectangle 8">
            <a:extLst>
              <a:ext uri="{FF2B5EF4-FFF2-40B4-BE49-F238E27FC236}">
                <a16:creationId xmlns:a16="http://schemas.microsoft.com/office/drawing/2014/main" id="{81C68329-A1F9-43FE-BBFB-FFAC5AF8FF9F}"/>
              </a:ext>
            </a:extLst>
          </p:cNvPr>
          <p:cNvSpPr>
            <a:spLocks noChangeArrowheads="1"/>
          </p:cNvSpPr>
          <p:nvPr/>
        </p:nvSpPr>
        <p:spPr bwMode="blackGray">
          <a:xfrm>
            <a:off x="6096000" y="4122239"/>
            <a:ext cx="5869018" cy="1431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a:t>SELECT last_name, job_id, salary</a:t>
            </a:r>
          </a:p>
          <a:p>
            <a:r>
              <a:rPr lang="en-US" altLang="en-US"/>
              <a:t>FROM   employees</a:t>
            </a:r>
          </a:p>
          <a:p>
            <a:r>
              <a:rPr lang="en-US" altLang="en-US"/>
              <a:t>WHERE  </a:t>
            </a:r>
            <a:r>
              <a:rPr lang="en-US" altLang="en-US">
                <a:solidFill>
                  <a:schemeClr val="accent2"/>
                </a:solidFill>
              </a:rPr>
              <a:t>(</a:t>
            </a:r>
            <a:r>
              <a:rPr lang="en-US" altLang="en-US"/>
              <a:t>job_id = 'SA_REP'</a:t>
            </a:r>
          </a:p>
          <a:p>
            <a:r>
              <a:rPr lang="en-US" altLang="en-US"/>
              <a:t>OR     job_id = 'AD_PRES'</a:t>
            </a:r>
            <a:r>
              <a:rPr lang="en-US" altLang="en-US">
                <a:solidFill>
                  <a:schemeClr val="accent2"/>
                </a:solidFill>
              </a:rPr>
              <a:t>)</a:t>
            </a:r>
          </a:p>
          <a:p>
            <a:r>
              <a:rPr lang="en-US" altLang="en-US"/>
              <a:t>AND    salary &gt; 15000;</a:t>
            </a:r>
          </a:p>
        </p:txBody>
      </p:sp>
      <p:sp>
        <p:nvSpPr>
          <p:cNvPr id="70" name="Freeform 9">
            <a:extLst>
              <a:ext uri="{FF2B5EF4-FFF2-40B4-BE49-F238E27FC236}">
                <a16:creationId xmlns:a16="http://schemas.microsoft.com/office/drawing/2014/main" id="{59C62550-B888-4484-A285-FEA71D75D29B}"/>
              </a:ext>
            </a:extLst>
          </p:cNvPr>
          <p:cNvSpPr>
            <a:spLocks/>
          </p:cNvSpPr>
          <p:nvPr/>
        </p:nvSpPr>
        <p:spPr bwMode="gray">
          <a:xfrm>
            <a:off x="6886575" y="4911225"/>
            <a:ext cx="300038" cy="233362"/>
          </a:xfrm>
          <a:custGeom>
            <a:avLst/>
            <a:gdLst>
              <a:gd name="T0" fmla="*/ 0 w 192"/>
              <a:gd name="T1" fmla="*/ 231775 h 147"/>
              <a:gd name="T2" fmla="*/ 0 w 192"/>
              <a:gd name="T3" fmla="*/ 0 h 147"/>
              <a:gd name="T4" fmla="*/ 298475 w 192"/>
              <a:gd name="T5" fmla="*/ 0 h 147"/>
              <a:gd name="T6" fmla="*/ 0 60000 65536"/>
              <a:gd name="T7" fmla="*/ 0 60000 65536"/>
              <a:gd name="T8" fmla="*/ 0 60000 65536"/>
            </a:gdLst>
            <a:ahLst/>
            <a:cxnLst>
              <a:cxn ang="T6">
                <a:pos x="T0" y="T1"/>
              </a:cxn>
              <a:cxn ang="T7">
                <a:pos x="T2" y="T3"/>
              </a:cxn>
              <a:cxn ang="T8">
                <a:pos x="T4" y="T5"/>
              </a:cxn>
            </a:cxnLst>
            <a:rect l="0" t="0" r="r" b="b"/>
            <a:pathLst>
              <a:path w="192" h="147">
                <a:moveTo>
                  <a:pt x="0" y="146"/>
                </a:moveTo>
                <a:lnTo>
                  <a:pt x="0" y="0"/>
                </a:lnTo>
                <a:lnTo>
                  <a:pt x="191" y="0"/>
                </a:lnTo>
              </a:path>
            </a:pathLst>
          </a:custGeom>
          <a:noFill/>
          <a:ln w="28575" cap="rnd" cmpd="sng">
            <a:solidFill>
              <a:srgbClr val="FF0033"/>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US"/>
          </a:p>
        </p:txBody>
      </p:sp>
      <p:sp>
        <p:nvSpPr>
          <p:cNvPr id="71" name="Line 10">
            <a:extLst>
              <a:ext uri="{FF2B5EF4-FFF2-40B4-BE49-F238E27FC236}">
                <a16:creationId xmlns:a16="http://schemas.microsoft.com/office/drawing/2014/main" id="{604E3A1D-6573-4961-8933-14C530D3526C}"/>
              </a:ext>
            </a:extLst>
          </p:cNvPr>
          <p:cNvSpPr>
            <a:spLocks noChangeShapeType="1"/>
          </p:cNvSpPr>
          <p:nvPr/>
        </p:nvSpPr>
        <p:spPr bwMode="gray">
          <a:xfrm>
            <a:off x="6689725" y="5160462"/>
            <a:ext cx="450850" cy="0"/>
          </a:xfrm>
          <a:prstGeom prst="line">
            <a:avLst/>
          </a:prstGeom>
          <a:noFill/>
          <a:ln w="28575">
            <a:solidFill>
              <a:srgbClr val="FF0033"/>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US"/>
          </a:p>
        </p:txBody>
      </p:sp>
      <p:sp>
        <p:nvSpPr>
          <p:cNvPr id="72" name="Rectangle 11">
            <a:extLst>
              <a:ext uri="{FF2B5EF4-FFF2-40B4-BE49-F238E27FC236}">
                <a16:creationId xmlns:a16="http://schemas.microsoft.com/office/drawing/2014/main" id="{D325D71B-4291-4506-88E0-894D6A83852E}"/>
              </a:ext>
            </a:extLst>
          </p:cNvPr>
          <p:cNvSpPr>
            <a:spLocks noChangeArrowheads="1"/>
          </p:cNvSpPr>
          <p:nvPr/>
        </p:nvSpPr>
        <p:spPr bwMode="gray">
          <a:xfrm>
            <a:off x="6127750" y="4995364"/>
            <a:ext cx="565150" cy="500063"/>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73" name="Oval 13">
            <a:extLst>
              <a:ext uri="{FF2B5EF4-FFF2-40B4-BE49-F238E27FC236}">
                <a16:creationId xmlns:a16="http://schemas.microsoft.com/office/drawing/2014/main" id="{D9BDCC2C-27F3-4228-BACB-50D36FCFDC19}"/>
              </a:ext>
            </a:extLst>
          </p:cNvPr>
          <p:cNvSpPr>
            <a:spLocks noChangeArrowheads="1"/>
          </p:cNvSpPr>
          <p:nvPr/>
        </p:nvSpPr>
        <p:spPr bwMode="blackWhite">
          <a:xfrm>
            <a:off x="11113791" y="1703225"/>
            <a:ext cx="490538" cy="493712"/>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defRPr b="1">
                <a:solidFill>
                  <a:srgbClr val="000000"/>
                </a:solidFill>
                <a:latin typeface="Courier New" panose="02070309020205020404" pitchFamily="49" charset="0"/>
              </a:defRPr>
            </a:lvl1pPr>
            <a:lvl2pPr marL="742950" indent="-285750" defTabSz="822325">
              <a:defRPr b="1">
                <a:solidFill>
                  <a:srgbClr val="000000"/>
                </a:solidFill>
                <a:latin typeface="Courier New" panose="02070309020205020404" pitchFamily="49" charset="0"/>
              </a:defRPr>
            </a:lvl2pPr>
            <a:lvl3pPr marL="1143000" indent="-228600" defTabSz="822325">
              <a:defRPr b="1">
                <a:solidFill>
                  <a:srgbClr val="000000"/>
                </a:solidFill>
                <a:latin typeface="Courier New" panose="02070309020205020404" pitchFamily="49" charset="0"/>
              </a:defRPr>
            </a:lvl3pPr>
            <a:lvl4pPr marL="1600200" indent="-228600" defTabSz="822325">
              <a:defRPr b="1">
                <a:solidFill>
                  <a:srgbClr val="000000"/>
                </a:solidFill>
                <a:latin typeface="Courier New" panose="02070309020205020404" pitchFamily="49" charset="0"/>
              </a:defRPr>
            </a:lvl4pPr>
            <a:lvl5pPr marL="2057400" indent="-228600" defTabSz="822325">
              <a:defRPr b="1">
                <a:solidFill>
                  <a:srgbClr val="000000"/>
                </a:solidFill>
                <a:latin typeface="Courier New" panose="02070309020205020404" pitchFamily="49" charset="0"/>
              </a:defRPr>
            </a:lvl5pPr>
            <a:lvl6pPr marL="2514600" indent="-228600" defTabSz="822325" eaLnBrk="0" fontAlgn="base" hangingPunct="0">
              <a:spcBef>
                <a:spcPct val="0"/>
              </a:spcBef>
              <a:spcAft>
                <a:spcPct val="0"/>
              </a:spcAft>
              <a:defRPr b="1">
                <a:solidFill>
                  <a:srgbClr val="000000"/>
                </a:solidFill>
                <a:latin typeface="Courier New" panose="02070309020205020404" pitchFamily="49" charset="0"/>
              </a:defRPr>
            </a:lvl6pPr>
            <a:lvl7pPr marL="2971800" indent="-228600" defTabSz="822325" eaLnBrk="0" fontAlgn="base" hangingPunct="0">
              <a:spcBef>
                <a:spcPct val="0"/>
              </a:spcBef>
              <a:spcAft>
                <a:spcPct val="0"/>
              </a:spcAft>
              <a:defRPr b="1">
                <a:solidFill>
                  <a:srgbClr val="000000"/>
                </a:solidFill>
                <a:latin typeface="Courier New" panose="02070309020205020404" pitchFamily="49" charset="0"/>
              </a:defRPr>
            </a:lvl7pPr>
            <a:lvl8pPr marL="3429000" indent="-228600" defTabSz="822325" eaLnBrk="0" fontAlgn="base" hangingPunct="0">
              <a:spcBef>
                <a:spcPct val="0"/>
              </a:spcBef>
              <a:spcAft>
                <a:spcPct val="0"/>
              </a:spcAft>
              <a:defRPr b="1">
                <a:solidFill>
                  <a:srgbClr val="000000"/>
                </a:solidFill>
                <a:latin typeface="Courier New" panose="02070309020205020404" pitchFamily="49" charset="0"/>
              </a:defRPr>
            </a:lvl8pPr>
            <a:lvl9pPr marL="3886200" indent="-228600" defTabSz="822325" eaLnBrk="0" fontAlgn="base" hangingPunct="0">
              <a:spcBef>
                <a:spcPct val="0"/>
              </a:spcBef>
              <a:spcAft>
                <a:spcPct val="0"/>
              </a:spcAft>
              <a:defRPr b="1">
                <a:solidFill>
                  <a:srgbClr val="000000"/>
                </a:solidFill>
                <a:latin typeface="Courier New" panose="02070309020205020404" pitchFamily="49" charset="0"/>
              </a:defRPr>
            </a:lvl9pPr>
          </a:lstStyle>
          <a:p>
            <a:pPr algn="ctr">
              <a:lnSpc>
                <a:spcPct val="95000"/>
              </a:lnSpc>
            </a:pPr>
            <a:r>
              <a:rPr lang="en-US" altLang="en-US" sz="2400" dirty="0">
                <a:solidFill>
                  <a:schemeClr val="tx1"/>
                </a:solidFill>
                <a:latin typeface="Arial" panose="020B0604020202020204" pitchFamily="34" charset="0"/>
              </a:rPr>
              <a:t>1</a:t>
            </a:r>
          </a:p>
        </p:txBody>
      </p:sp>
      <p:sp>
        <p:nvSpPr>
          <p:cNvPr id="74" name="Oval 14">
            <a:extLst>
              <a:ext uri="{FF2B5EF4-FFF2-40B4-BE49-F238E27FC236}">
                <a16:creationId xmlns:a16="http://schemas.microsoft.com/office/drawing/2014/main" id="{3194EF67-218E-4A15-91FF-88842F9293DD}"/>
              </a:ext>
            </a:extLst>
          </p:cNvPr>
          <p:cNvSpPr>
            <a:spLocks noChangeArrowheads="1"/>
          </p:cNvSpPr>
          <p:nvPr/>
        </p:nvSpPr>
        <p:spPr bwMode="blackWhite">
          <a:xfrm>
            <a:off x="11359060" y="4213062"/>
            <a:ext cx="493713" cy="493713"/>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defRPr b="1">
                <a:solidFill>
                  <a:srgbClr val="000000"/>
                </a:solidFill>
                <a:latin typeface="Courier New" panose="02070309020205020404" pitchFamily="49" charset="0"/>
              </a:defRPr>
            </a:lvl1pPr>
            <a:lvl2pPr marL="742950" indent="-285750" defTabSz="822325">
              <a:defRPr b="1">
                <a:solidFill>
                  <a:srgbClr val="000000"/>
                </a:solidFill>
                <a:latin typeface="Courier New" panose="02070309020205020404" pitchFamily="49" charset="0"/>
              </a:defRPr>
            </a:lvl2pPr>
            <a:lvl3pPr marL="1143000" indent="-228600" defTabSz="822325">
              <a:defRPr b="1">
                <a:solidFill>
                  <a:srgbClr val="000000"/>
                </a:solidFill>
                <a:latin typeface="Courier New" panose="02070309020205020404" pitchFamily="49" charset="0"/>
              </a:defRPr>
            </a:lvl3pPr>
            <a:lvl4pPr marL="1600200" indent="-228600" defTabSz="822325">
              <a:defRPr b="1">
                <a:solidFill>
                  <a:srgbClr val="000000"/>
                </a:solidFill>
                <a:latin typeface="Courier New" panose="02070309020205020404" pitchFamily="49" charset="0"/>
              </a:defRPr>
            </a:lvl4pPr>
            <a:lvl5pPr marL="2057400" indent="-228600" defTabSz="822325">
              <a:defRPr b="1">
                <a:solidFill>
                  <a:srgbClr val="000000"/>
                </a:solidFill>
                <a:latin typeface="Courier New" panose="02070309020205020404" pitchFamily="49" charset="0"/>
              </a:defRPr>
            </a:lvl5pPr>
            <a:lvl6pPr marL="2514600" indent="-228600" defTabSz="822325" eaLnBrk="0" fontAlgn="base" hangingPunct="0">
              <a:spcBef>
                <a:spcPct val="0"/>
              </a:spcBef>
              <a:spcAft>
                <a:spcPct val="0"/>
              </a:spcAft>
              <a:defRPr b="1">
                <a:solidFill>
                  <a:srgbClr val="000000"/>
                </a:solidFill>
                <a:latin typeface="Courier New" panose="02070309020205020404" pitchFamily="49" charset="0"/>
              </a:defRPr>
            </a:lvl6pPr>
            <a:lvl7pPr marL="2971800" indent="-228600" defTabSz="822325" eaLnBrk="0" fontAlgn="base" hangingPunct="0">
              <a:spcBef>
                <a:spcPct val="0"/>
              </a:spcBef>
              <a:spcAft>
                <a:spcPct val="0"/>
              </a:spcAft>
              <a:defRPr b="1">
                <a:solidFill>
                  <a:srgbClr val="000000"/>
                </a:solidFill>
                <a:latin typeface="Courier New" panose="02070309020205020404" pitchFamily="49" charset="0"/>
              </a:defRPr>
            </a:lvl7pPr>
            <a:lvl8pPr marL="3429000" indent="-228600" defTabSz="822325" eaLnBrk="0" fontAlgn="base" hangingPunct="0">
              <a:spcBef>
                <a:spcPct val="0"/>
              </a:spcBef>
              <a:spcAft>
                <a:spcPct val="0"/>
              </a:spcAft>
              <a:defRPr b="1">
                <a:solidFill>
                  <a:srgbClr val="000000"/>
                </a:solidFill>
                <a:latin typeface="Courier New" panose="02070309020205020404" pitchFamily="49" charset="0"/>
              </a:defRPr>
            </a:lvl8pPr>
            <a:lvl9pPr marL="3886200" indent="-228600" defTabSz="822325" eaLnBrk="0" fontAlgn="base" hangingPunct="0">
              <a:spcBef>
                <a:spcPct val="0"/>
              </a:spcBef>
              <a:spcAft>
                <a:spcPct val="0"/>
              </a:spcAft>
              <a:defRPr b="1">
                <a:solidFill>
                  <a:srgbClr val="000000"/>
                </a:solidFill>
                <a:latin typeface="Courier New" panose="02070309020205020404" pitchFamily="49" charset="0"/>
              </a:defRPr>
            </a:lvl9pPr>
          </a:lstStyle>
          <a:p>
            <a:pPr algn="ctr">
              <a:lnSpc>
                <a:spcPct val="95000"/>
              </a:lnSpc>
            </a:pPr>
            <a:r>
              <a:rPr lang="en-US" altLang="en-US" sz="2400" dirty="0">
                <a:solidFill>
                  <a:schemeClr val="tx1"/>
                </a:solidFill>
                <a:latin typeface="Arial" panose="020B0604020202020204" pitchFamily="34" charset="0"/>
              </a:rPr>
              <a:t>2</a:t>
            </a:r>
          </a:p>
        </p:txBody>
      </p:sp>
      <p:pic>
        <p:nvPicPr>
          <p:cNvPr id="75" name="Picture 16" descr="C:\project-SQLFund1\images\img-02-19.gif">
            <a:extLst>
              <a:ext uri="{FF2B5EF4-FFF2-40B4-BE49-F238E27FC236}">
                <a16:creationId xmlns:a16="http://schemas.microsoft.com/office/drawing/2014/main" id="{1917D436-0FB3-4580-83A5-5F170E65F6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127752" y="2760162"/>
            <a:ext cx="3154363"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75" descr="C:\project-SQLFund1\images\img-02-19a.gif">
            <a:extLst>
              <a:ext uri="{FF2B5EF4-FFF2-40B4-BE49-F238E27FC236}">
                <a16:creationId xmlns:a16="http://schemas.microsoft.com/office/drawing/2014/main" id="{2E328065-BADB-498B-8D5E-55A411424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127752" y="5655762"/>
            <a:ext cx="310832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12751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F37E7C-6244-42FE-A34B-04C3C7704CA3}"/>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8F4DFBA0-3EA3-405E-853E-C4807F07AE0C}"/>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7F2FD869-341E-470B-B982-257428F6D12A}"/>
              </a:ext>
            </a:extLst>
          </p:cNvPr>
          <p:cNvSpPr>
            <a:spLocks noGrp="1"/>
          </p:cNvSpPr>
          <p:nvPr>
            <p:ph type="sldNum" sz="quarter" idx="4"/>
          </p:nvPr>
        </p:nvSpPr>
        <p:spPr/>
        <p:txBody>
          <a:bodyPr/>
          <a:lstStyle/>
          <a:p>
            <a:fld id="{48F63A3B-78C7-47BE-AE5E-E10140E04643}" type="slidenum">
              <a:rPr lang="en-US" smtClean="0"/>
              <a:pPr/>
              <a:t>44</a:t>
            </a:fld>
            <a:endParaRPr lang="en-US" dirty="0"/>
          </a:p>
        </p:txBody>
      </p:sp>
      <p:sp>
        <p:nvSpPr>
          <p:cNvPr id="5" name="Content Placeholder 2">
            <a:extLst>
              <a:ext uri="{FF2B5EF4-FFF2-40B4-BE49-F238E27FC236}">
                <a16:creationId xmlns:a16="http://schemas.microsoft.com/office/drawing/2014/main" id="{DFF5DBE1-1E3B-49D5-A340-36E0E6EC8495}"/>
              </a:ext>
            </a:extLst>
          </p:cNvPr>
          <p:cNvSpPr txBox="1">
            <a:spLocks/>
          </p:cNvSpPr>
          <p:nvPr/>
        </p:nvSpPr>
        <p:spPr>
          <a:xfrm>
            <a:off x="74814" y="940129"/>
            <a:ext cx="12117186" cy="528348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sz="2000" dirty="0"/>
              <a:t>You can create variables that may be used in place of actual values in SQL statements. </a:t>
            </a:r>
          </a:p>
          <a:p>
            <a:pPr marL="0" indent="0">
              <a:lnSpc>
                <a:spcPct val="150000"/>
              </a:lnSpc>
              <a:buNone/>
            </a:pPr>
            <a:r>
              <a:rPr lang="en-US" sz="2000" dirty="0"/>
              <a:t>These variables are known as </a:t>
            </a:r>
            <a:r>
              <a:rPr lang="en-US" sz="2000" b="1" i="1" dirty="0"/>
              <a:t>Substitution variables </a:t>
            </a:r>
            <a:r>
              <a:rPr lang="en-US" sz="2000" dirty="0"/>
              <a:t>because they are used as substitutes for values. </a:t>
            </a:r>
          </a:p>
          <a:p>
            <a:pPr marL="0" indent="0">
              <a:lnSpc>
                <a:spcPct val="150000"/>
              </a:lnSpc>
              <a:buNone/>
            </a:pPr>
            <a:r>
              <a:rPr lang="en-US" sz="2000" dirty="0"/>
              <a:t>When you run an SQL statement, you enter values for the variables; the values are then “substituted” into the SQL statement.</a:t>
            </a:r>
          </a:p>
          <a:p>
            <a:pPr marL="0" indent="0">
              <a:lnSpc>
                <a:spcPct val="150000"/>
              </a:lnSpc>
              <a:buNone/>
            </a:pPr>
            <a:r>
              <a:rPr lang="en-US" sz="2000" dirty="0"/>
              <a:t>There are two types of substitution variables:</a:t>
            </a:r>
            <a:br>
              <a:rPr lang="en-US" sz="2000" dirty="0"/>
            </a:br>
            <a:r>
              <a:rPr lang="en-US" sz="2000" b="1" dirty="0"/>
              <a:t>Temporary variables </a:t>
            </a:r>
            <a:r>
              <a:rPr lang="en-US" sz="2000" dirty="0"/>
              <a:t>A temporary variable is valid only for the SQL statement in which it is used—it doesn’t persist.</a:t>
            </a:r>
            <a:br>
              <a:rPr lang="en-US" sz="2000" dirty="0"/>
            </a:br>
            <a:r>
              <a:rPr lang="en-US" sz="2000" b="1" dirty="0"/>
              <a:t>Pre / Defined variables </a:t>
            </a:r>
            <a:r>
              <a:rPr lang="en-US" sz="2000" dirty="0"/>
              <a:t>A defined variable persists until you explicitly remove it, redefine it, or exit SQL*Plus. </a:t>
            </a:r>
          </a:p>
        </p:txBody>
      </p:sp>
      <p:sp>
        <p:nvSpPr>
          <p:cNvPr id="6" name="Title 1">
            <a:extLst>
              <a:ext uri="{FF2B5EF4-FFF2-40B4-BE49-F238E27FC236}">
                <a16:creationId xmlns:a16="http://schemas.microsoft.com/office/drawing/2014/main" id="{8DD54155-89BA-4247-BE37-17B2AFF1BCFE}"/>
              </a:ext>
            </a:extLst>
          </p:cNvPr>
          <p:cNvSpPr txBox="1">
            <a:spLocks/>
          </p:cNvSpPr>
          <p:nvPr/>
        </p:nvSpPr>
        <p:spPr>
          <a:xfrm>
            <a:off x="2411071" y="200819"/>
            <a:ext cx="7444672" cy="73931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600" b="1" dirty="0">
                <a:solidFill>
                  <a:schemeClr val="accent6">
                    <a:lumMod val="75000"/>
                    <a:lumOff val="25000"/>
                  </a:schemeClr>
                </a:solidFill>
                <a:latin typeface="Arial Black" panose="020B0A04020102020204" pitchFamily="34" charset="0"/>
                <a:ea typeface="+mn-ea"/>
                <a:cs typeface="Arial" pitchFamily="34" charset="0"/>
              </a:rPr>
              <a:t>Using</a:t>
            </a:r>
            <a:r>
              <a:rPr lang="en-US" dirty="0"/>
              <a:t> </a:t>
            </a:r>
            <a:r>
              <a:rPr lang="en-US" sz="3600" b="1" dirty="0">
                <a:solidFill>
                  <a:schemeClr val="accent6">
                    <a:lumMod val="75000"/>
                    <a:lumOff val="25000"/>
                  </a:schemeClr>
                </a:solidFill>
                <a:latin typeface="Arial Black" panose="020B0A04020102020204" pitchFamily="34" charset="0"/>
                <a:ea typeface="+mn-ea"/>
                <a:cs typeface="Arial" pitchFamily="34" charset="0"/>
              </a:rPr>
              <a:t>Substitution</a:t>
            </a:r>
            <a:r>
              <a:rPr lang="en-US" i="1" dirty="0"/>
              <a:t> </a:t>
            </a:r>
            <a:r>
              <a:rPr lang="en-US" sz="3600" b="1" dirty="0">
                <a:solidFill>
                  <a:schemeClr val="accent6">
                    <a:lumMod val="75000"/>
                    <a:lumOff val="25000"/>
                  </a:schemeClr>
                </a:solidFill>
                <a:latin typeface="Arial Black" panose="020B0A04020102020204" pitchFamily="34" charset="0"/>
                <a:ea typeface="+mn-ea"/>
                <a:cs typeface="Arial" pitchFamily="34" charset="0"/>
              </a:rPr>
              <a:t>Variables</a:t>
            </a:r>
          </a:p>
        </p:txBody>
      </p:sp>
    </p:spTree>
    <p:extLst>
      <p:ext uri="{BB962C8B-B14F-4D97-AF65-F5344CB8AC3E}">
        <p14:creationId xmlns:p14="http://schemas.microsoft.com/office/powerpoint/2010/main" val="438544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889957-B5BD-4C67-BC7F-073694F50DDD}"/>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514D7F42-6334-4A65-930A-B772137D4C7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B05D3B3-8F3F-426F-8331-830201FF8C7F}"/>
              </a:ext>
            </a:extLst>
          </p:cNvPr>
          <p:cNvSpPr>
            <a:spLocks noGrp="1"/>
          </p:cNvSpPr>
          <p:nvPr>
            <p:ph type="sldNum" sz="quarter" idx="4"/>
          </p:nvPr>
        </p:nvSpPr>
        <p:spPr/>
        <p:txBody>
          <a:bodyPr/>
          <a:lstStyle/>
          <a:p>
            <a:fld id="{48F63A3B-78C7-47BE-AE5E-E10140E04643}" type="slidenum">
              <a:rPr lang="en-US" smtClean="0"/>
              <a:pPr/>
              <a:t>45</a:t>
            </a:fld>
            <a:endParaRPr lang="en-US" dirty="0"/>
          </a:p>
        </p:txBody>
      </p:sp>
      <p:sp>
        <p:nvSpPr>
          <p:cNvPr id="5" name="Rectangle 5">
            <a:extLst>
              <a:ext uri="{FF2B5EF4-FFF2-40B4-BE49-F238E27FC236}">
                <a16:creationId xmlns:a16="http://schemas.microsoft.com/office/drawing/2014/main" id="{1F6B832A-1F44-487E-80A4-6F5E4E9250AD}"/>
              </a:ext>
            </a:extLst>
          </p:cNvPr>
          <p:cNvSpPr txBox="1">
            <a:spLocks noChangeArrowheads="1"/>
          </p:cNvSpPr>
          <p:nvPr/>
        </p:nvSpPr>
        <p:spPr>
          <a:xfrm>
            <a:off x="0" y="950847"/>
            <a:ext cx="12003932" cy="534009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Use substitution variables to:</a:t>
            </a:r>
          </a:p>
          <a:p>
            <a:pPr marL="800100" lvl="1" indent="-342900">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Temporarily store values with single-ampersand (&amp;) and double-ampersand (&amp;&amp;) substitution</a:t>
            </a:r>
          </a:p>
          <a:p>
            <a:pPr>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Use substitution variables to supplement the following:</a:t>
            </a:r>
          </a:p>
          <a:p>
            <a:pPr marL="800100" lvl="1" indent="-342900">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WHERE conditions</a:t>
            </a:r>
          </a:p>
          <a:p>
            <a:pPr marL="800100" lvl="1" indent="-342900">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ORDER BY clauses</a:t>
            </a:r>
          </a:p>
          <a:p>
            <a:pPr marL="800100" lvl="1" indent="-342900">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Column expressions</a:t>
            </a:r>
          </a:p>
          <a:p>
            <a:pPr marL="800100" lvl="1" indent="-342900">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Table names</a:t>
            </a:r>
          </a:p>
          <a:p>
            <a:pPr marL="800100" lvl="1" indent="-342900">
              <a:lnSpc>
                <a:spcPct val="150000"/>
              </a:lnSpc>
              <a:buFont typeface="Wingdings" panose="05000000000000000000" pitchFamily="2" charset="2"/>
              <a:buChar char="ü"/>
            </a:pPr>
            <a:r>
              <a:rPr lang="en-US" altLang="en-US" sz="2000" dirty="0">
                <a:latin typeface="Tahoma" panose="020B0604030504040204" pitchFamily="34" charset="0"/>
                <a:ea typeface="Tahoma" panose="020B0604030504040204" pitchFamily="34" charset="0"/>
                <a:cs typeface="Tahoma" panose="020B0604030504040204" pitchFamily="34" charset="0"/>
              </a:rPr>
              <a:t>Entire SELECT statements</a:t>
            </a:r>
          </a:p>
        </p:txBody>
      </p:sp>
      <p:sp>
        <p:nvSpPr>
          <p:cNvPr id="6" name="Title 1">
            <a:extLst>
              <a:ext uri="{FF2B5EF4-FFF2-40B4-BE49-F238E27FC236}">
                <a16:creationId xmlns:a16="http://schemas.microsoft.com/office/drawing/2014/main" id="{97ED6627-AA43-498C-8BF3-9C6C1C5D5367}"/>
              </a:ext>
            </a:extLst>
          </p:cNvPr>
          <p:cNvSpPr txBox="1">
            <a:spLocks/>
          </p:cNvSpPr>
          <p:nvPr/>
        </p:nvSpPr>
        <p:spPr>
          <a:xfrm>
            <a:off x="2373664" y="130784"/>
            <a:ext cx="7444672" cy="73931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600" b="1" dirty="0">
                <a:solidFill>
                  <a:schemeClr val="accent6">
                    <a:lumMod val="75000"/>
                    <a:lumOff val="25000"/>
                  </a:schemeClr>
                </a:solidFill>
                <a:latin typeface="Arial Black" panose="020B0A04020102020204" pitchFamily="34" charset="0"/>
                <a:ea typeface="+mn-ea"/>
                <a:cs typeface="Arial" pitchFamily="34" charset="0"/>
              </a:rPr>
              <a:t>Using</a:t>
            </a:r>
            <a:r>
              <a:rPr lang="en-US" dirty="0"/>
              <a:t> </a:t>
            </a:r>
            <a:r>
              <a:rPr lang="en-US" sz="3600" b="1" dirty="0">
                <a:solidFill>
                  <a:schemeClr val="accent6">
                    <a:lumMod val="75000"/>
                    <a:lumOff val="25000"/>
                  </a:schemeClr>
                </a:solidFill>
                <a:latin typeface="Arial Black" panose="020B0A04020102020204" pitchFamily="34" charset="0"/>
                <a:ea typeface="+mn-ea"/>
                <a:cs typeface="Arial" pitchFamily="34" charset="0"/>
              </a:rPr>
              <a:t>Substitution</a:t>
            </a:r>
            <a:r>
              <a:rPr lang="en-US" i="1" dirty="0"/>
              <a:t> </a:t>
            </a:r>
            <a:r>
              <a:rPr lang="en-US" sz="3600" b="1" dirty="0">
                <a:solidFill>
                  <a:schemeClr val="accent6">
                    <a:lumMod val="75000"/>
                    <a:lumOff val="25000"/>
                  </a:schemeClr>
                </a:solidFill>
                <a:latin typeface="Arial Black" panose="020B0A04020102020204" pitchFamily="34" charset="0"/>
                <a:ea typeface="+mn-ea"/>
                <a:cs typeface="Arial" pitchFamily="34" charset="0"/>
              </a:rPr>
              <a:t>Variables</a:t>
            </a:r>
          </a:p>
        </p:txBody>
      </p:sp>
    </p:spTree>
    <p:extLst>
      <p:ext uri="{BB962C8B-B14F-4D97-AF65-F5344CB8AC3E}">
        <p14:creationId xmlns:p14="http://schemas.microsoft.com/office/powerpoint/2010/main" val="2723570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54A452-A168-4C9A-9B9F-D95DA456D6EB}"/>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141EAE3D-099A-46DC-90B9-6AA65F0A12E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63BFD3EE-E7D2-4477-A5A7-D0932D3A757B}"/>
              </a:ext>
            </a:extLst>
          </p:cNvPr>
          <p:cNvSpPr>
            <a:spLocks noGrp="1"/>
          </p:cNvSpPr>
          <p:nvPr>
            <p:ph type="sldNum" sz="quarter" idx="4"/>
          </p:nvPr>
        </p:nvSpPr>
        <p:spPr/>
        <p:txBody>
          <a:bodyPr/>
          <a:lstStyle/>
          <a:p>
            <a:fld id="{48F63A3B-78C7-47BE-AE5E-E10140E04643}" type="slidenum">
              <a:rPr lang="en-US" smtClean="0"/>
              <a:pPr/>
              <a:t>46</a:t>
            </a:fld>
            <a:endParaRPr lang="en-US" dirty="0"/>
          </a:p>
        </p:txBody>
      </p:sp>
      <p:sp>
        <p:nvSpPr>
          <p:cNvPr id="5" name="Rectangle 2">
            <a:extLst>
              <a:ext uri="{FF2B5EF4-FFF2-40B4-BE49-F238E27FC236}">
                <a16:creationId xmlns:a16="http://schemas.microsoft.com/office/drawing/2014/main" id="{B81D0F97-678C-43F0-87A3-B69D25FE0660}"/>
              </a:ext>
            </a:extLst>
          </p:cNvPr>
          <p:cNvSpPr>
            <a:spLocks noChangeArrowheads="1"/>
          </p:cNvSpPr>
          <p:nvPr/>
        </p:nvSpPr>
        <p:spPr bwMode="blackGray">
          <a:xfrm>
            <a:off x="1042581" y="2358759"/>
            <a:ext cx="7272338" cy="9239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solidFill>
                  <a:schemeClr val="tx1"/>
                </a:solidFill>
              </a:rPr>
              <a:t>SELECT </a:t>
            </a:r>
            <a:r>
              <a:rPr lang="en-US" altLang="en-US" dirty="0" err="1">
                <a:solidFill>
                  <a:schemeClr val="tx1"/>
                </a:solidFill>
              </a:rPr>
              <a:t>employee_id</a:t>
            </a:r>
            <a:r>
              <a:rPr lang="en-US" altLang="en-US" dirty="0">
                <a:solidFill>
                  <a:schemeClr val="tx1"/>
                </a:solidFill>
              </a:rPr>
              <a:t>, </a:t>
            </a:r>
            <a:r>
              <a:rPr lang="en-US" altLang="en-US" dirty="0" err="1">
                <a:solidFill>
                  <a:schemeClr val="tx1"/>
                </a:solidFill>
              </a:rPr>
              <a:t>last_name</a:t>
            </a:r>
            <a:r>
              <a:rPr lang="en-US" altLang="en-US" dirty="0">
                <a:solidFill>
                  <a:schemeClr val="tx1"/>
                </a:solidFill>
              </a:rPr>
              <a:t>, salary, </a:t>
            </a:r>
            <a:r>
              <a:rPr lang="en-US" altLang="en-US" dirty="0" err="1">
                <a:solidFill>
                  <a:schemeClr val="tx1"/>
                </a:solidFill>
              </a:rPr>
              <a:t>department_id</a:t>
            </a:r>
            <a:endParaRPr lang="en-US" altLang="en-US" dirty="0">
              <a:solidFill>
                <a:schemeClr val="tx1"/>
              </a:solidFill>
            </a:endParaRPr>
          </a:p>
          <a:p>
            <a:r>
              <a:rPr lang="en-US" altLang="en-US" dirty="0">
                <a:solidFill>
                  <a:schemeClr val="tx1"/>
                </a:solidFill>
              </a:rPr>
              <a:t>FROM   employees</a:t>
            </a:r>
          </a:p>
          <a:p>
            <a:r>
              <a:rPr lang="en-US" altLang="en-US" dirty="0">
                <a:solidFill>
                  <a:schemeClr val="tx1"/>
                </a:solidFill>
              </a:rPr>
              <a:t>WHERE  </a:t>
            </a:r>
            <a:r>
              <a:rPr lang="en-US" altLang="en-US" dirty="0" err="1">
                <a:solidFill>
                  <a:schemeClr val="tx1"/>
                </a:solidFill>
              </a:rPr>
              <a:t>employee_id</a:t>
            </a:r>
            <a:r>
              <a:rPr lang="en-US" altLang="en-US" dirty="0">
                <a:solidFill>
                  <a:schemeClr val="tx1"/>
                </a:solidFill>
              </a:rPr>
              <a:t> = &amp;</a:t>
            </a:r>
            <a:r>
              <a:rPr lang="en-US" altLang="en-US" dirty="0" err="1">
                <a:solidFill>
                  <a:schemeClr val="tx1"/>
                </a:solidFill>
              </a:rPr>
              <a:t>employee_num</a:t>
            </a:r>
            <a:r>
              <a:rPr lang="en-US" altLang="en-US" dirty="0">
                <a:solidFill>
                  <a:schemeClr val="tx1"/>
                </a:solidFill>
              </a:rPr>
              <a:t> ;</a:t>
            </a:r>
          </a:p>
        </p:txBody>
      </p:sp>
      <p:sp>
        <p:nvSpPr>
          <p:cNvPr id="6" name="Rectangle 9">
            <a:extLst>
              <a:ext uri="{FF2B5EF4-FFF2-40B4-BE49-F238E27FC236}">
                <a16:creationId xmlns:a16="http://schemas.microsoft.com/office/drawing/2014/main" id="{C3C3DF00-EF97-49D3-97DE-318A06394C8A}"/>
              </a:ext>
            </a:extLst>
          </p:cNvPr>
          <p:cNvSpPr txBox="1">
            <a:spLocks noChangeArrowheads="1"/>
          </p:cNvSpPr>
          <p:nvPr/>
        </p:nvSpPr>
        <p:spPr>
          <a:xfrm>
            <a:off x="116732" y="1216663"/>
            <a:ext cx="11760740" cy="923925"/>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70000"/>
              </a:lnSpc>
            </a:pPr>
            <a:r>
              <a:rPr lang="en-US" altLang="en-US" dirty="0"/>
              <a:t>Use a variable prefixed with an ampersand (</a:t>
            </a:r>
            <a:r>
              <a:rPr lang="en-US" altLang="en-US" dirty="0">
                <a:latin typeface="Courier New" panose="02070309020205020404" pitchFamily="49" charset="0"/>
              </a:rPr>
              <a:t>&amp;</a:t>
            </a:r>
            <a:r>
              <a:rPr lang="en-US" altLang="en-US" dirty="0"/>
              <a:t>) to prompt the user for a value:</a:t>
            </a:r>
          </a:p>
        </p:txBody>
      </p:sp>
      <p:sp>
        <p:nvSpPr>
          <p:cNvPr id="7" name="Rectangle 5">
            <a:extLst>
              <a:ext uri="{FF2B5EF4-FFF2-40B4-BE49-F238E27FC236}">
                <a16:creationId xmlns:a16="http://schemas.microsoft.com/office/drawing/2014/main" id="{60C3C5F1-900E-4269-9E07-1F2569C970A1}"/>
              </a:ext>
            </a:extLst>
          </p:cNvPr>
          <p:cNvSpPr>
            <a:spLocks noChangeArrowheads="1"/>
          </p:cNvSpPr>
          <p:nvPr/>
        </p:nvSpPr>
        <p:spPr bwMode="gray">
          <a:xfrm>
            <a:off x="3942944" y="2930259"/>
            <a:ext cx="1930400" cy="309563"/>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pic>
        <p:nvPicPr>
          <p:cNvPr id="8" name="Picture 7" descr="C:\project-SQLFund1\images\img-02-24.gif">
            <a:extLst>
              <a:ext uri="{FF2B5EF4-FFF2-40B4-BE49-F238E27FC236}">
                <a16:creationId xmlns:a16="http://schemas.microsoft.com/office/drawing/2014/main" id="{9514DB66-F8B9-45CD-8BAC-ABD21486D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90090" y="3500855"/>
            <a:ext cx="3063875" cy="181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2D338D13-538B-455D-B8B3-C96A4ECC1CE3}"/>
              </a:ext>
            </a:extLst>
          </p:cNvPr>
          <p:cNvSpPr txBox="1">
            <a:spLocks/>
          </p:cNvSpPr>
          <p:nvPr/>
        </p:nvSpPr>
        <p:spPr>
          <a:xfrm>
            <a:off x="2373664" y="130784"/>
            <a:ext cx="7444672" cy="739310"/>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600" b="1" dirty="0">
                <a:solidFill>
                  <a:schemeClr val="accent6">
                    <a:lumMod val="75000"/>
                    <a:lumOff val="25000"/>
                  </a:schemeClr>
                </a:solidFill>
                <a:latin typeface="Arial Black" panose="020B0A04020102020204" pitchFamily="34" charset="0"/>
                <a:ea typeface="+mn-ea"/>
                <a:cs typeface="Arial" pitchFamily="34" charset="0"/>
              </a:rPr>
              <a:t>Using</a:t>
            </a:r>
            <a:r>
              <a:rPr lang="en-US" dirty="0"/>
              <a:t> </a:t>
            </a:r>
            <a:r>
              <a:rPr lang="en-US" sz="3600" b="1" dirty="0">
                <a:solidFill>
                  <a:schemeClr val="accent6">
                    <a:lumMod val="75000"/>
                    <a:lumOff val="25000"/>
                  </a:schemeClr>
                </a:solidFill>
                <a:latin typeface="Arial Black" panose="020B0A04020102020204" pitchFamily="34" charset="0"/>
                <a:ea typeface="+mn-ea"/>
                <a:cs typeface="Arial" pitchFamily="34" charset="0"/>
              </a:rPr>
              <a:t>Substitution</a:t>
            </a:r>
            <a:r>
              <a:rPr lang="en-US" i="1" dirty="0"/>
              <a:t> </a:t>
            </a:r>
            <a:r>
              <a:rPr lang="en-US" sz="3600" b="1" dirty="0">
                <a:solidFill>
                  <a:schemeClr val="accent6">
                    <a:lumMod val="75000"/>
                    <a:lumOff val="25000"/>
                  </a:schemeClr>
                </a:solidFill>
                <a:latin typeface="Arial Black" panose="020B0A04020102020204" pitchFamily="34" charset="0"/>
                <a:ea typeface="+mn-ea"/>
                <a:cs typeface="Arial" pitchFamily="34" charset="0"/>
              </a:rPr>
              <a:t>Variables</a:t>
            </a:r>
          </a:p>
        </p:txBody>
      </p:sp>
      <p:pic>
        <p:nvPicPr>
          <p:cNvPr id="10" name="Picture 12" descr="C:\project-SQLFund1\images\img-02-25.gif">
            <a:extLst>
              <a:ext uri="{FF2B5EF4-FFF2-40B4-BE49-F238E27FC236}">
                <a16:creationId xmlns:a16="http://schemas.microsoft.com/office/drawing/2014/main" id="{A0DB3B4A-7304-4C46-AB37-651BB87F8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558506" y="3429000"/>
            <a:ext cx="307498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descr="C:\project-SQLFund1\images\img-02-25a.gif">
            <a:extLst>
              <a:ext uri="{FF2B5EF4-FFF2-40B4-BE49-F238E27FC236}">
                <a16:creationId xmlns:a16="http://schemas.microsoft.com/office/drawing/2014/main" id="{27B392A8-584B-4B6C-B23E-9A60671D28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678750" y="5570290"/>
            <a:ext cx="48006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4501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4C9D08-AEFD-40DD-8254-FC39BCAA0188}"/>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26C0D29B-1307-4E8B-9CCE-22A92A87AAB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88A7C3E4-5DE5-4268-83C8-8247AFA32B97}"/>
              </a:ext>
            </a:extLst>
          </p:cNvPr>
          <p:cNvSpPr>
            <a:spLocks noGrp="1"/>
          </p:cNvSpPr>
          <p:nvPr>
            <p:ph type="sldNum" sz="quarter" idx="4"/>
          </p:nvPr>
        </p:nvSpPr>
        <p:spPr/>
        <p:txBody>
          <a:bodyPr/>
          <a:lstStyle/>
          <a:p>
            <a:fld id="{48F63A3B-78C7-47BE-AE5E-E10140E04643}" type="slidenum">
              <a:rPr lang="en-US" smtClean="0"/>
              <a:pPr/>
              <a:t>47</a:t>
            </a:fld>
            <a:endParaRPr lang="en-US" dirty="0"/>
          </a:p>
        </p:txBody>
      </p:sp>
      <p:sp>
        <p:nvSpPr>
          <p:cNvPr id="5" name="Rectangle 3">
            <a:extLst>
              <a:ext uri="{FF2B5EF4-FFF2-40B4-BE49-F238E27FC236}">
                <a16:creationId xmlns:a16="http://schemas.microsoft.com/office/drawing/2014/main" id="{069AE83C-223A-431C-89B9-7416AF14517C}"/>
              </a:ext>
            </a:extLst>
          </p:cNvPr>
          <p:cNvSpPr>
            <a:spLocks noChangeArrowheads="1"/>
          </p:cNvSpPr>
          <p:nvPr/>
        </p:nvSpPr>
        <p:spPr bwMode="blackGray">
          <a:xfrm>
            <a:off x="552111" y="1438072"/>
            <a:ext cx="7272338" cy="1143000"/>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SELECT </a:t>
            </a:r>
            <a:r>
              <a:rPr lang="en-US" altLang="en-US" dirty="0" err="1"/>
              <a:t>employee_id</a:t>
            </a:r>
            <a:r>
              <a:rPr lang="en-US" altLang="en-US" dirty="0"/>
              <a:t>, </a:t>
            </a:r>
            <a:r>
              <a:rPr lang="en-US" altLang="en-US" dirty="0" err="1"/>
              <a:t>last_name</a:t>
            </a:r>
            <a:r>
              <a:rPr lang="en-US" altLang="en-US" dirty="0"/>
              <a:t>, job_id,&amp;</a:t>
            </a:r>
            <a:r>
              <a:rPr lang="en-US" altLang="en-US" dirty="0" err="1"/>
              <a:t>column_name</a:t>
            </a:r>
            <a:endParaRPr lang="en-US" altLang="en-US" dirty="0"/>
          </a:p>
          <a:p>
            <a:r>
              <a:rPr lang="en-US" altLang="en-US" dirty="0"/>
              <a:t>FROM   employees</a:t>
            </a:r>
          </a:p>
          <a:p>
            <a:r>
              <a:rPr lang="en-US" altLang="en-US" dirty="0"/>
              <a:t>WHERE  &amp;condition</a:t>
            </a:r>
          </a:p>
          <a:p>
            <a:r>
              <a:rPr lang="en-US" altLang="en-US" dirty="0"/>
              <a:t>ORDER BY &amp;</a:t>
            </a:r>
            <a:r>
              <a:rPr lang="en-US" altLang="en-US" dirty="0" err="1"/>
              <a:t>order_column</a:t>
            </a:r>
            <a:r>
              <a:rPr lang="en-US" altLang="en-US" dirty="0"/>
              <a:t> ;</a:t>
            </a:r>
          </a:p>
        </p:txBody>
      </p:sp>
      <p:sp>
        <p:nvSpPr>
          <p:cNvPr id="6" name="Rectangle 4">
            <a:extLst>
              <a:ext uri="{FF2B5EF4-FFF2-40B4-BE49-F238E27FC236}">
                <a16:creationId xmlns:a16="http://schemas.microsoft.com/office/drawing/2014/main" id="{24CEB5E1-1459-481E-B957-6B5CBE4AFD8D}"/>
              </a:ext>
            </a:extLst>
          </p:cNvPr>
          <p:cNvSpPr>
            <a:spLocks noChangeArrowheads="1"/>
          </p:cNvSpPr>
          <p:nvPr/>
        </p:nvSpPr>
        <p:spPr bwMode="gray">
          <a:xfrm>
            <a:off x="1518899" y="2034972"/>
            <a:ext cx="1676400" cy="2159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7" name="Rectangle 5">
            <a:extLst>
              <a:ext uri="{FF2B5EF4-FFF2-40B4-BE49-F238E27FC236}">
                <a16:creationId xmlns:a16="http://schemas.microsoft.com/office/drawing/2014/main" id="{2D908FF2-ADF8-407A-8B86-733445C1AF37}"/>
              </a:ext>
            </a:extLst>
          </p:cNvPr>
          <p:cNvSpPr>
            <a:spLocks noChangeArrowheads="1"/>
          </p:cNvSpPr>
          <p:nvPr/>
        </p:nvSpPr>
        <p:spPr bwMode="gray">
          <a:xfrm>
            <a:off x="1809411" y="2300087"/>
            <a:ext cx="1905000" cy="2698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8" name="Rectangle 6">
            <a:extLst>
              <a:ext uri="{FF2B5EF4-FFF2-40B4-BE49-F238E27FC236}">
                <a16:creationId xmlns:a16="http://schemas.microsoft.com/office/drawing/2014/main" id="{8FDE4FA2-D0CC-4C29-BACA-8A3F9382E049}"/>
              </a:ext>
            </a:extLst>
          </p:cNvPr>
          <p:cNvSpPr>
            <a:spLocks noChangeArrowheads="1"/>
          </p:cNvSpPr>
          <p:nvPr/>
        </p:nvSpPr>
        <p:spPr bwMode="gray">
          <a:xfrm>
            <a:off x="5808324" y="1485697"/>
            <a:ext cx="1676400" cy="255588"/>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pic>
        <p:nvPicPr>
          <p:cNvPr id="9" name="Picture 15" descr="C:\project-SQLFund1\images\img-02-27.gif">
            <a:extLst>
              <a:ext uri="{FF2B5EF4-FFF2-40B4-BE49-F238E27FC236}">
                <a16:creationId xmlns:a16="http://schemas.microsoft.com/office/drawing/2014/main" id="{494BDBF5-442D-4C28-B7DE-1B35A7906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83863" y="2733474"/>
            <a:ext cx="3051175"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6" descr="C:\project-SQLFund1\images\img-02-27a.gif">
            <a:extLst>
              <a:ext uri="{FF2B5EF4-FFF2-40B4-BE49-F238E27FC236}">
                <a16:creationId xmlns:a16="http://schemas.microsoft.com/office/drawing/2014/main" id="{BC46EA07-B702-4B96-BCDD-AB7011C599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641261" y="3114472"/>
            <a:ext cx="3074988" cy="181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7" descr="C:\project-SQLFund1\images\img-02-27b.gif">
            <a:extLst>
              <a:ext uri="{FF2B5EF4-FFF2-40B4-BE49-F238E27FC236}">
                <a16:creationId xmlns:a16="http://schemas.microsoft.com/office/drawing/2014/main" id="{DEC3B7D3-B1F5-49E8-BA14-9ED4A94538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546263" y="3647872"/>
            <a:ext cx="304006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3">
            <a:extLst>
              <a:ext uri="{FF2B5EF4-FFF2-40B4-BE49-F238E27FC236}">
                <a16:creationId xmlns:a16="http://schemas.microsoft.com/office/drawing/2014/main" id="{BA5CE63A-DB43-48FB-A81D-B1C48B31E009}"/>
              </a:ext>
            </a:extLst>
          </p:cNvPr>
          <p:cNvSpPr txBox="1">
            <a:spLocks noChangeArrowheads="1"/>
          </p:cNvSpPr>
          <p:nvPr/>
        </p:nvSpPr>
        <p:spPr>
          <a:xfrm>
            <a:off x="1115085" y="336616"/>
            <a:ext cx="9961829" cy="523337"/>
          </a:xfrm>
          <a:prstGeom prst="rect">
            <a:avLst/>
          </a:prstGeom>
        </p:spPr>
        <p:txBody>
          <a:bodyPr>
            <a:normAutofit fontScale="750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en-US" sz="3700" b="1" dirty="0">
                <a:solidFill>
                  <a:schemeClr val="accent6">
                    <a:lumMod val="75000"/>
                    <a:lumOff val="25000"/>
                  </a:schemeClr>
                </a:solidFill>
                <a:latin typeface="Arial Black" panose="020B0A04020102020204" pitchFamily="34" charset="0"/>
                <a:ea typeface="+mn-ea"/>
                <a:cs typeface="Arial" pitchFamily="34" charset="0"/>
              </a:rPr>
              <a:t>Specifying</a:t>
            </a:r>
            <a:r>
              <a:rPr lang="en-US" altLang="en-US" dirty="0"/>
              <a:t> </a:t>
            </a:r>
            <a:r>
              <a:rPr lang="en-US" altLang="en-US" sz="3700" b="1" dirty="0">
                <a:solidFill>
                  <a:schemeClr val="accent6">
                    <a:lumMod val="75000"/>
                    <a:lumOff val="25000"/>
                  </a:schemeClr>
                </a:solidFill>
                <a:latin typeface="Arial Black" panose="020B0A04020102020204" pitchFamily="34" charset="0"/>
                <a:ea typeface="+mn-ea"/>
                <a:cs typeface="Arial" pitchFamily="34" charset="0"/>
              </a:rPr>
              <a:t>Column</a:t>
            </a:r>
            <a:r>
              <a:rPr lang="en-US" altLang="en-US" dirty="0"/>
              <a:t> </a:t>
            </a:r>
            <a:r>
              <a:rPr lang="en-US" altLang="en-US" sz="3700" b="1" dirty="0">
                <a:solidFill>
                  <a:schemeClr val="accent6">
                    <a:lumMod val="75000"/>
                    <a:lumOff val="25000"/>
                  </a:schemeClr>
                </a:solidFill>
                <a:latin typeface="Arial Black" panose="020B0A04020102020204" pitchFamily="34" charset="0"/>
                <a:ea typeface="+mn-ea"/>
                <a:cs typeface="Arial" pitchFamily="34" charset="0"/>
              </a:rPr>
              <a:t>Names</a:t>
            </a:r>
            <a:r>
              <a:rPr lang="en-US" altLang="en-US" dirty="0"/>
              <a:t>, </a:t>
            </a:r>
            <a:r>
              <a:rPr lang="en-US" altLang="en-US" sz="3800" b="1" dirty="0">
                <a:solidFill>
                  <a:schemeClr val="accent6">
                    <a:lumMod val="75000"/>
                    <a:lumOff val="25000"/>
                  </a:schemeClr>
                </a:solidFill>
                <a:latin typeface="Arial Black" panose="020B0A04020102020204" pitchFamily="34" charset="0"/>
                <a:ea typeface="+mn-ea"/>
                <a:cs typeface="Arial" pitchFamily="34" charset="0"/>
              </a:rPr>
              <a:t>Expressions</a:t>
            </a:r>
            <a:r>
              <a:rPr lang="en-US" altLang="en-US" dirty="0"/>
              <a:t>, </a:t>
            </a:r>
            <a:r>
              <a:rPr lang="en-US" altLang="en-US" sz="3900" b="1" dirty="0">
                <a:solidFill>
                  <a:schemeClr val="accent6">
                    <a:lumMod val="75000"/>
                    <a:lumOff val="25000"/>
                  </a:schemeClr>
                </a:solidFill>
                <a:latin typeface="Arial Black" panose="020B0A04020102020204" pitchFamily="34" charset="0"/>
                <a:ea typeface="+mn-ea"/>
                <a:cs typeface="Arial" pitchFamily="34" charset="0"/>
              </a:rPr>
              <a:t>and</a:t>
            </a:r>
            <a:r>
              <a:rPr lang="en-US" altLang="en-US" dirty="0"/>
              <a:t> </a:t>
            </a:r>
            <a:r>
              <a:rPr lang="en-US" altLang="en-US" sz="3900" b="1" dirty="0">
                <a:solidFill>
                  <a:schemeClr val="accent6">
                    <a:lumMod val="75000"/>
                    <a:lumOff val="25000"/>
                  </a:schemeClr>
                </a:solidFill>
                <a:latin typeface="Arial Black" panose="020B0A04020102020204" pitchFamily="34" charset="0"/>
                <a:ea typeface="+mn-ea"/>
                <a:cs typeface="Arial" pitchFamily="34" charset="0"/>
              </a:rPr>
              <a:t>Text</a:t>
            </a:r>
          </a:p>
        </p:txBody>
      </p:sp>
    </p:spTree>
    <p:extLst>
      <p:ext uri="{BB962C8B-B14F-4D97-AF65-F5344CB8AC3E}">
        <p14:creationId xmlns:p14="http://schemas.microsoft.com/office/powerpoint/2010/main" val="32758231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AB3386-5092-45F2-ABA6-94BF1830526E}"/>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EA0138F9-4E22-496E-A80E-77F9A5144BDA}"/>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910DBFBF-1727-4AAB-963E-739B89BC43F5}"/>
              </a:ext>
            </a:extLst>
          </p:cNvPr>
          <p:cNvSpPr>
            <a:spLocks noGrp="1"/>
          </p:cNvSpPr>
          <p:nvPr>
            <p:ph type="sldNum" sz="quarter" idx="4"/>
          </p:nvPr>
        </p:nvSpPr>
        <p:spPr/>
        <p:txBody>
          <a:bodyPr/>
          <a:lstStyle/>
          <a:p>
            <a:fld id="{48F63A3B-78C7-47BE-AE5E-E10140E04643}" type="slidenum">
              <a:rPr lang="en-US" smtClean="0"/>
              <a:pPr/>
              <a:t>48</a:t>
            </a:fld>
            <a:endParaRPr lang="en-US" dirty="0"/>
          </a:p>
        </p:txBody>
      </p:sp>
      <p:sp>
        <p:nvSpPr>
          <p:cNvPr id="6" name="TextBox 5">
            <a:extLst>
              <a:ext uri="{FF2B5EF4-FFF2-40B4-BE49-F238E27FC236}">
                <a16:creationId xmlns:a16="http://schemas.microsoft.com/office/drawing/2014/main" id="{4D03B919-8256-4745-9228-87E65C4A96E7}"/>
              </a:ext>
            </a:extLst>
          </p:cNvPr>
          <p:cNvSpPr txBox="1"/>
          <p:nvPr/>
        </p:nvSpPr>
        <p:spPr>
          <a:xfrm>
            <a:off x="1130030" y="265358"/>
            <a:ext cx="9931940" cy="523220"/>
          </a:xfrm>
          <a:prstGeom prst="rect">
            <a:avLst/>
          </a:prstGeom>
          <a:noFill/>
        </p:spPr>
        <p:txBody>
          <a:bodyPr wrap="square">
            <a:spAutoFit/>
          </a:bodyPr>
          <a:lstStyle/>
          <a:p>
            <a:r>
              <a:rPr lang="en-US" altLang="en-US" sz="2800" b="1" dirty="0">
                <a:solidFill>
                  <a:schemeClr val="accent6">
                    <a:lumMod val="75000"/>
                    <a:lumOff val="25000"/>
                  </a:schemeClr>
                </a:solidFill>
                <a:latin typeface="Arial Black" panose="020B0A04020102020204" pitchFamily="34" charset="0"/>
                <a:cs typeface="Arial" pitchFamily="34" charset="0"/>
              </a:rPr>
              <a:t>Using</a:t>
            </a:r>
            <a:r>
              <a:rPr lang="en-US" altLang="en-US" dirty="0"/>
              <a:t> </a:t>
            </a:r>
            <a:r>
              <a:rPr lang="en-US" altLang="en-US" sz="2800" b="1" dirty="0">
                <a:solidFill>
                  <a:schemeClr val="accent6">
                    <a:lumMod val="75000"/>
                    <a:lumOff val="25000"/>
                  </a:schemeClr>
                </a:solidFill>
                <a:latin typeface="Arial Black" panose="020B0A04020102020204" pitchFamily="34" charset="0"/>
                <a:cs typeface="Arial" pitchFamily="34" charset="0"/>
              </a:rPr>
              <a:t>the</a:t>
            </a:r>
            <a:r>
              <a:rPr lang="en-US" altLang="en-US" dirty="0"/>
              <a:t> </a:t>
            </a:r>
            <a:r>
              <a:rPr lang="en-US" altLang="en-US" sz="2800" b="1" dirty="0">
                <a:solidFill>
                  <a:schemeClr val="accent6">
                    <a:lumMod val="75000"/>
                    <a:lumOff val="25000"/>
                  </a:schemeClr>
                </a:solidFill>
                <a:latin typeface="Arial Black" panose="020B0A04020102020204" pitchFamily="34" charset="0"/>
                <a:cs typeface="Arial" pitchFamily="34" charset="0"/>
              </a:rPr>
              <a:t>Double-Ampersand</a:t>
            </a:r>
            <a:r>
              <a:rPr lang="en-US" altLang="en-US" dirty="0"/>
              <a:t> </a:t>
            </a:r>
            <a:r>
              <a:rPr lang="en-US" altLang="en-US" sz="2800" b="1" dirty="0">
                <a:solidFill>
                  <a:schemeClr val="accent6">
                    <a:lumMod val="75000"/>
                    <a:lumOff val="25000"/>
                  </a:schemeClr>
                </a:solidFill>
                <a:latin typeface="Arial Black" panose="020B0A04020102020204" pitchFamily="34" charset="0"/>
                <a:cs typeface="Arial" pitchFamily="34" charset="0"/>
              </a:rPr>
              <a:t>Substitution</a:t>
            </a:r>
            <a:r>
              <a:rPr lang="en-US" altLang="en-US" dirty="0"/>
              <a:t> </a:t>
            </a:r>
            <a:r>
              <a:rPr lang="en-US" altLang="en-US" sz="2800" b="1" dirty="0">
                <a:solidFill>
                  <a:schemeClr val="accent6">
                    <a:lumMod val="75000"/>
                    <a:lumOff val="25000"/>
                  </a:schemeClr>
                </a:solidFill>
                <a:latin typeface="Arial Black" panose="020B0A04020102020204" pitchFamily="34" charset="0"/>
                <a:cs typeface="Arial" pitchFamily="34" charset="0"/>
              </a:rPr>
              <a:t>Variable</a:t>
            </a:r>
            <a:endParaRPr lang="en-US" sz="2800" b="1" dirty="0">
              <a:solidFill>
                <a:schemeClr val="accent6">
                  <a:lumMod val="75000"/>
                  <a:lumOff val="25000"/>
                </a:schemeClr>
              </a:solidFill>
              <a:latin typeface="Arial Black" panose="020B0A04020102020204" pitchFamily="34" charset="0"/>
              <a:cs typeface="Arial" pitchFamily="34" charset="0"/>
            </a:endParaRPr>
          </a:p>
        </p:txBody>
      </p:sp>
      <p:sp>
        <p:nvSpPr>
          <p:cNvPr id="7" name="Rectangle 2">
            <a:extLst>
              <a:ext uri="{FF2B5EF4-FFF2-40B4-BE49-F238E27FC236}">
                <a16:creationId xmlns:a16="http://schemas.microsoft.com/office/drawing/2014/main" id="{959B902E-F3AF-4644-8C58-47DE0D9844CF}"/>
              </a:ext>
            </a:extLst>
          </p:cNvPr>
          <p:cNvSpPr>
            <a:spLocks noChangeArrowheads="1"/>
          </p:cNvSpPr>
          <p:nvPr/>
        </p:nvSpPr>
        <p:spPr bwMode="blackGray">
          <a:xfrm>
            <a:off x="775036" y="1856004"/>
            <a:ext cx="7537450" cy="88106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solidFill>
                  <a:schemeClr val="tx1"/>
                </a:solidFill>
              </a:rPr>
              <a:t>SELECT   </a:t>
            </a:r>
            <a:r>
              <a:rPr lang="en-US" altLang="en-US" dirty="0" err="1">
                <a:solidFill>
                  <a:schemeClr val="tx1"/>
                </a:solidFill>
              </a:rPr>
              <a:t>employee_id</a:t>
            </a:r>
            <a:r>
              <a:rPr lang="en-US" altLang="en-US" dirty="0">
                <a:solidFill>
                  <a:schemeClr val="tx1"/>
                </a:solidFill>
              </a:rPr>
              <a:t>, </a:t>
            </a:r>
            <a:r>
              <a:rPr lang="en-US" altLang="en-US" dirty="0" err="1">
                <a:solidFill>
                  <a:schemeClr val="tx1"/>
                </a:solidFill>
              </a:rPr>
              <a:t>last_name</a:t>
            </a:r>
            <a:r>
              <a:rPr lang="en-US" altLang="en-US" dirty="0">
                <a:solidFill>
                  <a:schemeClr val="tx1"/>
                </a:solidFill>
              </a:rPr>
              <a:t>, </a:t>
            </a:r>
            <a:r>
              <a:rPr lang="en-US" altLang="en-US" dirty="0" err="1">
                <a:solidFill>
                  <a:schemeClr val="tx1"/>
                </a:solidFill>
              </a:rPr>
              <a:t>job_id</a:t>
            </a:r>
            <a:r>
              <a:rPr lang="en-US" altLang="en-US" dirty="0">
                <a:solidFill>
                  <a:schemeClr val="tx1"/>
                </a:solidFill>
              </a:rPr>
              <a:t>, &amp;&amp;</a:t>
            </a:r>
            <a:r>
              <a:rPr lang="en-US" altLang="en-US" dirty="0" err="1">
                <a:solidFill>
                  <a:schemeClr val="tx1"/>
                </a:solidFill>
              </a:rPr>
              <a:t>column_name</a:t>
            </a:r>
            <a:endParaRPr lang="en-US" altLang="en-US" dirty="0">
              <a:solidFill>
                <a:schemeClr val="tx1"/>
              </a:solidFill>
            </a:endParaRPr>
          </a:p>
          <a:p>
            <a:r>
              <a:rPr lang="en-US" altLang="en-US" dirty="0">
                <a:solidFill>
                  <a:schemeClr val="tx1"/>
                </a:solidFill>
              </a:rPr>
              <a:t>FROM     employees</a:t>
            </a:r>
          </a:p>
          <a:p>
            <a:r>
              <a:rPr lang="en-US" altLang="en-US" dirty="0">
                <a:solidFill>
                  <a:schemeClr val="tx1"/>
                </a:solidFill>
              </a:rPr>
              <a:t>ORDER BY &amp;</a:t>
            </a:r>
            <a:r>
              <a:rPr lang="en-US" altLang="en-US" dirty="0" err="1">
                <a:solidFill>
                  <a:schemeClr val="tx1"/>
                </a:solidFill>
              </a:rPr>
              <a:t>column_name</a:t>
            </a:r>
            <a:r>
              <a:rPr lang="en-US" altLang="en-US" dirty="0">
                <a:solidFill>
                  <a:schemeClr val="tx1"/>
                </a:solidFill>
              </a:rPr>
              <a:t> ;</a:t>
            </a:r>
          </a:p>
        </p:txBody>
      </p:sp>
      <p:sp>
        <p:nvSpPr>
          <p:cNvPr id="8" name="Rectangle 3">
            <a:extLst>
              <a:ext uri="{FF2B5EF4-FFF2-40B4-BE49-F238E27FC236}">
                <a16:creationId xmlns:a16="http://schemas.microsoft.com/office/drawing/2014/main" id="{DB8D9C54-5E15-494F-A481-89B7AB259364}"/>
              </a:ext>
            </a:extLst>
          </p:cNvPr>
          <p:cNvSpPr>
            <a:spLocks noChangeArrowheads="1"/>
          </p:cNvSpPr>
          <p:nvPr/>
        </p:nvSpPr>
        <p:spPr bwMode="gray">
          <a:xfrm>
            <a:off x="2056151" y="2406867"/>
            <a:ext cx="1781175" cy="2952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9" name="Text Box 6">
            <a:extLst>
              <a:ext uri="{FF2B5EF4-FFF2-40B4-BE49-F238E27FC236}">
                <a16:creationId xmlns:a16="http://schemas.microsoft.com/office/drawing/2014/main" id="{563060BB-983E-4C78-AA1C-33DE7FF3AB4F}"/>
              </a:ext>
            </a:extLst>
          </p:cNvPr>
          <p:cNvSpPr txBox="1">
            <a:spLocks noChangeArrowheads="1"/>
          </p:cNvSpPr>
          <p:nvPr/>
        </p:nvSpPr>
        <p:spPr bwMode="gray">
          <a:xfrm>
            <a:off x="920886" y="5608251"/>
            <a:ext cx="366713" cy="394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defRPr b="1">
                <a:solidFill>
                  <a:srgbClr val="000000"/>
                </a:solidFill>
                <a:latin typeface="Courier New" panose="02070309020205020404" pitchFamily="49" charset="0"/>
              </a:defRPr>
            </a:lvl1pPr>
            <a:lvl2pPr marL="742950" indent="-285750" defTabSz="822325">
              <a:defRPr b="1">
                <a:solidFill>
                  <a:srgbClr val="000000"/>
                </a:solidFill>
                <a:latin typeface="Courier New" panose="02070309020205020404" pitchFamily="49" charset="0"/>
              </a:defRPr>
            </a:lvl2pPr>
            <a:lvl3pPr marL="1143000" indent="-228600" defTabSz="822325">
              <a:defRPr b="1">
                <a:solidFill>
                  <a:srgbClr val="000000"/>
                </a:solidFill>
                <a:latin typeface="Courier New" panose="02070309020205020404" pitchFamily="49" charset="0"/>
              </a:defRPr>
            </a:lvl3pPr>
            <a:lvl4pPr marL="1600200" indent="-228600" defTabSz="822325">
              <a:defRPr b="1">
                <a:solidFill>
                  <a:srgbClr val="000000"/>
                </a:solidFill>
                <a:latin typeface="Courier New" panose="02070309020205020404" pitchFamily="49" charset="0"/>
              </a:defRPr>
            </a:lvl4pPr>
            <a:lvl5pPr marL="2057400" indent="-228600" defTabSz="822325">
              <a:defRPr b="1">
                <a:solidFill>
                  <a:srgbClr val="000000"/>
                </a:solidFill>
                <a:latin typeface="Courier New" panose="02070309020205020404" pitchFamily="49" charset="0"/>
              </a:defRPr>
            </a:lvl5pPr>
            <a:lvl6pPr marL="2514600" indent="-228600" defTabSz="822325" eaLnBrk="0" fontAlgn="base" hangingPunct="0">
              <a:spcBef>
                <a:spcPct val="0"/>
              </a:spcBef>
              <a:spcAft>
                <a:spcPct val="0"/>
              </a:spcAft>
              <a:defRPr b="1">
                <a:solidFill>
                  <a:srgbClr val="000000"/>
                </a:solidFill>
                <a:latin typeface="Courier New" panose="02070309020205020404" pitchFamily="49" charset="0"/>
              </a:defRPr>
            </a:lvl6pPr>
            <a:lvl7pPr marL="2971800" indent="-228600" defTabSz="822325" eaLnBrk="0" fontAlgn="base" hangingPunct="0">
              <a:spcBef>
                <a:spcPct val="0"/>
              </a:spcBef>
              <a:spcAft>
                <a:spcPct val="0"/>
              </a:spcAft>
              <a:defRPr b="1">
                <a:solidFill>
                  <a:srgbClr val="000000"/>
                </a:solidFill>
                <a:latin typeface="Courier New" panose="02070309020205020404" pitchFamily="49" charset="0"/>
              </a:defRPr>
            </a:lvl7pPr>
            <a:lvl8pPr marL="3429000" indent="-228600" defTabSz="822325" eaLnBrk="0" fontAlgn="base" hangingPunct="0">
              <a:spcBef>
                <a:spcPct val="0"/>
              </a:spcBef>
              <a:spcAft>
                <a:spcPct val="0"/>
              </a:spcAft>
              <a:defRPr b="1">
                <a:solidFill>
                  <a:srgbClr val="000000"/>
                </a:solidFill>
                <a:latin typeface="Courier New" panose="02070309020205020404" pitchFamily="49" charset="0"/>
              </a:defRPr>
            </a:lvl8pPr>
            <a:lvl9pPr marL="3886200" indent="-228600" defTabSz="822325" eaLnBrk="0" fontAlgn="base" hangingPunct="0">
              <a:spcBef>
                <a:spcPct val="0"/>
              </a:spcBef>
              <a:spcAft>
                <a:spcPct val="0"/>
              </a:spcAft>
              <a:defRPr b="1">
                <a:solidFill>
                  <a:srgbClr val="000000"/>
                </a:solidFill>
                <a:latin typeface="Courier New" panose="02070309020205020404" pitchFamily="49" charset="0"/>
              </a:defRPr>
            </a:lvl9pPr>
          </a:lstStyle>
          <a:p>
            <a:pPr algn="ctr" eaLnBrk="1" hangingPunct="1">
              <a:buClr>
                <a:srgbClr val="000000"/>
              </a:buClr>
              <a:buFont typeface="Arial" panose="020B0604020202020204" pitchFamily="34" charset="0"/>
              <a:buNone/>
            </a:pPr>
            <a:r>
              <a:rPr lang="en-US" altLang="en-US" sz="2400">
                <a:solidFill>
                  <a:schemeClr val="tx1"/>
                </a:solidFill>
                <a:latin typeface="Arial" panose="020B0604020202020204" pitchFamily="34" charset="0"/>
              </a:rPr>
              <a:t>…</a:t>
            </a:r>
          </a:p>
        </p:txBody>
      </p:sp>
      <p:sp>
        <p:nvSpPr>
          <p:cNvPr id="10" name="Rectangle 13">
            <a:extLst>
              <a:ext uri="{FF2B5EF4-FFF2-40B4-BE49-F238E27FC236}">
                <a16:creationId xmlns:a16="http://schemas.microsoft.com/office/drawing/2014/main" id="{9A12642E-2739-4841-B3F5-4B0E2E652E99}"/>
              </a:ext>
            </a:extLst>
          </p:cNvPr>
          <p:cNvSpPr txBox="1">
            <a:spLocks noChangeArrowheads="1"/>
          </p:cNvSpPr>
          <p:nvPr/>
        </p:nvSpPr>
        <p:spPr>
          <a:xfrm>
            <a:off x="43774" y="1062422"/>
            <a:ext cx="12104451" cy="69532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latin typeface="Tahoma" panose="020B0604030504040204" pitchFamily="34" charset="0"/>
                <a:ea typeface="Tahoma" panose="020B0604030504040204" pitchFamily="34" charset="0"/>
                <a:cs typeface="Tahoma" panose="020B0604030504040204" pitchFamily="34" charset="0"/>
              </a:rPr>
              <a:t>Use double ampersand (&amp;&amp;) if you want to reuse the variable value without prompting the user each time:</a:t>
            </a:r>
          </a:p>
        </p:txBody>
      </p:sp>
      <p:pic>
        <p:nvPicPr>
          <p:cNvPr id="11" name="Picture 14" descr="C:\project-SQLFund1\images\img-02-28.gif">
            <a:extLst>
              <a:ext uri="{FF2B5EF4-FFF2-40B4-BE49-F238E27FC236}">
                <a16:creationId xmlns:a16="http://schemas.microsoft.com/office/drawing/2014/main" id="{FFB6B14C-9801-4591-9AD6-2EE223F0D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130030" y="2930762"/>
            <a:ext cx="30638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6" descr="C:\project-SQLFund1\images\img-02-28a.gif">
            <a:extLst>
              <a:ext uri="{FF2B5EF4-FFF2-40B4-BE49-F238E27FC236}">
                <a16:creationId xmlns:a16="http://schemas.microsoft.com/office/drawing/2014/main" id="{A3AB59D1-E25E-4D8B-ACA4-3A8A845BC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844684" y="4846253"/>
            <a:ext cx="4789488"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0787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D362EC-CA69-49FF-8AFD-6B35948840B8}"/>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45783172-C16A-4942-8E1C-974010EF2DC3}"/>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0DF3C827-C999-4A8B-BE2B-DBCEE635F53C}"/>
              </a:ext>
            </a:extLst>
          </p:cNvPr>
          <p:cNvSpPr>
            <a:spLocks noGrp="1"/>
          </p:cNvSpPr>
          <p:nvPr>
            <p:ph type="sldNum" sz="quarter" idx="4"/>
          </p:nvPr>
        </p:nvSpPr>
        <p:spPr/>
        <p:txBody>
          <a:bodyPr/>
          <a:lstStyle/>
          <a:p>
            <a:fld id="{48F63A3B-78C7-47BE-AE5E-E10140E04643}" type="slidenum">
              <a:rPr lang="en-US" smtClean="0"/>
              <a:pPr/>
              <a:t>49</a:t>
            </a:fld>
            <a:endParaRPr lang="en-US" dirty="0"/>
          </a:p>
        </p:txBody>
      </p:sp>
      <p:sp>
        <p:nvSpPr>
          <p:cNvPr id="5" name="Rectangle 9">
            <a:extLst>
              <a:ext uri="{FF2B5EF4-FFF2-40B4-BE49-F238E27FC236}">
                <a16:creationId xmlns:a16="http://schemas.microsoft.com/office/drawing/2014/main" id="{E96DBBD7-1284-435B-B9FD-EB8738F143DD}"/>
              </a:ext>
            </a:extLst>
          </p:cNvPr>
          <p:cNvSpPr txBox="1">
            <a:spLocks noChangeArrowheads="1"/>
          </p:cNvSpPr>
          <p:nvPr/>
        </p:nvSpPr>
        <p:spPr>
          <a:xfrm>
            <a:off x="1828800" y="214969"/>
            <a:ext cx="8910825" cy="67950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a:t>
            </a:r>
            <a:r>
              <a:rPr lang="en-US" altLang="en-US" dirty="0"/>
              <a:t> </a:t>
            </a:r>
            <a:r>
              <a:rPr lang="en-US" altLang="en-US" sz="3600" b="1" dirty="0">
                <a:solidFill>
                  <a:schemeClr val="accent6">
                    <a:lumMod val="75000"/>
                    <a:lumOff val="25000"/>
                  </a:schemeClr>
                </a:solidFill>
                <a:latin typeface="Arial Black" panose="020B0A04020102020204" pitchFamily="34" charset="0"/>
                <a:ea typeface="+mn-ea"/>
                <a:cs typeface="Arial" pitchFamily="34" charset="0"/>
              </a:rPr>
              <a:t>the DEFINE command</a:t>
            </a:r>
          </a:p>
        </p:txBody>
      </p:sp>
      <p:sp>
        <p:nvSpPr>
          <p:cNvPr id="6" name="Rectangle 10">
            <a:extLst>
              <a:ext uri="{FF2B5EF4-FFF2-40B4-BE49-F238E27FC236}">
                <a16:creationId xmlns:a16="http://schemas.microsoft.com/office/drawing/2014/main" id="{5FA3B7E7-28F1-4701-99F4-33FD3D05D136}"/>
              </a:ext>
            </a:extLst>
          </p:cNvPr>
          <p:cNvSpPr txBox="1">
            <a:spLocks noChangeArrowheads="1"/>
          </p:cNvSpPr>
          <p:nvPr/>
        </p:nvSpPr>
        <p:spPr>
          <a:xfrm>
            <a:off x="74814" y="971864"/>
            <a:ext cx="12201491" cy="185888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pPr>
            <a:r>
              <a:rPr lang="en-US" altLang="en-US" dirty="0">
                <a:latin typeface="Tahoma" panose="020B0604030504040204" pitchFamily="34" charset="0"/>
                <a:ea typeface="Tahoma" panose="020B0604030504040204" pitchFamily="34" charset="0"/>
                <a:cs typeface="Tahoma" panose="020B0604030504040204" pitchFamily="34" charset="0"/>
              </a:rPr>
              <a:t>Use the </a:t>
            </a:r>
            <a:r>
              <a:rPr lang="en-US" altLang="en-US" b="1" i="1" dirty="0">
                <a:latin typeface="Tahoma" panose="020B0604030504040204" pitchFamily="34" charset="0"/>
                <a:ea typeface="Tahoma" panose="020B0604030504040204" pitchFamily="34" charset="0"/>
                <a:cs typeface="Tahoma" panose="020B0604030504040204" pitchFamily="34" charset="0"/>
              </a:rPr>
              <a:t>DEFINE</a:t>
            </a:r>
            <a:r>
              <a:rPr lang="en-US" altLang="en-US" dirty="0">
                <a:latin typeface="Tahoma" panose="020B0604030504040204" pitchFamily="34" charset="0"/>
                <a:ea typeface="Tahoma" panose="020B0604030504040204" pitchFamily="34" charset="0"/>
                <a:cs typeface="Tahoma" panose="020B0604030504040204" pitchFamily="34" charset="0"/>
              </a:rPr>
              <a:t> command to create and assign a value to a variable.</a:t>
            </a:r>
          </a:p>
          <a:p>
            <a:pPr>
              <a:lnSpc>
                <a:spcPct val="160000"/>
              </a:lnSpc>
            </a:pPr>
            <a:r>
              <a:rPr lang="en-US" altLang="en-US" dirty="0">
                <a:latin typeface="Tahoma" panose="020B0604030504040204" pitchFamily="34" charset="0"/>
                <a:ea typeface="Tahoma" panose="020B0604030504040204" pitchFamily="34" charset="0"/>
                <a:cs typeface="Tahoma" panose="020B0604030504040204" pitchFamily="34" charset="0"/>
              </a:rPr>
              <a:t>Use the </a:t>
            </a:r>
            <a:r>
              <a:rPr lang="en-US" altLang="en-US" b="1" i="1" dirty="0">
                <a:latin typeface="Tahoma" panose="020B0604030504040204" pitchFamily="34" charset="0"/>
                <a:ea typeface="Tahoma" panose="020B0604030504040204" pitchFamily="34" charset="0"/>
                <a:cs typeface="Tahoma" panose="020B0604030504040204" pitchFamily="34" charset="0"/>
              </a:rPr>
              <a:t>UNDEFINE</a:t>
            </a:r>
            <a:r>
              <a:rPr lang="en-US" altLang="en-US" dirty="0">
                <a:latin typeface="Tahoma" panose="020B0604030504040204" pitchFamily="34" charset="0"/>
                <a:ea typeface="Tahoma" panose="020B0604030504040204" pitchFamily="34" charset="0"/>
                <a:cs typeface="Tahoma" panose="020B0604030504040204" pitchFamily="34" charset="0"/>
              </a:rPr>
              <a:t> command to remove a variable.</a:t>
            </a:r>
          </a:p>
        </p:txBody>
      </p:sp>
      <p:sp>
        <p:nvSpPr>
          <p:cNvPr id="7" name="Rectangle 4">
            <a:extLst>
              <a:ext uri="{FF2B5EF4-FFF2-40B4-BE49-F238E27FC236}">
                <a16:creationId xmlns:a16="http://schemas.microsoft.com/office/drawing/2014/main" id="{6AD5F1F9-42C7-4350-873A-EFE2EF9C9B1A}"/>
              </a:ext>
            </a:extLst>
          </p:cNvPr>
          <p:cNvSpPr>
            <a:spLocks noChangeArrowheads="1"/>
          </p:cNvSpPr>
          <p:nvPr/>
        </p:nvSpPr>
        <p:spPr bwMode="blackGray">
          <a:xfrm>
            <a:off x="908912" y="3429000"/>
            <a:ext cx="7272338" cy="199866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DEFINE </a:t>
            </a:r>
            <a:r>
              <a:rPr lang="en-US" altLang="en-US" dirty="0" err="1"/>
              <a:t>employee_num</a:t>
            </a:r>
            <a:r>
              <a:rPr lang="en-US" altLang="en-US" dirty="0"/>
              <a:t> = 200</a:t>
            </a:r>
          </a:p>
          <a:p>
            <a:endParaRPr lang="en-US" altLang="en-US" dirty="0"/>
          </a:p>
          <a:p>
            <a:r>
              <a:rPr lang="en-US" altLang="en-US" dirty="0"/>
              <a:t>SELECT </a:t>
            </a:r>
            <a:r>
              <a:rPr lang="en-US" altLang="en-US" dirty="0" err="1"/>
              <a:t>employee_id</a:t>
            </a:r>
            <a:r>
              <a:rPr lang="en-US" altLang="en-US" dirty="0"/>
              <a:t>, </a:t>
            </a:r>
            <a:r>
              <a:rPr lang="en-US" altLang="en-US" dirty="0" err="1"/>
              <a:t>last_name</a:t>
            </a:r>
            <a:r>
              <a:rPr lang="en-US" altLang="en-US" dirty="0"/>
              <a:t>, salary, </a:t>
            </a:r>
            <a:r>
              <a:rPr lang="en-US" altLang="en-US" dirty="0" err="1"/>
              <a:t>department_id</a:t>
            </a:r>
            <a:endParaRPr lang="en-US" altLang="en-US" dirty="0"/>
          </a:p>
          <a:p>
            <a:r>
              <a:rPr lang="en-US" altLang="en-US" dirty="0"/>
              <a:t>FROM   employees</a:t>
            </a:r>
          </a:p>
          <a:p>
            <a:r>
              <a:rPr lang="en-US" altLang="en-US" dirty="0"/>
              <a:t>WHERE  </a:t>
            </a:r>
            <a:r>
              <a:rPr lang="en-US" altLang="en-US" dirty="0" err="1"/>
              <a:t>employee_id</a:t>
            </a:r>
            <a:r>
              <a:rPr lang="en-US" altLang="en-US" dirty="0"/>
              <a:t> = &amp;</a:t>
            </a:r>
            <a:r>
              <a:rPr lang="en-US" altLang="en-US" dirty="0" err="1"/>
              <a:t>employee_num</a:t>
            </a:r>
            <a:r>
              <a:rPr lang="en-US" altLang="en-US" dirty="0"/>
              <a:t> ;</a:t>
            </a:r>
          </a:p>
          <a:p>
            <a:endParaRPr lang="en-US" altLang="en-US" dirty="0"/>
          </a:p>
          <a:p>
            <a:r>
              <a:rPr lang="en-US" altLang="en-US" dirty="0"/>
              <a:t>UNDEFINE </a:t>
            </a:r>
            <a:r>
              <a:rPr lang="en-US" altLang="en-US" dirty="0" err="1"/>
              <a:t>employee_num</a:t>
            </a:r>
            <a:endParaRPr lang="en-US" altLang="en-US" dirty="0"/>
          </a:p>
        </p:txBody>
      </p:sp>
      <p:sp>
        <p:nvSpPr>
          <p:cNvPr id="8" name="Rectangle 5">
            <a:extLst>
              <a:ext uri="{FF2B5EF4-FFF2-40B4-BE49-F238E27FC236}">
                <a16:creationId xmlns:a16="http://schemas.microsoft.com/office/drawing/2014/main" id="{7351F72E-79FD-47C8-852D-4CB2C18C3F7C}"/>
              </a:ext>
            </a:extLst>
          </p:cNvPr>
          <p:cNvSpPr>
            <a:spLocks noChangeArrowheads="1"/>
          </p:cNvSpPr>
          <p:nvPr/>
        </p:nvSpPr>
        <p:spPr bwMode="gray">
          <a:xfrm>
            <a:off x="1902689" y="3470275"/>
            <a:ext cx="1763713" cy="2952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9" name="Rectangle 6">
            <a:extLst>
              <a:ext uri="{FF2B5EF4-FFF2-40B4-BE49-F238E27FC236}">
                <a16:creationId xmlns:a16="http://schemas.microsoft.com/office/drawing/2014/main" id="{D7A645B1-46E2-4CFB-A601-669EBBFF6FC0}"/>
              </a:ext>
            </a:extLst>
          </p:cNvPr>
          <p:cNvSpPr>
            <a:spLocks noChangeArrowheads="1"/>
          </p:cNvSpPr>
          <p:nvPr/>
        </p:nvSpPr>
        <p:spPr bwMode="gray">
          <a:xfrm>
            <a:off x="3794987" y="4537075"/>
            <a:ext cx="1981200" cy="309563"/>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0" name="Rectangle 13">
            <a:extLst>
              <a:ext uri="{FF2B5EF4-FFF2-40B4-BE49-F238E27FC236}">
                <a16:creationId xmlns:a16="http://schemas.microsoft.com/office/drawing/2014/main" id="{F38C17DE-31F8-4892-8297-CD7E77D37D2F}"/>
              </a:ext>
            </a:extLst>
          </p:cNvPr>
          <p:cNvSpPr>
            <a:spLocks noChangeArrowheads="1"/>
          </p:cNvSpPr>
          <p:nvPr/>
        </p:nvSpPr>
        <p:spPr bwMode="gray">
          <a:xfrm>
            <a:off x="3883889" y="3470275"/>
            <a:ext cx="646113" cy="2952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1939717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74E595-33E7-4F07-A7FB-8C0509DD8406}"/>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72D0F1F7-4753-4702-8975-8C9CBC19B21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FEC1137E-080B-4B08-8A5B-18014745DB64}"/>
              </a:ext>
            </a:extLst>
          </p:cNvPr>
          <p:cNvSpPr>
            <a:spLocks noGrp="1"/>
          </p:cNvSpPr>
          <p:nvPr>
            <p:ph type="sldNum" sz="quarter" idx="4"/>
          </p:nvPr>
        </p:nvSpPr>
        <p:spPr/>
        <p:txBody>
          <a:bodyPr/>
          <a:lstStyle/>
          <a:p>
            <a:fld id="{48F63A3B-78C7-47BE-AE5E-E10140E04643}" type="slidenum">
              <a:rPr lang="en-US" smtClean="0"/>
              <a:pPr/>
              <a:t>50</a:t>
            </a:fld>
            <a:endParaRPr lang="en-US" dirty="0"/>
          </a:p>
        </p:txBody>
      </p:sp>
      <p:sp>
        <p:nvSpPr>
          <p:cNvPr id="6" name="Rectangle 3">
            <a:extLst>
              <a:ext uri="{FF2B5EF4-FFF2-40B4-BE49-F238E27FC236}">
                <a16:creationId xmlns:a16="http://schemas.microsoft.com/office/drawing/2014/main" id="{B20AEC9B-3574-42F9-AE3D-A6E4256E8E53}"/>
              </a:ext>
            </a:extLst>
          </p:cNvPr>
          <p:cNvSpPr>
            <a:spLocks noChangeArrowheads="1"/>
          </p:cNvSpPr>
          <p:nvPr/>
        </p:nvSpPr>
        <p:spPr bwMode="blackGray">
          <a:xfrm>
            <a:off x="776069" y="2774662"/>
            <a:ext cx="7261225" cy="11906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b="1">
                <a:solidFill>
                  <a:srgbClr val="000000"/>
                </a:solidFill>
                <a:latin typeface="Courier New" panose="02070309020205020404" pitchFamily="49" charset="0"/>
              </a:defRPr>
            </a:lvl1pPr>
            <a:lvl2pPr marL="742950" indent="-285750">
              <a:tabLst>
                <a:tab pos="1200150" algn="l"/>
              </a:tabLst>
              <a:defRPr b="1">
                <a:solidFill>
                  <a:srgbClr val="000000"/>
                </a:solidFill>
                <a:latin typeface="Courier New" panose="02070309020205020404" pitchFamily="49" charset="0"/>
              </a:defRPr>
            </a:lvl2pPr>
            <a:lvl3pPr marL="1143000" indent="-228600">
              <a:tabLst>
                <a:tab pos="1200150" algn="l"/>
              </a:tabLst>
              <a:defRPr b="1">
                <a:solidFill>
                  <a:srgbClr val="000000"/>
                </a:solidFill>
                <a:latin typeface="Courier New" panose="02070309020205020404" pitchFamily="49" charset="0"/>
              </a:defRPr>
            </a:lvl3pPr>
            <a:lvl4pPr marL="1600200" indent="-228600">
              <a:tabLst>
                <a:tab pos="1200150" algn="l"/>
              </a:tabLst>
              <a:defRPr b="1">
                <a:solidFill>
                  <a:srgbClr val="000000"/>
                </a:solidFill>
                <a:latin typeface="Courier New" panose="02070309020205020404" pitchFamily="49" charset="0"/>
              </a:defRPr>
            </a:lvl4pPr>
            <a:lvl5pPr marL="2057400" indent="-228600">
              <a:tabLst>
                <a:tab pos="1200150" algn="l"/>
              </a:tabLst>
              <a:defRPr b="1">
                <a:solidFill>
                  <a:srgbClr val="000000"/>
                </a:solidFill>
                <a:latin typeface="Courier New" panose="02070309020205020404" pitchFamily="49" charset="0"/>
              </a:defRPr>
            </a:lvl5pPr>
            <a:lvl6pPr marL="25146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6pPr>
            <a:lvl7pPr marL="29718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7pPr>
            <a:lvl8pPr marL="34290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8pPr>
            <a:lvl9pPr marL="3886200" indent="-228600" eaLnBrk="0" fontAlgn="base" hangingPunct="0">
              <a:spcBef>
                <a:spcPct val="0"/>
              </a:spcBef>
              <a:spcAft>
                <a:spcPct val="0"/>
              </a:spcAft>
              <a:tabLst>
                <a:tab pos="1200150" algn="l"/>
              </a:tabLst>
              <a:defRPr b="1">
                <a:solidFill>
                  <a:srgbClr val="000000"/>
                </a:solidFill>
                <a:latin typeface="Courier New" panose="02070309020205020404" pitchFamily="49" charset="0"/>
              </a:defRPr>
            </a:lvl9pPr>
          </a:lstStyle>
          <a:p>
            <a:r>
              <a:rPr lang="en-US" altLang="en-US" dirty="0"/>
              <a:t>SET VERIFY ON</a:t>
            </a:r>
          </a:p>
          <a:p>
            <a:r>
              <a:rPr lang="en-US" altLang="en-US" dirty="0"/>
              <a:t>SELECT </a:t>
            </a:r>
            <a:r>
              <a:rPr lang="en-US" altLang="en-US" dirty="0" err="1"/>
              <a:t>employee_id</a:t>
            </a:r>
            <a:r>
              <a:rPr lang="en-US" altLang="en-US" dirty="0"/>
              <a:t>, </a:t>
            </a:r>
            <a:r>
              <a:rPr lang="en-US" altLang="en-US" dirty="0" err="1"/>
              <a:t>last_name</a:t>
            </a:r>
            <a:r>
              <a:rPr lang="en-US" altLang="en-US" dirty="0"/>
              <a:t>, salary</a:t>
            </a:r>
          </a:p>
          <a:p>
            <a:r>
              <a:rPr lang="en-US" altLang="en-US" dirty="0"/>
              <a:t>FROM   employees</a:t>
            </a:r>
          </a:p>
          <a:p>
            <a:r>
              <a:rPr lang="en-US" altLang="en-US" dirty="0"/>
              <a:t>WHERE  </a:t>
            </a:r>
            <a:r>
              <a:rPr lang="en-US" altLang="en-US" dirty="0" err="1"/>
              <a:t>employee_id</a:t>
            </a:r>
            <a:r>
              <a:rPr lang="en-US" altLang="en-US" dirty="0"/>
              <a:t> = &amp;</a:t>
            </a:r>
            <a:r>
              <a:rPr lang="en-US" altLang="en-US" dirty="0" err="1"/>
              <a:t>employee_num</a:t>
            </a:r>
            <a:r>
              <a:rPr lang="en-US" altLang="en-US" dirty="0"/>
              <a:t>;</a:t>
            </a:r>
          </a:p>
        </p:txBody>
      </p:sp>
      <p:sp>
        <p:nvSpPr>
          <p:cNvPr id="7" name="Rectangle 9">
            <a:extLst>
              <a:ext uri="{FF2B5EF4-FFF2-40B4-BE49-F238E27FC236}">
                <a16:creationId xmlns:a16="http://schemas.microsoft.com/office/drawing/2014/main" id="{0C390172-2606-438E-80AD-482855FA64BA}"/>
              </a:ext>
            </a:extLst>
          </p:cNvPr>
          <p:cNvSpPr txBox="1">
            <a:spLocks noChangeArrowheads="1"/>
          </p:cNvSpPr>
          <p:nvPr/>
        </p:nvSpPr>
        <p:spPr>
          <a:xfrm>
            <a:off x="1268944" y="173100"/>
            <a:ext cx="8555991" cy="67950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dirty="0">
                <a:solidFill>
                  <a:schemeClr val="accent6">
                    <a:lumMod val="75000"/>
                    <a:lumOff val="25000"/>
                  </a:schemeClr>
                </a:solidFill>
                <a:latin typeface="Arial Black" panose="020B0A04020102020204" pitchFamily="34" charset="0"/>
                <a:ea typeface="+mn-ea"/>
                <a:cs typeface="Arial" pitchFamily="34" charset="0"/>
              </a:rPr>
              <a:t>Using</a:t>
            </a:r>
            <a:r>
              <a:rPr lang="en-US" altLang="en-US" dirty="0"/>
              <a:t> </a:t>
            </a:r>
            <a:r>
              <a:rPr lang="en-US" altLang="en-US" sz="3600" dirty="0">
                <a:solidFill>
                  <a:schemeClr val="accent6">
                    <a:lumMod val="75000"/>
                    <a:lumOff val="25000"/>
                  </a:schemeClr>
                </a:solidFill>
                <a:latin typeface="Arial Black" panose="020B0A04020102020204" pitchFamily="34" charset="0"/>
                <a:ea typeface="+mn-ea"/>
                <a:cs typeface="Arial" pitchFamily="34" charset="0"/>
              </a:rPr>
              <a:t>the</a:t>
            </a:r>
            <a:r>
              <a:rPr lang="en-US" altLang="en-US" dirty="0"/>
              <a:t> </a:t>
            </a:r>
            <a:r>
              <a:rPr lang="en-US" altLang="en-US" sz="3600" b="1" dirty="0">
                <a:solidFill>
                  <a:schemeClr val="accent6">
                    <a:lumMod val="75000"/>
                    <a:lumOff val="25000"/>
                  </a:schemeClr>
                </a:solidFill>
                <a:latin typeface="Arial Black" panose="020B0A04020102020204" pitchFamily="34" charset="0"/>
                <a:ea typeface="+mn-ea"/>
                <a:cs typeface="Arial" pitchFamily="34" charset="0"/>
              </a:rPr>
              <a:t>VERIFY</a:t>
            </a:r>
            <a:r>
              <a:rPr lang="en-US" altLang="en-US" dirty="0"/>
              <a:t> </a:t>
            </a:r>
            <a:r>
              <a:rPr lang="en-US" altLang="en-US" sz="3600" dirty="0">
                <a:solidFill>
                  <a:schemeClr val="accent6">
                    <a:lumMod val="75000"/>
                    <a:lumOff val="25000"/>
                  </a:schemeClr>
                </a:solidFill>
                <a:latin typeface="Arial Black" panose="020B0A04020102020204" pitchFamily="34" charset="0"/>
                <a:ea typeface="+mn-ea"/>
                <a:cs typeface="Arial" pitchFamily="34" charset="0"/>
              </a:rPr>
              <a:t>Command</a:t>
            </a:r>
          </a:p>
        </p:txBody>
      </p:sp>
      <p:sp>
        <p:nvSpPr>
          <p:cNvPr id="8" name="Rectangle 10">
            <a:extLst>
              <a:ext uri="{FF2B5EF4-FFF2-40B4-BE49-F238E27FC236}">
                <a16:creationId xmlns:a16="http://schemas.microsoft.com/office/drawing/2014/main" id="{BF42BD5C-86A8-4671-999A-9C2C083816A0}"/>
              </a:ext>
            </a:extLst>
          </p:cNvPr>
          <p:cNvSpPr txBox="1">
            <a:spLocks noChangeArrowheads="1"/>
          </p:cNvSpPr>
          <p:nvPr/>
        </p:nvSpPr>
        <p:spPr>
          <a:xfrm>
            <a:off x="107005" y="1037657"/>
            <a:ext cx="11459183" cy="141004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Use the </a:t>
            </a:r>
            <a:r>
              <a:rPr lang="en-US" altLang="en-US" sz="2400" b="1" dirty="0">
                <a:latin typeface="Tahoma" panose="020B0604030504040204" pitchFamily="34" charset="0"/>
                <a:ea typeface="Tahoma" panose="020B0604030504040204" pitchFamily="34" charset="0"/>
                <a:cs typeface="Tahoma" panose="020B0604030504040204" pitchFamily="34" charset="0"/>
              </a:rPr>
              <a:t>VERIFY</a:t>
            </a:r>
            <a:r>
              <a:rPr lang="en-US" altLang="en-US" sz="2400" dirty="0">
                <a:latin typeface="Tahoma" panose="020B0604030504040204" pitchFamily="34" charset="0"/>
                <a:ea typeface="Tahoma" panose="020B0604030504040204" pitchFamily="34" charset="0"/>
                <a:cs typeface="Tahoma" panose="020B0604030504040204" pitchFamily="34" charset="0"/>
              </a:rPr>
              <a:t> command to toggle the display of the substitution variable, both before and after SQL Developer replaces substitution variables with values:</a:t>
            </a:r>
          </a:p>
        </p:txBody>
      </p:sp>
      <p:sp>
        <p:nvSpPr>
          <p:cNvPr id="9" name="Rectangle 6">
            <a:extLst>
              <a:ext uri="{FF2B5EF4-FFF2-40B4-BE49-F238E27FC236}">
                <a16:creationId xmlns:a16="http://schemas.microsoft.com/office/drawing/2014/main" id="{459E1CBD-3E28-431B-8A64-E70926AB4555}"/>
              </a:ext>
            </a:extLst>
          </p:cNvPr>
          <p:cNvSpPr>
            <a:spLocks noChangeArrowheads="1"/>
          </p:cNvSpPr>
          <p:nvPr/>
        </p:nvSpPr>
        <p:spPr bwMode="gray">
          <a:xfrm>
            <a:off x="776067" y="2774660"/>
            <a:ext cx="1917700" cy="280988"/>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pic>
        <p:nvPicPr>
          <p:cNvPr id="10" name="Picture 14" descr="C:\project-SQLFund1\images\img-02-30.gif">
            <a:extLst>
              <a:ext uri="{FF2B5EF4-FFF2-40B4-BE49-F238E27FC236}">
                <a16:creationId xmlns:a16="http://schemas.microsoft.com/office/drawing/2014/main" id="{F4B1E366-E439-4239-8197-F2CD71D174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055642" y="4027200"/>
            <a:ext cx="228282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5" descr="C:\project-SQLFund1\images\img-02-30A.gif">
            <a:extLst>
              <a:ext uri="{FF2B5EF4-FFF2-40B4-BE49-F238E27FC236}">
                <a16:creationId xmlns:a16="http://schemas.microsoft.com/office/drawing/2014/main" id="{D8857831-7207-4F1D-A0FF-9F85D8300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454181" y="3965287"/>
            <a:ext cx="4583113" cy="2261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3">
            <a:extLst>
              <a:ext uri="{FF2B5EF4-FFF2-40B4-BE49-F238E27FC236}">
                <a16:creationId xmlns:a16="http://schemas.microsoft.com/office/drawing/2014/main" id="{B5D82F89-621F-464F-9514-86782F3A1C3D}"/>
              </a:ext>
            </a:extLst>
          </p:cNvPr>
          <p:cNvSpPr>
            <a:spLocks noChangeArrowheads="1"/>
          </p:cNvSpPr>
          <p:nvPr/>
        </p:nvSpPr>
        <p:spPr bwMode="gray">
          <a:xfrm>
            <a:off x="4179842" y="3935071"/>
            <a:ext cx="1066800" cy="304800"/>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
        <p:nvSpPr>
          <p:cNvPr id="13" name="Rectangle 16">
            <a:extLst>
              <a:ext uri="{FF2B5EF4-FFF2-40B4-BE49-F238E27FC236}">
                <a16:creationId xmlns:a16="http://schemas.microsoft.com/office/drawing/2014/main" id="{BED259AB-AF7C-4B47-BE48-24DBD6B30765}"/>
              </a:ext>
            </a:extLst>
          </p:cNvPr>
          <p:cNvSpPr>
            <a:spLocks noChangeArrowheads="1"/>
          </p:cNvSpPr>
          <p:nvPr/>
        </p:nvSpPr>
        <p:spPr bwMode="gray">
          <a:xfrm flipV="1">
            <a:off x="4039393" y="4959322"/>
            <a:ext cx="1600200" cy="165374"/>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rgbClr val="000000"/>
                </a:solidFill>
                <a:latin typeface="Courier New" panose="02070309020205020404" pitchFamily="49" charset="0"/>
              </a:defRPr>
            </a:lvl1pPr>
            <a:lvl2pPr marL="742950" indent="-285750">
              <a:defRPr b="1">
                <a:solidFill>
                  <a:srgbClr val="000000"/>
                </a:solidFill>
                <a:latin typeface="Courier New" panose="02070309020205020404" pitchFamily="49" charset="0"/>
              </a:defRPr>
            </a:lvl2pPr>
            <a:lvl3pPr marL="1143000" indent="-228600">
              <a:defRPr b="1">
                <a:solidFill>
                  <a:srgbClr val="000000"/>
                </a:solidFill>
                <a:latin typeface="Courier New" panose="02070309020205020404" pitchFamily="49" charset="0"/>
              </a:defRPr>
            </a:lvl3pPr>
            <a:lvl4pPr marL="1600200" indent="-228600">
              <a:defRPr b="1">
                <a:solidFill>
                  <a:srgbClr val="000000"/>
                </a:solidFill>
                <a:latin typeface="Courier New" panose="02070309020205020404" pitchFamily="49" charset="0"/>
              </a:defRPr>
            </a:lvl4pPr>
            <a:lvl5pPr marL="2057400" indent="-228600">
              <a:defRPr b="1">
                <a:solidFill>
                  <a:srgbClr val="000000"/>
                </a:solidFill>
                <a:latin typeface="Courier New" panose="02070309020205020404" pitchFamily="49" charset="0"/>
              </a:defRPr>
            </a:lvl5pPr>
            <a:lvl6pPr marL="2514600" indent="-228600" eaLnBrk="0" fontAlgn="base" hangingPunct="0">
              <a:spcBef>
                <a:spcPct val="0"/>
              </a:spcBef>
              <a:spcAft>
                <a:spcPct val="0"/>
              </a:spcAft>
              <a:defRPr b="1">
                <a:solidFill>
                  <a:srgbClr val="000000"/>
                </a:solidFill>
                <a:latin typeface="Courier New" panose="02070309020205020404" pitchFamily="49" charset="0"/>
              </a:defRPr>
            </a:lvl6pPr>
            <a:lvl7pPr marL="2971800" indent="-228600" eaLnBrk="0" fontAlgn="base" hangingPunct="0">
              <a:spcBef>
                <a:spcPct val="0"/>
              </a:spcBef>
              <a:spcAft>
                <a:spcPct val="0"/>
              </a:spcAft>
              <a:defRPr b="1">
                <a:solidFill>
                  <a:srgbClr val="000000"/>
                </a:solidFill>
                <a:latin typeface="Courier New" panose="02070309020205020404" pitchFamily="49" charset="0"/>
              </a:defRPr>
            </a:lvl7pPr>
            <a:lvl8pPr marL="3429000" indent="-228600" eaLnBrk="0" fontAlgn="base" hangingPunct="0">
              <a:spcBef>
                <a:spcPct val="0"/>
              </a:spcBef>
              <a:spcAft>
                <a:spcPct val="0"/>
              </a:spcAft>
              <a:defRPr b="1">
                <a:solidFill>
                  <a:srgbClr val="000000"/>
                </a:solidFill>
                <a:latin typeface="Courier New" panose="02070309020205020404" pitchFamily="49" charset="0"/>
              </a:defRPr>
            </a:lvl8pPr>
            <a:lvl9pPr marL="3886200" indent="-228600" eaLnBrk="0" fontAlgn="base" hangingPunct="0">
              <a:spcBef>
                <a:spcPct val="0"/>
              </a:spcBef>
              <a:spcAft>
                <a:spcPct val="0"/>
              </a:spcAft>
              <a:defRPr b="1">
                <a:solidFill>
                  <a:srgbClr val="000000"/>
                </a:solidFill>
                <a:latin typeface="Courier New" panose="02070309020205020404" pitchFamily="49" charset="0"/>
              </a:defRPr>
            </a:lvl9pPr>
          </a:lstStyle>
          <a:p>
            <a:endParaRPr lang="en-US" altLang="en-US"/>
          </a:p>
        </p:txBody>
      </p:sp>
    </p:spTree>
    <p:extLst>
      <p:ext uri="{BB962C8B-B14F-4D97-AF65-F5344CB8AC3E}">
        <p14:creationId xmlns:p14="http://schemas.microsoft.com/office/powerpoint/2010/main" val="409630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B9E26-1350-4495-B057-5C886CA5B8D2}"/>
              </a:ext>
            </a:extLst>
          </p:cNvPr>
          <p:cNvSpPr>
            <a:spLocks noGrp="1"/>
          </p:cNvSpPr>
          <p:nvPr>
            <p:ph type="dt" sz="half" idx="2"/>
          </p:nvPr>
        </p:nvSpPr>
        <p:spPr/>
        <p:txBody>
          <a:bodyPr/>
          <a:lstStyle/>
          <a:p>
            <a:fld id="{7D451B18-CD80-48CD-BC02-A32F3CD15744}" type="datetime1">
              <a:rPr lang="en-US" smtClean="0"/>
              <a:t>9/19/2021</a:t>
            </a:fld>
            <a:endParaRPr lang="en-US" dirty="0"/>
          </a:p>
        </p:txBody>
      </p:sp>
      <p:sp>
        <p:nvSpPr>
          <p:cNvPr id="3" name="Footer Placeholder 2">
            <a:extLst>
              <a:ext uri="{FF2B5EF4-FFF2-40B4-BE49-F238E27FC236}">
                <a16:creationId xmlns:a16="http://schemas.microsoft.com/office/drawing/2014/main" id="{111B5F34-9F09-464B-9DA2-D32895BB4430}"/>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80192989-A087-4CA4-AE44-F83ADC121768}"/>
              </a:ext>
            </a:extLst>
          </p:cNvPr>
          <p:cNvSpPr>
            <a:spLocks noGrp="1"/>
          </p:cNvSpPr>
          <p:nvPr>
            <p:ph type="sldNum" sz="quarter" idx="4"/>
          </p:nvPr>
        </p:nvSpPr>
        <p:spPr/>
        <p:txBody>
          <a:bodyPr/>
          <a:lstStyle/>
          <a:p>
            <a:fld id="{48F63A3B-78C7-47BE-AE5E-E10140E04643}" type="slidenum">
              <a:rPr lang="en-US" smtClean="0"/>
              <a:pPr/>
              <a:t>51</a:t>
            </a:fld>
            <a:endParaRPr lang="en-US" dirty="0"/>
          </a:p>
        </p:txBody>
      </p:sp>
      <p:sp>
        <p:nvSpPr>
          <p:cNvPr id="8" name="TextBox 7">
            <a:extLst>
              <a:ext uri="{FF2B5EF4-FFF2-40B4-BE49-F238E27FC236}">
                <a16:creationId xmlns:a16="http://schemas.microsoft.com/office/drawing/2014/main" id="{7F8DFAED-D317-44FC-BE2C-DD8C22DB4CE5}"/>
              </a:ext>
            </a:extLst>
          </p:cNvPr>
          <p:cNvSpPr txBox="1"/>
          <p:nvPr/>
        </p:nvSpPr>
        <p:spPr>
          <a:xfrm>
            <a:off x="731195" y="193589"/>
            <a:ext cx="10729609" cy="646331"/>
          </a:xfrm>
          <a:prstGeom prst="rect">
            <a:avLst/>
          </a:prstGeom>
          <a:noFill/>
        </p:spPr>
        <p:txBody>
          <a:bodyPr wrap="square" rtlCol="0" anchor="ctr">
            <a:spAutoFit/>
          </a:bodyPr>
          <a:lstStyle/>
          <a:p>
            <a:pPr algn="ctr"/>
            <a:r>
              <a:rPr lang="en-US" altLang="en-US" sz="3600" b="1" dirty="0">
                <a:solidFill>
                  <a:schemeClr val="accent6">
                    <a:lumMod val="75000"/>
                    <a:lumOff val="25000"/>
                  </a:schemeClr>
                </a:solidFill>
                <a:latin typeface="Arial Black" panose="020B0A04020102020204" pitchFamily="34" charset="0"/>
                <a:cs typeface="Arial" pitchFamily="34" charset="0"/>
              </a:rPr>
              <a:t>Displaying the Table Structure</a:t>
            </a:r>
            <a:endParaRPr lang="en-US" sz="3600" b="1" dirty="0">
              <a:solidFill>
                <a:schemeClr val="accent6">
                  <a:lumMod val="75000"/>
                  <a:lumOff val="25000"/>
                </a:schemeClr>
              </a:solidFill>
              <a:latin typeface="Arial Black" panose="020B0A04020102020204" pitchFamily="34" charset="0"/>
              <a:cs typeface="Arial" pitchFamily="34" charset="0"/>
            </a:endParaRPr>
          </a:p>
        </p:txBody>
      </p:sp>
      <p:sp>
        <p:nvSpPr>
          <p:cNvPr id="22" name="Rectangle 6">
            <a:extLst>
              <a:ext uri="{FF2B5EF4-FFF2-40B4-BE49-F238E27FC236}">
                <a16:creationId xmlns:a16="http://schemas.microsoft.com/office/drawing/2014/main" id="{F68442B2-1975-4F6F-BCE6-FCE599866386}"/>
              </a:ext>
            </a:extLst>
          </p:cNvPr>
          <p:cNvSpPr txBox="1">
            <a:spLocks noChangeArrowheads="1"/>
          </p:cNvSpPr>
          <p:nvPr/>
        </p:nvSpPr>
        <p:spPr>
          <a:xfrm>
            <a:off x="552111" y="1120371"/>
            <a:ext cx="7918450" cy="1431925"/>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dirty="0"/>
              <a:t>Use the </a:t>
            </a:r>
            <a:r>
              <a:rPr lang="en-US" altLang="en-US" dirty="0">
                <a:latin typeface="Courier New" panose="02070309020205020404" pitchFamily="49" charset="0"/>
              </a:rPr>
              <a:t>DESCRIBE</a:t>
            </a:r>
            <a:r>
              <a:rPr lang="en-US" altLang="en-US" dirty="0"/>
              <a:t> command to display the structure of a table.</a:t>
            </a:r>
          </a:p>
          <a:p>
            <a:pPr lvl="1"/>
            <a:r>
              <a:rPr lang="en-US" altLang="en-US" dirty="0"/>
              <a:t>Or, select the table in the Connections tree and use the Columns tab to view the table structure.</a:t>
            </a:r>
          </a:p>
        </p:txBody>
      </p:sp>
      <p:sp>
        <p:nvSpPr>
          <p:cNvPr id="23" name="Rectangle 4">
            <a:extLst>
              <a:ext uri="{FF2B5EF4-FFF2-40B4-BE49-F238E27FC236}">
                <a16:creationId xmlns:a16="http://schemas.microsoft.com/office/drawing/2014/main" id="{8C5C6CAF-2F47-4EA3-8BF0-3205D10CCB38}"/>
              </a:ext>
            </a:extLst>
          </p:cNvPr>
          <p:cNvSpPr>
            <a:spLocks noChangeArrowheads="1"/>
          </p:cNvSpPr>
          <p:nvPr/>
        </p:nvSpPr>
        <p:spPr bwMode="blackGray">
          <a:xfrm>
            <a:off x="953311" y="2772757"/>
            <a:ext cx="7277100" cy="39687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b="1" dirty="0">
                <a:solidFill>
                  <a:srgbClr val="000000"/>
                </a:solidFill>
                <a:latin typeface="Courier New" panose="02070309020205020404" pitchFamily="49" charset="0"/>
              </a:rPr>
              <a:t>DESC[RIBE] </a:t>
            </a:r>
            <a:r>
              <a:rPr lang="en-US" altLang="en-US" sz="1800" b="1" i="1" dirty="0" err="1">
                <a:solidFill>
                  <a:srgbClr val="000000"/>
                </a:solidFill>
                <a:latin typeface="Courier New" panose="02070309020205020404" pitchFamily="49" charset="0"/>
              </a:rPr>
              <a:t>tablename</a:t>
            </a:r>
            <a:endParaRPr lang="en-US" altLang="en-US" sz="1800" b="1" i="1" dirty="0">
              <a:solidFill>
                <a:srgbClr val="000000"/>
              </a:solidFill>
              <a:latin typeface="Courier New" panose="02070309020205020404" pitchFamily="49" charset="0"/>
            </a:endParaRPr>
          </a:p>
        </p:txBody>
      </p:sp>
      <p:pic>
        <p:nvPicPr>
          <p:cNvPr id="24" name="Picture 7">
            <a:extLst>
              <a:ext uri="{FF2B5EF4-FFF2-40B4-BE49-F238E27FC236}">
                <a16:creationId xmlns:a16="http://schemas.microsoft.com/office/drawing/2014/main" id="{3724CFDB-59D9-4651-A927-0CF9C9EAAC44}"/>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953311" y="3332941"/>
            <a:ext cx="2378074"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25" name="Picture 9">
            <a:extLst>
              <a:ext uri="{FF2B5EF4-FFF2-40B4-BE49-F238E27FC236}">
                <a16:creationId xmlns:a16="http://schemas.microsoft.com/office/drawing/2014/main" id="{9E6B8D29-CF1E-4103-BF0D-520A3AD660EB}"/>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692595" y="4407881"/>
            <a:ext cx="5798531"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26" name="Rectangle 12">
            <a:extLst>
              <a:ext uri="{FF2B5EF4-FFF2-40B4-BE49-F238E27FC236}">
                <a16:creationId xmlns:a16="http://schemas.microsoft.com/office/drawing/2014/main" id="{E889C37E-2A1E-4420-8B9E-9E14BA32FBAE}"/>
              </a:ext>
            </a:extLst>
          </p:cNvPr>
          <p:cNvSpPr>
            <a:spLocks noChangeArrowheads="1"/>
          </p:cNvSpPr>
          <p:nvPr/>
        </p:nvSpPr>
        <p:spPr bwMode="gray">
          <a:xfrm>
            <a:off x="1692595" y="4407881"/>
            <a:ext cx="457200" cy="228600"/>
          </a:xfrm>
          <a:prstGeom prst="rect">
            <a:avLst/>
          </a:prstGeom>
          <a:noFill/>
          <a:ln w="28575">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6338398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253416" y="2767283"/>
            <a:ext cx="9143999" cy="1323439"/>
          </a:xfrm>
          <a:prstGeom prst="rect">
            <a:avLst/>
          </a:prstGeom>
          <a:noFill/>
        </p:spPr>
        <p:txBody>
          <a:bodyPr wrap="square" rtlCol="0" anchor="ctr">
            <a:spAutoFit/>
          </a:bodyPr>
          <a:lstStyle/>
          <a:p>
            <a:pPr algn="ctr"/>
            <a:r>
              <a:rPr lang="en-US" altLang="ko-KR" sz="8000" dirty="0">
                <a:solidFill>
                  <a:schemeClr val="accent6">
                    <a:lumMod val="75000"/>
                    <a:lumOff val="25000"/>
                  </a:schemeClr>
                </a:solidFill>
                <a:cs typeface="Arial" pitchFamily="34" charset="0"/>
              </a:rPr>
              <a:t>THANK YOU</a:t>
            </a:r>
            <a:endParaRPr lang="ko-KR" altLang="en-US" sz="8000" dirty="0">
              <a:solidFill>
                <a:schemeClr val="accent6">
                  <a:lumMod val="75000"/>
                  <a:lumOff val="25000"/>
                </a:schemeClr>
              </a:solidFill>
              <a:cs typeface="Arial" pitchFamily="34" charset="0"/>
            </a:endParaRPr>
          </a:p>
        </p:txBody>
      </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ntents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4687</TotalTime>
  <Words>4420</Words>
  <Application>Microsoft Office PowerPoint</Application>
  <PresentationFormat>Widescreen</PresentationFormat>
  <Paragraphs>605</Paragraphs>
  <Slides>52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Arial Black</vt:lpstr>
      <vt:lpstr>Calibri</vt:lpstr>
      <vt:lpstr>Courier New</vt:lpstr>
      <vt:lpstr>Tahoma</vt:lpstr>
      <vt:lpstr>Times New Roman</vt:lpstr>
      <vt:lpstr>Wingdings</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KAAMIL COMPUTER</cp:lastModifiedBy>
  <cp:revision>677</cp:revision>
  <dcterms:created xsi:type="dcterms:W3CDTF">2020-01-20T05:08:25Z</dcterms:created>
  <dcterms:modified xsi:type="dcterms:W3CDTF">2021-09-19T07:26:48Z</dcterms:modified>
</cp:coreProperties>
</file>